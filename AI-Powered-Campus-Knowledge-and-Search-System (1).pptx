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8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Felix Titling" panose="04060505060202020A04" pitchFamily="82" charset="0"/>
      <p:regular r:id="rId14"/>
    </p:embeddedFont>
    <p:embeddedFont>
      <p:font typeface="Goudy Old Style" panose="02020502050305020303" pitchFamily="18" charset="0"/>
      <p:regular r:id="rId15"/>
      <p:bold r:id="rId16"/>
      <p:italic r:id="rId17"/>
    </p:embeddedFont>
    <p:embeddedFont>
      <p:font typeface="Lora" pitchFamily="2" charset="0"/>
      <p:regular r:id="rId18"/>
    </p:embeddedFont>
    <p:embeddedFont>
      <p:font typeface="Source Sans 3" panose="020B0604020202020204" charset="0"/>
      <p:regular r:id="rId19"/>
    </p:embeddedFont>
    <p:embeddedFont>
      <p:font typeface="Source Sans 3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797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8/29/2026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16717322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74124464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8/29/2026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405089865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pPr/>
              <a:t>8/29/2026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08358681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8/29/2026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7231580"/>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8/29/2026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639247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8225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4508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9656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8/29/2026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53402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8/29/2026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3131016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8/29/2026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40205315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8/29/2026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03341608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8/29/2026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50638193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8/29/2026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95070484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7FA43F5B-065E-43CE-B3FD-98C48A6F94D7}" type="datetime1">
              <a:rPr lang="en-US" smtClean="0"/>
              <a:pPr/>
              <a:t>8/29/2026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18486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395609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8/29/2026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25184200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8/29/2026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751940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8494073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8/29/2026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7701686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232270815"/>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612188805"/>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433620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73844346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7FA43F5B-065E-43CE-B3FD-98C48A6F94D7}" type="datetime1">
              <a:rPr lang="en-US" smtClean="0"/>
              <a:pPr/>
              <a:t>8/29/2026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3597372727"/>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7FA43F5B-065E-43CE-B3FD-98C48A6F94D7}" type="datetime1">
              <a:rPr lang="en-US" smtClean="0"/>
              <a:pPr/>
              <a:t>8/29/2026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56494283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0972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8/29/2026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28656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 id="2147483798" r:id="rId18"/>
    <p:sldLayoutId id="2147483799" r:id="rId19"/>
    <p:sldLayoutId id="2147483800" r:id="rId20"/>
    <p:sldLayoutId id="2147483801" r:id="rId21"/>
    <p:sldLayoutId id="2147483802" r:id="rId22"/>
    <p:sldLayoutId id="2147483803" r:id="rId23"/>
    <p:sldLayoutId id="2147483804" r:id="rId24"/>
    <p:sldLayoutId id="2147483805" r:id="rId25"/>
    <p:sldLayoutId id="2147483806" r:id="rId26"/>
    <p:sldLayoutId id="2147483807" r:id="rId27"/>
    <p:sldLayoutId id="2147483808" r:id="rId28"/>
  </p:sldLayoutIdLst>
  <p:hf sldNum="0"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28.xml"/><Relationship Id="rId5" Type="http://schemas.openxmlformats.org/officeDocument/2006/relationships/image" Target="../media/image11.sv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8.xml"/><Relationship Id="rId5" Type="http://schemas.openxmlformats.org/officeDocument/2006/relationships/image" Target="../media/image15.sv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19.pn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28.xml"/><Relationship Id="rId5" Type="http://schemas.openxmlformats.org/officeDocument/2006/relationships/image" Target="../media/image22.svg"/><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9.xml"/><Relationship Id="rId1" Type="http://schemas.openxmlformats.org/officeDocument/2006/relationships/slideLayout" Target="../slideLayouts/slideLayout28.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sv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19.png"/><Relationship Id="rId2" Type="http://schemas.openxmlformats.org/officeDocument/2006/relationships/notesSlide" Target="../notesSlides/notesSlide10.xml"/><Relationship Id="rId16" Type="http://schemas.openxmlformats.org/officeDocument/2006/relationships/image" Target="../media/image40.png"/><Relationship Id="rId1" Type="http://schemas.openxmlformats.org/officeDocument/2006/relationships/slideLayout" Target="../slideLayouts/slideLayout28.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svg"/><Relationship Id="rId7" Type="http://schemas.openxmlformats.org/officeDocument/2006/relationships/image" Target="../media/image45.svg"/><Relationship Id="rId12" Type="http://schemas.openxmlformats.org/officeDocument/2006/relationships/image" Target="../media/image50.svg"/><Relationship Id="rId2" Type="http://schemas.openxmlformats.org/officeDocument/2006/relationships/notesSlide" Target="../notesSlides/notesSlide11.xml"/><Relationship Id="rId1" Type="http://schemas.openxmlformats.org/officeDocument/2006/relationships/slideLayout" Target="../slideLayouts/slideLayout28.xml"/><Relationship Id="rId6" Type="http://schemas.openxmlformats.org/officeDocument/2006/relationships/image" Target="../media/image44.svg"/><Relationship Id="rId11" Type="http://schemas.openxmlformats.org/officeDocument/2006/relationships/image" Target="../media/image49.svg"/><Relationship Id="rId5" Type="http://schemas.openxmlformats.org/officeDocument/2006/relationships/image" Target="../media/image43.sv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98086" y="983655"/>
            <a:ext cx="10795524" cy="513259"/>
          </a:xfrm>
          <a:prstGeom prst="rect">
            <a:avLst/>
          </a:prstGeom>
          <a:noFill/>
          <a:ln/>
        </p:spPr>
        <p:txBody>
          <a:bodyPr wrap="none" lIns="0" tIns="0" rIns="0" bIns="0" rtlCol="0" anchor="t"/>
          <a:lstStyle/>
          <a:p>
            <a:pPr marL="0" indent="0" algn="ctr">
              <a:lnSpc>
                <a:spcPct val="104000"/>
              </a:lnSpc>
              <a:buNone/>
            </a:pPr>
            <a:r>
              <a:rPr lang="en-US" sz="3200" dirty="0">
                <a:solidFill>
                  <a:srgbClr val="38512F"/>
                </a:solidFill>
                <a:latin typeface="Lora" pitchFamily="34" charset="0"/>
                <a:ea typeface="Lora" pitchFamily="34" charset="-122"/>
                <a:cs typeface="Lora" pitchFamily="34" charset="-120"/>
              </a:rPr>
              <a:t>AI-Powered Campus Knowledge &amp; Search System</a:t>
            </a:r>
            <a:endParaRPr lang="en-US" sz="3200" dirty="0"/>
          </a:p>
        </p:txBody>
      </p:sp>
      <p:sp>
        <p:nvSpPr>
          <p:cNvPr id="3" name="Text 1"/>
          <p:cNvSpPr/>
          <p:nvPr/>
        </p:nvSpPr>
        <p:spPr>
          <a:xfrm>
            <a:off x="698086" y="1566664"/>
            <a:ext cx="10795524" cy="256679"/>
          </a:xfrm>
          <a:prstGeom prst="rect">
            <a:avLst/>
          </a:prstGeom>
          <a:noFill/>
          <a:ln/>
        </p:spPr>
        <p:txBody>
          <a:bodyPr wrap="none" lIns="0" tIns="0" rIns="0" bIns="0" rtlCol="0" anchor="t"/>
          <a:lstStyle/>
          <a:p>
            <a:pPr marL="0" indent="0" algn="ctr">
              <a:lnSpc>
                <a:spcPct val="104000"/>
              </a:lnSpc>
              <a:buNone/>
            </a:pPr>
            <a:r>
              <a:rPr lang="en-US" sz="1600" dirty="0">
                <a:solidFill>
                  <a:srgbClr val="38512F"/>
                </a:solidFill>
                <a:latin typeface="Lora" pitchFamily="34" charset="0"/>
                <a:ea typeface="Lora" pitchFamily="34" charset="-122"/>
                <a:cs typeface="Lora" pitchFamily="34" charset="-120"/>
              </a:rPr>
              <a:t>An AI-powered knowledge and search layer for the Technical Training Department</a:t>
            </a:r>
            <a:endParaRPr lang="en-US" sz="1600" dirty="0"/>
          </a:p>
        </p:txBody>
      </p:sp>
      <p:sp>
        <p:nvSpPr>
          <p:cNvPr id="4" name="Shape 2"/>
          <p:cNvSpPr/>
          <p:nvPr/>
        </p:nvSpPr>
        <p:spPr>
          <a:xfrm>
            <a:off x="698086" y="2128639"/>
            <a:ext cx="10795524" cy="19050"/>
          </a:xfrm>
          <a:prstGeom prst="roundRect">
            <a:avLst>
              <a:gd name="adj" fmla="val 49999"/>
            </a:avLst>
          </a:prstGeom>
          <a:solidFill>
            <a:srgbClr val="3A3630">
              <a:alpha val="50000"/>
            </a:srgbClr>
          </a:solidFill>
          <a:ln/>
        </p:spPr>
      </p:sp>
      <p:sp>
        <p:nvSpPr>
          <p:cNvPr id="5" name="Shape 3"/>
          <p:cNvSpPr/>
          <p:nvPr/>
        </p:nvSpPr>
        <p:spPr>
          <a:xfrm>
            <a:off x="572379" y="2387600"/>
            <a:ext cx="5436258" cy="3486646"/>
          </a:xfrm>
          <a:prstGeom prst="roundRect">
            <a:avLst>
              <a:gd name="adj" fmla="val 751"/>
            </a:avLst>
          </a:prstGeom>
          <a:solidFill>
            <a:srgbClr val="6496FF"/>
          </a:solidFill>
          <a:ln/>
        </p:spPr>
      </p:sp>
      <p:sp>
        <p:nvSpPr>
          <p:cNvPr id="6" name="Text 4"/>
          <p:cNvSpPr/>
          <p:nvPr/>
        </p:nvSpPr>
        <p:spPr>
          <a:xfrm>
            <a:off x="746900" y="2562126"/>
            <a:ext cx="5087215" cy="25667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ora" pitchFamily="34" charset="0"/>
                <a:ea typeface="Lora" pitchFamily="34" charset="-122"/>
                <a:cs typeface="Lora" pitchFamily="34" charset="-120"/>
              </a:rPr>
              <a:t>Team T7</a:t>
            </a:r>
            <a:endParaRPr lang="en-US" sz="1600" dirty="0"/>
          </a:p>
        </p:txBody>
      </p:sp>
      <p:sp>
        <p:nvSpPr>
          <p:cNvPr id="7" name="Text 5"/>
          <p:cNvSpPr/>
          <p:nvPr/>
        </p:nvSpPr>
        <p:spPr>
          <a:xfrm>
            <a:off x="746900" y="3015159"/>
            <a:ext cx="349043" cy="218182"/>
          </a:xfrm>
          <a:prstGeom prst="rect">
            <a:avLst/>
          </a:prstGeom>
          <a:noFill/>
          <a:ln/>
        </p:spPr>
        <p:txBody>
          <a:bodyPr wrap="none" lIns="0" tIns="0" rIns="0" bIns="0" rtlCol="0" anchor="ctr"/>
          <a:lstStyle/>
          <a:p>
            <a:pPr marL="0" indent="0" algn="l">
              <a:lnSpc>
                <a:spcPct val="100000"/>
              </a:lnSpc>
              <a:buNone/>
            </a:pPr>
            <a:r>
              <a:rPr lang="en-US" sz="1350" dirty="0">
                <a:solidFill>
                  <a:srgbClr val="000000"/>
                </a:solidFill>
                <a:latin typeface="Lora" pitchFamily="34" charset="0"/>
                <a:ea typeface="Lora" pitchFamily="34" charset="-122"/>
                <a:cs typeface="Lora" pitchFamily="34" charset="-120"/>
              </a:rPr>
              <a:t>01</a:t>
            </a:r>
            <a:endParaRPr lang="en-US" sz="1350" dirty="0"/>
          </a:p>
        </p:txBody>
      </p:sp>
      <p:sp>
        <p:nvSpPr>
          <p:cNvPr id="8" name="Shape 6"/>
          <p:cNvSpPr/>
          <p:nvPr/>
        </p:nvSpPr>
        <p:spPr>
          <a:xfrm>
            <a:off x="746900" y="3292673"/>
            <a:ext cx="5087215" cy="19050"/>
          </a:xfrm>
          <a:prstGeom prst="rect">
            <a:avLst/>
          </a:prstGeom>
          <a:solidFill>
            <a:srgbClr val="38512F"/>
          </a:solidFill>
          <a:ln/>
        </p:spPr>
      </p:sp>
      <p:sp>
        <p:nvSpPr>
          <p:cNvPr id="9" name="Text 7"/>
          <p:cNvSpPr/>
          <p:nvPr/>
        </p:nvSpPr>
        <p:spPr>
          <a:xfrm>
            <a:off x="746900" y="3417987"/>
            <a:ext cx="5087215" cy="25667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ora" pitchFamily="34" charset="0"/>
                <a:ea typeface="Lora" pitchFamily="34" charset="-122"/>
                <a:cs typeface="Lora" pitchFamily="34" charset="-120"/>
              </a:rPr>
              <a:t>Anupam Rambhashah</a:t>
            </a:r>
            <a:endParaRPr lang="en-US" sz="1600" dirty="0"/>
          </a:p>
        </p:txBody>
      </p:sp>
      <p:sp>
        <p:nvSpPr>
          <p:cNvPr id="10" name="Text 8"/>
          <p:cNvSpPr/>
          <p:nvPr/>
        </p:nvSpPr>
        <p:spPr>
          <a:xfrm>
            <a:off x="746900" y="3849191"/>
            <a:ext cx="5087215" cy="279202"/>
          </a:xfrm>
          <a:prstGeom prst="rect">
            <a:avLst/>
          </a:prstGeom>
          <a:noFill/>
          <a:ln/>
        </p:spPr>
        <p:txBody>
          <a:bodyPr wrap="none" lIns="0" tIns="0" rIns="0" bIns="0" rtlCol="0" anchor="t"/>
          <a:lstStyle/>
          <a:p>
            <a:pPr marL="0" indent="0" algn="l">
              <a:lnSpc>
                <a:spcPct val="133000"/>
              </a:lnSpc>
              <a:buNone/>
            </a:pPr>
            <a:r>
              <a:rPr lang="en-US" sz="1350" dirty="0">
                <a:solidFill>
                  <a:srgbClr val="000000"/>
                </a:solidFill>
                <a:latin typeface="Source Sans 3" pitchFamily="34" charset="0"/>
                <a:ea typeface="Source Sans 3" pitchFamily="34" charset="-122"/>
                <a:cs typeface="Source Sans 3" pitchFamily="34" charset="-120"/>
              </a:rPr>
              <a:t>B.Tech Data Science</a:t>
            </a:r>
            <a:endParaRPr lang="en-US" sz="1350" dirty="0"/>
          </a:p>
        </p:txBody>
      </p:sp>
      <p:sp>
        <p:nvSpPr>
          <p:cNvPr id="11" name="Text 9"/>
          <p:cNvSpPr/>
          <p:nvPr/>
        </p:nvSpPr>
        <p:spPr>
          <a:xfrm>
            <a:off x="746900" y="4433788"/>
            <a:ext cx="349043" cy="218182"/>
          </a:xfrm>
          <a:prstGeom prst="rect">
            <a:avLst/>
          </a:prstGeom>
          <a:noFill/>
          <a:ln/>
        </p:spPr>
        <p:txBody>
          <a:bodyPr wrap="none" lIns="0" tIns="0" rIns="0" bIns="0" rtlCol="0" anchor="ctr"/>
          <a:lstStyle/>
          <a:p>
            <a:pPr marL="0" indent="0" algn="l">
              <a:lnSpc>
                <a:spcPct val="100000"/>
              </a:lnSpc>
              <a:buNone/>
            </a:pPr>
            <a:r>
              <a:rPr lang="en-US" sz="1350" dirty="0">
                <a:solidFill>
                  <a:srgbClr val="000000"/>
                </a:solidFill>
                <a:latin typeface="Lora" pitchFamily="34" charset="0"/>
                <a:ea typeface="Lora" pitchFamily="34" charset="-122"/>
                <a:cs typeface="Lora" pitchFamily="34" charset="-120"/>
              </a:rPr>
              <a:t>02</a:t>
            </a:r>
            <a:endParaRPr lang="en-US" sz="1350" dirty="0"/>
          </a:p>
        </p:txBody>
      </p:sp>
      <p:sp>
        <p:nvSpPr>
          <p:cNvPr id="12" name="Shape 10"/>
          <p:cNvSpPr/>
          <p:nvPr/>
        </p:nvSpPr>
        <p:spPr>
          <a:xfrm>
            <a:off x="746900" y="4711303"/>
            <a:ext cx="5087215" cy="19050"/>
          </a:xfrm>
          <a:prstGeom prst="rect">
            <a:avLst/>
          </a:prstGeom>
          <a:solidFill>
            <a:srgbClr val="38512F"/>
          </a:solidFill>
          <a:ln/>
        </p:spPr>
      </p:sp>
      <p:sp>
        <p:nvSpPr>
          <p:cNvPr id="13" name="Text 11"/>
          <p:cNvSpPr/>
          <p:nvPr/>
        </p:nvSpPr>
        <p:spPr>
          <a:xfrm>
            <a:off x="746900" y="4836616"/>
            <a:ext cx="5087215" cy="25667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ora" pitchFamily="34" charset="0"/>
                <a:ea typeface="Lora" pitchFamily="34" charset="-122"/>
                <a:cs typeface="Lora" pitchFamily="34" charset="-120"/>
              </a:rPr>
              <a:t>Muskan Kumari</a:t>
            </a:r>
            <a:endParaRPr lang="en-US" sz="1600" dirty="0"/>
          </a:p>
        </p:txBody>
      </p:sp>
      <p:sp>
        <p:nvSpPr>
          <p:cNvPr id="14" name="Text 12"/>
          <p:cNvSpPr/>
          <p:nvPr/>
        </p:nvSpPr>
        <p:spPr>
          <a:xfrm>
            <a:off x="746900" y="5267821"/>
            <a:ext cx="5087215" cy="279202"/>
          </a:xfrm>
          <a:prstGeom prst="rect">
            <a:avLst/>
          </a:prstGeom>
          <a:noFill/>
          <a:ln/>
        </p:spPr>
        <p:txBody>
          <a:bodyPr wrap="none" lIns="0" tIns="0" rIns="0" bIns="0" rtlCol="0" anchor="t"/>
          <a:lstStyle/>
          <a:p>
            <a:pPr marL="0" indent="0" algn="l">
              <a:lnSpc>
                <a:spcPct val="133000"/>
              </a:lnSpc>
              <a:buNone/>
            </a:pPr>
            <a:r>
              <a:rPr lang="en-US" sz="1350" dirty="0">
                <a:solidFill>
                  <a:srgbClr val="000000"/>
                </a:solidFill>
                <a:latin typeface="Source Sans 3" pitchFamily="34" charset="0"/>
                <a:ea typeface="Source Sans 3" pitchFamily="34" charset="-122"/>
                <a:cs typeface="Source Sans 3" pitchFamily="34" charset="-120"/>
              </a:rPr>
              <a:t>B.Tech Full Stack</a:t>
            </a:r>
            <a:endParaRPr lang="en-US" sz="1350" dirty="0"/>
          </a:p>
        </p:txBody>
      </p:sp>
      <p:sp>
        <p:nvSpPr>
          <p:cNvPr id="15" name="Text 13"/>
          <p:cNvSpPr/>
          <p:nvPr/>
        </p:nvSpPr>
        <p:spPr>
          <a:xfrm>
            <a:off x="6315115" y="2562126"/>
            <a:ext cx="5184844" cy="256679"/>
          </a:xfrm>
          <a:prstGeom prst="rect">
            <a:avLst/>
          </a:prstGeom>
          <a:noFill/>
          <a:ln/>
        </p:spPr>
        <p:txBody>
          <a:bodyPr wrap="none" lIns="0" tIns="0" rIns="0" bIns="0" rtlCol="0" anchor="t"/>
          <a:lstStyle/>
          <a:p>
            <a:pPr marL="0" indent="0" algn="l">
              <a:lnSpc>
                <a:spcPct val="104000"/>
              </a:lnSpc>
              <a:buNone/>
            </a:pPr>
            <a:r>
              <a:rPr lang="en-US" sz="1600" dirty="0">
                <a:solidFill>
                  <a:srgbClr val="38512F"/>
                </a:solidFill>
                <a:latin typeface="Lora" pitchFamily="34" charset="0"/>
                <a:ea typeface="Lora" pitchFamily="34" charset="-122"/>
                <a:cs typeface="Lora" pitchFamily="34" charset="-120"/>
              </a:rPr>
              <a:t>School of Engineering &amp; Technology (SOET)</a:t>
            </a:r>
            <a:endParaRPr lang="en-US" sz="1600" dirty="0"/>
          </a:p>
        </p:txBody>
      </p:sp>
      <p:sp>
        <p:nvSpPr>
          <p:cNvPr id="16" name="Text 14"/>
          <p:cNvSpPr/>
          <p:nvPr/>
        </p:nvSpPr>
        <p:spPr>
          <a:xfrm>
            <a:off x="6315115" y="2993330"/>
            <a:ext cx="5184844" cy="1396008"/>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3A3630"/>
                </a:solidFill>
                <a:latin typeface="Source Sans 3" pitchFamily="34" charset="0"/>
                <a:ea typeface="Source Sans 3" pitchFamily="34" charset="-122"/>
                <a:cs typeface="Source Sans 3" pitchFamily="34" charset="-120"/>
              </a:rPr>
              <a:t>This project presents an AI-powered knowledge and search layer for the Technical Training Department, designed to help students quickly discover, connect, and retrieve scattered departmental knowledge through semantic search, embeddings, and a Retrieval-Augmented Generation (RAG) pipeline.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8086" y="520700"/>
            <a:ext cx="10795524" cy="417016"/>
          </a:xfrm>
          <a:prstGeom prst="rect">
            <a:avLst/>
          </a:prstGeom>
          <a:noFill/>
          <a:ln/>
        </p:spPr>
        <p:txBody>
          <a:bodyPr wrap="none" lIns="0" tIns="0" rIns="0" bIns="0" rtlCol="0" anchor="t"/>
          <a:lstStyle/>
          <a:p>
            <a:pPr marL="0" indent="0" algn="l">
              <a:lnSpc>
                <a:spcPct val="104000"/>
              </a:lnSpc>
              <a:buNone/>
            </a:pPr>
            <a:r>
              <a:rPr lang="en-US" sz="2600" dirty="0">
                <a:solidFill>
                  <a:srgbClr val="38512F"/>
                </a:solidFill>
                <a:latin typeface="Lora" pitchFamily="34" charset="0"/>
                <a:ea typeface="Lora" pitchFamily="34" charset="-122"/>
                <a:cs typeface="Lora" pitchFamily="34" charset="-120"/>
              </a:rPr>
              <a:t>The Problem: Information Scattered Everywhere</a:t>
            </a:r>
            <a:endParaRPr lang="en-US" sz="2600" dirty="0"/>
          </a:p>
        </p:txBody>
      </p:sp>
      <p:sp>
        <p:nvSpPr>
          <p:cNvPr id="3" name="Text 1"/>
          <p:cNvSpPr/>
          <p:nvPr/>
        </p:nvSpPr>
        <p:spPr>
          <a:xfrm>
            <a:off x="698086" y="1168102"/>
            <a:ext cx="11405108" cy="205581"/>
          </a:xfrm>
          <a:prstGeom prst="rect">
            <a:avLst/>
          </a:prstGeom>
          <a:noFill/>
          <a:ln/>
        </p:spPr>
        <p:txBody>
          <a:bodyPr wrap="none" lIns="0" tIns="0" rIns="0" bIns="0" rtlCol="0" anchor="t"/>
          <a:lstStyle/>
          <a:p>
            <a:pPr marL="0" indent="0" algn="l">
              <a:lnSpc>
                <a:spcPct val="121000"/>
              </a:lnSpc>
              <a:buNone/>
            </a:pPr>
            <a:r>
              <a:rPr lang="en-US" sz="1100" dirty="0">
                <a:solidFill>
                  <a:srgbClr val="3A3630"/>
                </a:solidFill>
                <a:latin typeface="Source Sans 3" pitchFamily="34" charset="0"/>
                <a:ea typeface="Source Sans 3" pitchFamily="34" charset="-122"/>
                <a:cs typeface="Source Sans 3" pitchFamily="34" charset="-120"/>
              </a:rPr>
              <a:t>Technical Training Department information is distributed across PDFs, notes, notices, training material, faculty information, images, and other authorized resources.</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8539" y="1897956"/>
            <a:ext cx="2666140" cy="1056580"/>
          </a:xfrm>
          <a:prstGeom prst="rect">
            <a:avLst/>
          </a:prstGeom>
        </p:spPr>
      </p:pic>
      <p:sp>
        <p:nvSpPr>
          <p:cNvPr id="5" name="Text 2"/>
          <p:cNvSpPr/>
          <p:nvPr/>
        </p:nvSpPr>
        <p:spPr>
          <a:xfrm>
            <a:off x="935113" y="1925834"/>
            <a:ext cx="2268282" cy="208558"/>
          </a:xfrm>
          <a:prstGeom prst="rect">
            <a:avLst/>
          </a:prstGeom>
          <a:noFill/>
          <a:ln/>
        </p:spPr>
        <p:txBody>
          <a:bodyPr wrap="none" lIns="0" tIns="0" rIns="0" bIns="0" rtlCol="0" anchor="t"/>
          <a:lstStyle/>
          <a:p>
            <a:pPr marL="0" indent="0" algn="l">
              <a:lnSpc>
                <a:spcPct val="104000"/>
              </a:lnSpc>
              <a:buNone/>
            </a:pPr>
            <a:r>
              <a:rPr lang="en-US" sz="1300" dirty="0">
                <a:solidFill>
                  <a:srgbClr val="3A3630"/>
                </a:solidFill>
                <a:latin typeface="Lora" pitchFamily="34" charset="0"/>
                <a:ea typeface="Lora" pitchFamily="34" charset="-122"/>
                <a:cs typeface="Lora" pitchFamily="34" charset="-120"/>
              </a:rPr>
              <a:t>PDFs &amp; Course Notes</a:t>
            </a:r>
            <a:endParaRPr lang="en-US" sz="1300" dirty="0"/>
          </a:p>
        </p:txBody>
      </p:sp>
      <p:sp>
        <p:nvSpPr>
          <p:cNvPr id="6" name="Text 3"/>
          <p:cNvSpPr/>
          <p:nvPr/>
        </p:nvSpPr>
        <p:spPr>
          <a:xfrm>
            <a:off x="935113" y="2117427"/>
            <a:ext cx="2268282" cy="205581"/>
          </a:xfrm>
          <a:prstGeom prst="rect">
            <a:avLst/>
          </a:prstGeom>
          <a:noFill/>
          <a:ln/>
        </p:spPr>
        <p:txBody>
          <a:bodyPr wrap="none" lIns="0" tIns="0" rIns="0" bIns="0" rtlCol="0" anchor="t"/>
          <a:lstStyle/>
          <a:p>
            <a:pPr marL="0" indent="0" algn="l">
              <a:lnSpc>
                <a:spcPct val="121000"/>
              </a:lnSpc>
              <a:buNone/>
            </a:pPr>
            <a:r>
              <a:rPr lang="en-US" sz="1100" dirty="0">
                <a:solidFill>
                  <a:srgbClr val="3A3630"/>
                </a:solidFill>
                <a:latin typeface="Source Sans 3" pitchFamily="34" charset="0"/>
                <a:ea typeface="Source Sans 3" pitchFamily="34" charset="-122"/>
                <a:cs typeface="Source Sans 3" pitchFamily="34" charset="-120"/>
              </a:rPr>
              <a:t>Lecture notes and study material</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9942" y="1854639"/>
            <a:ext cx="2666239" cy="1056580"/>
          </a:xfrm>
          <a:prstGeom prst="rect">
            <a:avLst/>
          </a:prstGeom>
        </p:spPr>
      </p:pic>
      <p:sp>
        <p:nvSpPr>
          <p:cNvPr id="8" name="Text 4"/>
          <p:cNvSpPr/>
          <p:nvPr/>
        </p:nvSpPr>
        <p:spPr>
          <a:xfrm>
            <a:off x="3716443" y="1793677"/>
            <a:ext cx="2268382" cy="208558"/>
          </a:xfrm>
          <a:prstGeom prst="rect">
            <a:avLst/>
          </a:prstGeom>
          <a:noFill/>
          <a:ln/>
        </p:spPr>
        <p:txBody>
          <a:bodyPr wrap="none" lIns="0" tIns="0" rIns="0" bIns="0" rtlCol="0" anchor="t"/>
          <a:lstStyle/>
          <a:p>
            <a:pPr marL="0" indent="0" algn="l">
              <a:lnSpc>
                <a:spcPct val="104000"/>
              </a:lnSpc>
              <a:buNone/>
            </a:pPr>
            <a:endParaRPr lang="en-US" sz="1300" dirty="0"/>
          </a:p>
        </p:txBody>
      </p:sp>
      <p:sp>
        <p:nvSpPr>
          <p:cNvPr id="9" name="Text 5"/>
          <p:cNvSpPr/>
          <p:nvPr/>
        </p:nvSpPr>
        <p:spPr>
          <a:xfrm>
            <a:off x="3712600" y="2185838"/>
            <a:ext cx="2851438"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3A3630"/>
                </a:solidFill>
                <a:latin typeface="Source Sans 3" pitchFamily="34" charset="0"/>
                <a:ea typeface="Source Sans 3" pitchFamily="34" charset="-122"/>
                <a:cs typeface="Source Sans 3" pitchFamily="34" charset="-120"/>
              </a:rPr>
              <a:t>Materials, contacts, and teaching assets</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2986452"/>
            <a:ext cx="2666140" cy="850999"/>
          </a:xfrm>
          <a:prstGeom prst="rect">
            <a:avLst/>
          </a:prstGeom>
        </p:spPr>
      </p:pic>
      <p:sp>
        <p:nvSpPr>
          <p:cNvPr id="11" name="Text 6"/>
          <p:cNvSpPr/>
          <p:nvPr/>
        </p:nvSpPr>
        <p:spPr>
          <a:xfrm>
            <a:off x="935113" y="2965450"/>
            <a:ext cx="2268282" cy="208558"/>
          </a:xfrm>
          <a:prstGeom prst="rect">
            <a:avLst/>
          </a:prstGeom>
          <a:noFill/>
          <a:ln/>
        </p:spPr>
        <p:txBody>
          <a:bodyPr wrap="none" lIns="0" tIns="0" rIns="0" bIns="0" rtlCol="0" anchor="t"/>
          <a:lstStyle/>
          <a:p>
            <a:pPr marL="0" indent="0" algn="l">
              <a:lnSpc>
                <a:spcPct val="104000"/>
              </a:lnSpc>
              <a:buNone/>
            </a:pPr>
            <a:r>
              <a:rPr lang="en-US" sz="1300" dirty="0">
                <a:solidFill>
                  <a:srgbClr val="3A3630"/>
                </a:solidFill>
                <a:latin typeface="Lora" pitchFamily="34" charset="0"/>
                <a:ea typeface="Lora" pitchFamily="34" charset="-122"/>
                <a:cs typeface="Lora" pitchFamily="34" charset="-120"/>
              </a:rPr>
              <a:t>Notices &amp; Announcements</a:t>
            </a:r>
            <a:endParaRPr lang="en-US" sz="1300" dirty="0"/>
          </a:p>
        </p:txBody>
      </p:sp>
      <p:sp>
        <p:nvSpPr>
          <p:cNvPr id="12" name="Text 7"/>
          <p:cNvSpPr/>
          <p:nvPr/>
        </p:nvSpPr>
        <p:spPr>
          <a:xfrm>
            <a:off x="935113" y="3289201"/>
            <a:ext cx="2268282" cy="205581"/>
          </a:xfrm>
          <a:prstGeom prst="rect">
            <a:avLst/>
          </a:prstGeom>
          <a:noFill/>
          <a:ln/>
        </p:spPr>
        <p:txBody>
          <a:bodyPr wrap="none" lIns="0" tIns="0" rIns="0" bIns="0" rtlCol="0" anchor="t"/>
          <a:lstStyle/>
          <a:p>
            <a:pPr marL="0" indent="0" algn="l">
              <a:lnSpc>
                <a:spcPct val="121000"/>
              </a:lnSpc>
              <a:buNone/>
            </a:pPr>
            <a:r>
              <a:rPr lang="en-US" sz="1100" dirty="0">
                <a:solidFill>
                  <a:srgbClr val="3A3630"/>
                </a:solidFill>
                <a:latin typeface="Source Sans 3" pitchFamily="34" charset="0"/>
                <a:ea typeface="Source Sans 3" pitchFamily="34" charset="-122"/>
                <a:cs typeface="Source Sans 3" pitchFamily="34" charset="-120"/>
              </a:rPr>
              <a:t>Programs, updates, and opportunities</a:t>
            </a:r>
            <a:endParaRPr lang="en-US" sz="11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79415" y="2963186"/>
            <a:ext cx="2666239" cy="850999"/>
          </a:xfrm>
          <a:prstGeom prst="rect">
            <a:avLst/>
          </a:prstGeom>
        </p:spPr>
      </p:pic>
      <p:sp>
        <p:nvSpPr>
          <p:cNvPr id="14" name="Text 8"/>
          <p:cNvSpPr/>
          <p:nvPr/>
        </p:nvSpPr>
        <p:spPr>
          <a:xfrm>
            <a:off x="3716443" y="2965450"/>
            <a:ext cx="2268382" cy="208558"/>
          </a:xfrm>
          <a:prstGeom prst="rect">
            <a:avLst/>
          </a:prstGeom>
          <a:noFill/>
          <a:ln/>
        </p:spPr>
        <p:txBody>
          <a:bodyPr wrap="none" lIns="0" tIns="0" rIns="0" bIns="0" rtlCol="0" anchor="t"/>
          <a:lstStyle/>
          <a:p>
            <a:pPr marL="0" indent="0" algn="l">
              <a:lnSpc>
                <a:spcPct val="104000"/>
              </a:lnSpc>
              <a:buNone/>
            </a:pPr>
            <a:r>
              <a:rPr lang="en-US" sz="1300" dirty="0">
                <a:solidFill>
                  <a:srgbClr val="3A3630"/>
                </a:solidFill>
                <a:latin typeface="Lora" pitchFamily="34" charset="0"/>
                <a:ea typeface="Lora" pitchFamily="34" charset="-122"/>
                <a:cs typeface="Lora" pitchFamily="34" charset="-120"/>
              </a:rPr>
              <a:t>Links &amp; Department Docs</a:t>
            </a:r>
            <a:endParaRPr lang="en-US" sz="1300" dirty="0"/>
          </a:p>
        </p:txBody>
      </p:sp>
      <p:sp>
        <p:nvSpPr>
          <p:cNvPr id="15" name="Text 9"/>
          <p:cNvSpPr/>
          <p:nvPr/>
        </p:nvSpPr>
        <p:spPr>
          <a:xfrm>
            <a:off x="3716443" y="3289201"/>
            <a:ext cx="2268382" cy="205581"/>
          </a:xfrm>
          <a:prstGeom prst="rect">
            <a:avLst/>
          </a:prstGeom>
          <a:noFill/>
          <a:ln/>
        </p:spPr>
        <p:txBody>
          <a:bodyPr wrap="none" lIns="0" tIns="0" rIns="0" bIns="0" rtlCol="0" anchor="t"/>
          <a:lstStyle/>
          <a:p>
            <a:pPr marL="0" indent="0" algn="l">
              <a:lnSpc>
                <a:spcPct val="121000"/>
              </a:lnSpc>
              <a:buNone/>
            </a:pPr>
            <a:r>
              <a:rPr lang="en-US" sz="1100" dirty="0">
                <a:solidFill>
                  <a:srgbClr val="3A3630"/>
                </a:solidFill>
                <a:latin typeface="Source Sans 3" pitchFamily="34" charset="0"/>
                <a:ea typeface="Source Sans 3" pitchFamily="34" charset="-122"/>
                <a:cs typeface="Source Sans 3" pitchFamily="34" charset="-120"/>
              </a:rPr>
              <a:t>Resources with no central index</a:t>
            </a:r>
            <a:endParaRPr lang="en-US" sz="11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086" y="3896537"/>
            <a:ext cx="2666140" cy="1056580"/>
          </a:xfrm>
          <a:prstGeom prst="rect">
            <a:avLst/>
          </a:prstGeom>
        </p:spPr>
      </p:pic>
      <p:sp>
        <p:nvSpPr>
          <p:cNvPr id="17" name="Text 10"/>
          <p:cNvSpPr/>
          <p:nvPr/>
        </p:nvSpPr>
        <p:spPr>
          <a:xfrm>
            <a:off x="935113" y="3931642"/>
            <a:ext cx="2268282" cy="208558"/>
          </a:xfrm>
          <a:prstGeom prst="rect">
            <a:avLst/>
          </a:prstGeom>
          <a:noFill/>
          <a:ln/>
        </p:spPr>
        <p:txBody>
          <a:bodyPr wrap="none" lIns="0" tIns="0" rIns="0" bIns="0" rtlCol="0" anchor="t"/>
          <a:lstStyle/>
          <a:p>
            <a:pPr marL="0" indent="0" algn="l">
              <a:lnSpc>
                <a:spcPct val="104000"/>
              </a:lnSpc>
              <a:buNone/>
            </a:pPr>
            <a:r>
              <a:rPr lang="en-US" sz="1300" dirty="0">
                <a:solidFill>
                  <a:srgbClr val="3A3630"/>
                </a:solidFill>
                <a:latin typeface="Lora" pitchFamily="34" charset="0"/>
                <a:ea typeface="Lora" pitchFamily="34" charset="-122"/>
                <a:cs typeface="Lora" pitchFamily="34" charset="-120"/>
              </a:rPr>
              <a:t>Training Material</a:t>
            </a:r>
            <a:endParaRPr lang="en-US" sz="1300" dirty="0"/>
          </a:p>
        </p:txBody>
      </p:sp>
      <p:sp>
        <p:nvSpPr>
          <p:cNvPr id="18" name="Text 11"/>
          <p:cNvSpPr/>
          <p:nvPr/>
        </p:nvSpPr>
        <p:spPr>
          <a:xfrm>
            <a:off x="935113" y="4255393"/>
            <a:ext cx="2268282"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3A3630"/>
                </a:solidFill>
                <a:latin typeface="Source Sans 3" pitchFamily="34" charset="0"/>
                <a:ea typeface="Source Sans 3" pitchFamily="34" charset="-122"/>
                <a:cs typeface="Source Sans 3" pitchFamily="34" charset="-120"/>
              </a:rPr>
              <a:t>Practice content, worksheets, and guides</a:t>
            </a:r>
            <a:endParaRPr lang="en-US" sz="11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13672" y="3896537"/>
            <a:ext cx="2666239" cy="1056580"/>
          </a:xfrm>
          <a:prstGeom prst="rect">
            <a:avLst/>
          </a:prstGeom>
        </p:spPr>
      </p:pic>
      <p:sp>
        <p:nvSpPr>
          <p:cNvPr id="20" name="Text 12"/>
          <p:cNvSpPr/>
          <p:nvPr/>
        </p:nvSpPr>
        <p:spPr>
          <a:xfrm>
            <a:off x="3716443" y="3931642"/>
            <a:ext cx="2268382" cy="208558"/>
          </a:xfrm>
          <a:prstGeom prst="rect">
            <a:avLst/>
          </a:prstGeom>
          <a:noFill/>
          <a:ln/>
        </p:spPr>
        <p:txBody>
          <a:bodyPr wrap="none" lIns="0" tIns="0" rIns="0" bIns="0" rtlCol="0" anchor="t"/>
          <a:lstStyle/>
          <a:p>
            <a:pPr marL="0" indent="0" algn="l">
              <a:lnSpc>
                <a:spcPct val="104000"/>
              </a:lnSpc>
              <a:buNone/>
            </a:pPr>
            <a:r>
              <a:rPr lang="en-US" sz="1300" dirty="0">
                <a:solidFill>
                  <a:srgbClr val="3A3630"/>
                </a:solidFill>
                <a:latin typeface="Lora" pitchFamily="34" charset="0"/>
                <a:ea typeface="Lora" pitchFamily="34" charset="-122"/>
                <a:cs typeface="Lora" pitchFamily="34" charset="-120"/>
              </a:rPr>
              <a:t>Images &amp; Visual Resources</a:t>
            </a:r>
            <a:endParaRPr lang="en-US" sz="1300" dirty="0"/>
          </a:p>
        </p:txBody>
      </p:sp>
      <p:sp>
        <p:nvSpPr>
          <p:cNvPr id="21" name="Text 13"/>
          <p:cNvSpPr/>
          <p:nvPr/>
        </p:nvSpPr>
        <p:spPr>
          <a:xfrm>
            <a:off x="3716443" y="4255393"/>
            <a:ext cx="2268382"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3A3630"/>
                </a:solidFill>
                <a:latin typeface="Source Sans 3" pitchFamily="34" charset="0"/>
                <a:ea typeface="Source Sans 3" pitchFamily="34" charset="-122"/>
                <a:cs typeface="Source Sans 3" pitchFamily="34" charset="-120"/>
              </a:rPr>
              <a:t>Posters, screenshots, and reference visuals</a:t>
            </a:r>
            <a:endParaRPr lang="en-US" sz="1100" dirty="0"/>
          </a:p>
        </p:txBody>
      </p:sp>
      <p:pic>
        <p:nvPicPr>
          <p:cNvPr id="22"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8086" y="5103416"/>
            <a:ext cx="2666140" cy="1265138"/>
          </a:xfrm>
          <a:prstGeom prst="rect">
            <a:avLst/>
          </a:prstGeom>
        </p:spPr>
      </p:pic>
      <p:sp>
        <p:nvSpPr>
          <p:cNvPr id="23" name="Text 14"/>
          <p:cNvSpPr/>
          <p:nvPr/>
        </p:nvSpPr>
        <p:spPr>
          <a:xfrm>
            <a:off x="935113" y="5103416"/>
            <a:ext cx="2268282" cy="417116"/>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3A3630"/>
                </a:solidFill>
                <a:latin typeface="Lora" pitchFamily="34" charset="0"/>
                <a:ea typeface="Lora" pitchFamily="34" charset="-122"/>
                <a:cs typeface="Lora" pitchFamily="34" charset="-120"/>
              </a:rPr>
              <a:t>Authorized Department Resources</a:t>
            </a:r>
            <a:endParaRPr lang="en-US" sz="1300" dirty="0"/>
          </a:p>
        </p:txBody>
      </p:sp>
      <p:sp>
        <p:nvSpPr>
          <p:cNvPr id="24" name="Text 15"/>
          <p:cNvSpPr/>
          <p:nvPr/>
        </p:nvSpPr>
        <p:spPr>
          <a:xfrm>
            <a:off x="935113" y="5635724"/>
            <a:ext cx="2268282"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3A3630"/>
                </a:solidFill>
                <a:latin typeface="Source Sans 3" pitchFamily="34" charset="0"/>
                <a:ea typeface="Source Sans 3" pitchFamily="34" charset="-122"/>
                <a:cs typeface="Source Sans 3" pitchFamily="34" charset="-120"/>
              </a:rPr>
              <a:t>Other approved files and shared material</a:t>
            </a:r>
            <a:endParaRPr lang="en-US" sz="1100" dirty="0"/>
          </a:p>
        </p:txBody>
      </p:sp>
      <p:sp>
        <p:nvSpPr>
          <p:cNvPr id="25" name="Shape 16"/>
          <p:cNvSpPr/>
          <p:nvPr/>
        </p:nvSpPr>
        <p:spPr>
          <a:xfrm>
            <a:off x="6382682" y="1854639"/>
            <a:ext cx="5206175" cy="4834037"/>
          </a:xfrm>
          <a:prstGeom prst="roundRect">
            <a:avLst>
              <a:gd name="adj" fmla="val 440"/>
            </a:avLst>
          </a:prstGeom>
          <a:solidFill>
            <a:srgbClr val="6496FF"/>
          </a:solidFill>
          <a:ln/>
        </p:spPr>
      </p:sp>
      <p:sp>
        <p:nvSpPr>
          <p:cNvPr id="26" name="Text 17"/>
          <p:cNvSpPr/>
          <p:nvPr/>
        </p:nvSpPr>
        <p:spPr>
          <a:xfrm>
            <a:off x="6556608" y="2112581"/>
            <a:ext cx="4922615" cy="208558"/>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Lora" pitchFamily="34" charset="0"/>
                <a:ea typeface="Lora" pitchFamily="34" charset="-122"/>
                <a:cs typeface="Lora" pitchFamily="34" charset="-120"/>
              </a:rPr>
              <a:t>Real Student Scenario</a:t>
            </a:r>
            <a:endParaRPr lang="en-US" sz="1300" dirty="0"/>
          </a:p>
        </p:txBody>
      </p:sp>
      <p:sp>
        <p:nvSpPr>
          <p:cNvPr id="27" name="Text 18"/>
          <p:cNvSpPr/>
          <p:nvPr/>
        </p:nvSpPr>
        <p:spPr>
          <a:xfrm>
            <a:off x="6630821" y="2323008"/>
            <a:ext cx="4709895" cy="1029692"/>
          </a:xfrm>
          <a:prstGeom prst="rect">
            <a:avLst/>
          </a:prstGeom>
          <a:noFill/>
          <a:ln/>
        </p:spPr>
        <p:txBody>
          <a:bodyPr wrap="square" lIns="0" tIns="0" rIns="0" bIns="0" rtlCol="0" anchor="t"/>
          <a:lstStyle/>
          <a:p>
            <a:pPr marL="0" indent="0" algn="l">
              <a:lnSpc>
                <a:spcPct val="121000"/>
              </a:lnSpc>
              <a:spcAft>
                <a:spcPts val="800"/>
              </a:spcAft>
              <a:buNone/>
            </a:pPr>
            <a:r>
              <a:rPr lang="en-US" sz="1100" b="1" dirty="0">
                <a:solidFill>
                  <a:srgbClr val="000000"/>
                </a:solidFill>
                <a:latin typeface="Source Sans 3 Bold" pitchFamily="34" charset="0"/>
                <a:ea typeface="Source Sans 3 Bold" pitchFamily="34" charset="-122"/>
                <a:cs typeface="Source Sans 3 Bold" pitchFamily="34" charset="-120"/>
              </a:rPr>
              <a:t>Competitive Programming</a:t>
            </a:r>
            <a:r>
              <a:rPr lang="en-US" sz="1100" dirty="0">
                <a:solidFill>
                  <a:srgbClr val="000000"/>
                </a:solidFill>
                <a:latin typeface="Source Sans 3" pitchFamily="34" charset="0"/>
                <a:ea typeface="Source Sans 3" pitchFamily="34" charset="-122"/>
                <a:cs typeface="Source Sans 3" pitchFamily="34" charset="-120"/>
              </a:rPr>
              <a:t> student asks:</a:t>
            </a:r>
            <a:endParaRPr lang="en-US" sz="1100" dirty="0"/>
          </a:p>
          <a:p>
            <a:pPr marL="0" indent="0" algn="l">
              <a:lnSpc>
                <a:spcPct val="121000"/>
              </a:lnSpc>
              <a:spcAft>
                <a:spcPts val="800"/>
              </a:spcAft>
              <a:buNone/>
            </a:pPr>
            <a:r>
              <a:rPr lang="en-US" sz="1100" b="1" dirty="0">
                <a:solidFill>
                  <a:srgbClr val="000000"/>
                </a:solidFill>
                <a:latin typeface="Source Sans 3 Bold" pitchFamily="34" charset="0"/>
                <a:ea typeface="Source Sans 3 Bold" pitchFamily="34" charset="-122"/>
                <a:cs typeface="Source Sans 3 Bold" pitchFamily="34" charset="-120"/>
              </a:rPr>
              <a:t>“Beginner-friendly resources for Recursion and what should I study next?”</a:t>
            </a:r>
            <a:endParaRPr lang="en-US" sz="1100" dirty="0"/>
          </a:p>
          <a:p>
            <a:pPr marL="0" indent="0" algn="l">
              <a:lnSpc>
                <a:spcPct val="121000"/>
              </a:lnSpc>
              <a:buNone/>
            </a:pPr>
            <a:r>
              <a:rPr lang="en-US" sz="1100" dirty="0">
                <a:solidFill>
                  <a:srgbClr val="000000"/>
                </a:solidFill>
                <a:latin typeface="Source Sans 3" pitchFamily="34" charset="0"/>
                <a:ea typeface="Source Sans 3" pitchFamily="34" charset="-122"/>
                <a:cs typeface="Source Sans 3" pitchFamily="34" charset="-120"/>
              </a:rPr>
              <a:t>The answer is spread across multiple places, so the student must manually search source by source.</a:t>
            </a:r>
            <a:endParaRPr lang="en-US" sz="1100" dirty="0"/>
          </a:p>
        </p:txBody>
      </p:sp>
      <p:sp>
        <p:nvSpPr>
          <p:cNvPr id="28" name="Shape 19"/>
          <p:cNvSpPr/>
          <p:nvPr/>
        </p:nvSpPr>
        <p:spPr>
          <a:xfrm>
            <a:off x="6537558" y="1956594"/>
            <a:ext cx="19050" cy="1237059"/>
          </a:xfrm>
          <a:prstGeom prst="roundRect">
            <a:avLst>
              <a:gd name="adj" fmla="val 49999"/>
            </a:avLst>
          </a:prstGeom>
          <a:solidFill>
            <a:srgbClr val="38512F"/>
          </a:solidFill>
          <a:ln/>
        </p:spPr>
      </p:sp>
      <p:sp>
        <p:nvSpPr>
          <p:cNvPr id="29" name="Shape 20"/>
          <p:cNvSpPr/>
          <p:nvPr/>
        </p:nvSpPr>
        <p:spPr>
          <a:xfrm>
            <a:off x="6537558" y="3358654"/>
            <a:ext cx="4922615" cy="19050"/>
          </a:xfrm>
          <a:prstGeom prst="roundRect">
            <a:avLst>
              <a:gd name="adj" fmla="val 49999"/>
            </a:avLst>
          </a:prstGeom>
          <a:solidFill>
            <a:srgbClr val="000000">
              <a:alpha val="50000"/>
            </a:srgbClr>
          </a:solidFill>
          <a:ln/>
        </p:spPr>
      </p:sp>
      <p:sp>
        <p:nvSpPr>
          <p:cNvPr id="30" name="Text 21"/>
          <p:cNvSpPr/>
          <p:nvPr/>
        </p:nvSpPr>
        <p:spPr>
          <a:xfrm>
            <a:off x="6537556" y="4341399"/>
            <a:ext cx="4922615" cy="208558"/>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Lora" pitchFamily="34" charset="0"/>
                <a:ea typeface="Lora" pitchFamily="34" charset="-122"/>
                <a:cs typeface="Lora" pitchFamily="34" charset="-120"/>
              </a:rPr>
              <a:t>Flow</a:t>
            </a:r>
            <a:endParaRPr lang="en-US" sz="1300" dirty="0"/>
          </a:p>
        </p:txBody>
      </p:sp>
      <p:sp>
        <p:nvSpPr>
          <p:cNvPr id="31" name="Text 22"/>
          <p:cNvSpPr/>
          <p:nvPr/>
        </p:nvSpPr>
        <p:spPr>
          <a:xfrm>
            <a:off x="6537557" y="4747536"/>
            <a:ext cx="4922615" cy="411163"/>
          </a:xfrm>
          <a:prstGeom prst="rect">
            <a:avLst/>
          </a:prstGeom>
          <a:noFill/>
          <a:ln/>
        </p:spPr>
        <p:txBody>
          <a:bodyPr wrap="square" lIns="0" tIns="0" rIns="0" bIns="0" rtlCol="0" anchor="t">
            <a:normAutofit/>
          </a:bodyPr>
          <a:lstStyle/>
          <a:p>
            <a:pPr marL="0" indent="0" algn="l">
              <a:lnSpc>
                <a:spcPct val="121000"/>
              </a:lnSpc>
              <a:buNone/>
            </a:pPr>
            <a:r>
              <a:rPr lang="en-US" sz="1100" b="1" dirty="0">
                <a:solidFill>
                  <a:srgbClr val="000000"/>
                </a:solidFill>
                <a:latin typeface="Source Sans 3 Bold" pitchFamily="34" charset="0"/>
                <a:ea typeface="Source Sans 3 Bold" pitchFamily="34" charset="-122"/>
                <a:cs typeface="Source Sans 3 Bold" pitchFamily="34" charset="-120"/>
              </a:rPr>
              <a:t>SCATTERED INFORMATION</a:t>
            </a:r>
            <a:r>
              <a:rPr lang="en-US" sz="1100" dirty="0">
                <a:solidFill>
                  <a:srgbClr val="000000"/>
                </a:solidFill>
                <a:latin typeface="Source Sans 3" pitchFamily="34" charset="0"/>
                <a:ea typeface="Source Sans 3" pitchFamily="34" charset="-122"/>
                <a:cs typeface="Source Sans 3" pitchFamily="34" charset="-120"/>
              </a:rPr>
              <a:t> → </a:t>
            </a:r>
            <a:r>
              <a:rPr lang="en-US" sz="1100" b="1" dirty="0">
                <a:solidFill>
                  <a:srgbClr val="000000"/>
                </a:solidFill>
                <a:latin typeface="Source Sans 3 Bold" pitchFamily="34" charset="0"/>
                <a:ea typeface="Source Sans 3 Bold" pitchFamily="34" charset="-122"/>
                <a:cs typeface="Source Sans 3 Bold" pitchFamily="34" charset="-120"/>
              </a:rPr>
              <a:t>MANUAL SEARCH</a:t>
            </a:r>
            <a:r>
              <a:rPr lang="en-US" sz="1100" dirty="0">
                <a:solidFill>
                  <a:srgbClr val="000000"/>
                </a:solidFill>
                <a:latin typeface="Source Sans 3" pitchFamily="34" charset="0"/>
                <a:ea typeface="Source Sans 3" pitchFamily="34" charset="-122"/>
                <a:cs typeface="Source Sans 3" pitchFamily="34" charset="-120"/>
              </a:rPr>
              <a:t> → </a:t>
            </a:r>
            <a:r>
              <a:rPr lang="en-US" sz="1100" b="1" dirty="0">
                <a:solidFill>
                  <a:srgbClr val="000000"/>
                </a:solidFill>
                <a:latin typeface="Source Sans 3 Bold" pitchFamily="34" charset="0"/>
                <a:ea typeface="Source Sans 3 Bold" pitchFamily="34" charset="-122"/>
                <a:cs typeface="Source Sans 3 Bold" pitchFamily="34" charset="-120"/>
              </a:rPr>
              <a:t>TIME CONSUMING</a:t>
            </a:r>
            <a:r>
              <a:rPr lang="en-US" sz="1100" dirty="0">
                <a:solidFill>
                  <a:srgbClr val="000000"/>
                </a:solidFill>
                <a:latin typeface="Source Sans 3" pitchFamily="34" charset="0"/>
                <a:ea typeface="Source Sans 3" pitchFamily="34" charset="-122"/>
                <a:cs typeface="Source Sans 3" pitchFamily="34" charset="-120"/>
              </a:rPr>
              <a:t> → </a:t>
            </a:r>
            <a:r>
              <a:rPr lang="en-US" sz="1100" b="1" dirty="0">
                <a:solidFill>
                  <a:srgbClr val="000000"/>
                </a:solidFill>
                <a:latin typeface="Source Sans 3 Bold" pitchFamily="34" charset="0"/>
                <a:ea typeface="Source Sans 3 Bold" pitchFamily="34" charset="-122"/>
                <a:cs typeface="Source Sans 3 Bold" pitchFamily="34" charset="-120"/>
              </a:rPr>
              <a:t>DIFFICULT INFORMATION DISCOVERY</a:t>
            </a:r>
            <a:endParaRPr lang="en-US" sz="1100" dirty="0"/>
          </a:p>
        </p:txBody>
      </p:sp>
      <p:sp>
        <p:nvSpPr>
          <p:cNvPr id="33" name="TextBox 32">
            <a:extLst>
              <a:ext uri="{FF2B5EF4-FFF2-40B4-BE49-F238E27FC236}">
                <a16:creationId xmlns:a16="http://schemas.microsoft.com/office/drawing/2014/main" id="{0DABF42D-F805-2DD1-8494-79377EA028B9}"/>
              </a:ext>
            </a:extLst>
          </p:cNvPr>
          <p:cNvSpPr txBox="1"/>
          <p:nvPr/>
        </p:nvSpPr>
        <p:spPr>
          <a:xfrm>
            <a:off x="3601252" y="1848491"/>
            <a:ext cx="6102220" cy="291170"/>
          </a:xfrm>
          <a:prstGeom prst="rect">
            <a:avLst/>
          </a:prstGeom>
          <a:noFill/>
        </p:spPr>
        <p:txBody>
          <a:bodyPr wrap="square">
            <a:spAutoFit/>
          </a:bodyPr>
          <a:lstStyle/>
          <a:p>
            <a:pPr marL="0" indent="0" algn="l">
              <a:lnSpc>
                <a:spcPct val="104000"/>
              </a:lnSpc>
              <a:buNone/>
            </a:pPr>
            <a:r>
              <a:rPr lang="en-US" sz="1300" dirty="0">
                <a:solidFill>
                  <a:srgbClr val="3A3630"/>
                </a:solidFill>
                <a:latin typeface="Lora" pitchFamily="34" charset="0"/>
                <a:ea typeface="Lora" pitchFamily="34" charset="-122"/>
                <a:cs typeface="Lora" pitchFamily="34" charset="-120"/>
              </a:rPr>
              <a:t>Faculty Resources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77894" y="707707"/>
            <a:ext cx="10795524" cy="256679"/>
          </a:xfrm>
          <a:prstGeom prst="rect">
            <a:avLst/>
          </a:prstGeom>
          <a:noFill/>
          <a:ln/>
        </p:spPr>
        <p:txBody>
          <a:bodyPr wrap="none" lIns="0" tIns="0" rIns="0" bIns="0" rtlCol="0" anchor="t"/>
          <a:lstStyle/>
          <a:p>
            <a:pPr marL="0" indent="0" algn="l">
              <a:lnSpc>
                <a:spcPct val="104000"/>
              </a:lnSpc>
              <a:buNone/>
            </a:pPr>
            <a:r>
              <a:rPr lang="en-US" sz="1600" dirty="0">
                <a:solidFill>
                  <a:srgbClr val="38512F"/>
                </a:solidFill>
                <a:latin typeface="Lora" pitchFamily="34" charset="0"/>
                <a:ea typeface="Lora" pitchFamily="34" charset="-122"/>
                <a:cs typeface="Lora" pitchFamily="34" charset="-120"/>
              </a:rPr>
              <a:t>A department-specific AI knowledge and search platform</a:t>
            </a:r>
            <a:endParaRPr lang="en-US" sz="1600" dirty="0"/>
          </a:p>
        </p:txBody>
      </p:sp>
      <p:sp>
        <p:nvSpPr>
          <p:cNvPr id="3" name="Text 1"/>
          <p:cNvSpPr/>
          <p:nvPr/>
        </p:nvSpPr>
        <p:spPr>
          <a:xfrm>
            <a:off x="698086" y="1267623"/>
            <a:ext cx="11405108" cy="104775"/>
          </a:xfrm>
          <a:prstGeom prst="rect">
            <a:avLst/>
          </a:prstGeom>
          <a:noFill/>
          <a:ln/>
        </p:spPr>
        <p:txBody>
          <a:bodyPr wrap="none" lIns="0" tIns="0" rIns="0" bIns="0" rtlCol="0" anchor="t"/>
          <a:lstStyle/>
          <a:p>
            <a:pPr marL="0" indent="0" algn="l">
              <a:lnSpc>
                <a:spcPct val="100000"/>
              </a:lnSpc>
              <a:buNone/>
            </a:pPr>
            <a:r>
              <a:rPr lang="en-US" sz="1100" dirty="0">
                <a:solidFill>
                  <a:srgbClr val="3A3630"/>
                </a:solidFill>
                <a:latin typeface="Source Sans 3" pitchFamily="34" charset="0"/>
                <a:ea typeface="Source Sans 3" pitchFamily="34" charset="-122"/>
                <a:cs typeface="Source Sans 3" pitchFamily="34" charset="-120"/>
              </a:rPr>
              <a:t>An </a:t>
            </a:r>
            <a:r>
              <a:rPr lang="en-US" sz="1100" b="1" dirty="0">
                <a:solidFill>
                  <a:srgbClr val="3A3630"/>
                </a:solidFill>
                <a:latin typeface="Source Sans 3 Bold" pitchFamily="34" charset="0"/>
                <a:ea typeface="Source Sans 3 Bold" pitchFamily="34" charset="-122"/>
                <a:cs typeface="Source Sans 3 Bold" pitchFamily="34" charset="-120"/>
              </a:rPr>
              <a:t>AI-powered knowledge and search platform</a:t>
            </a:r>
            <a:r>
              <a:rPr lang="en-US" sz="1100" dirty="0">
                <a:solidFill>
                  <a:srgbClr val="3A3630"/>
                </a:solidFill>
                <a:latin typeface="Source Sans 3" pitchFamily="34" charset="0"/>
                <a:ea typeface="Source Sans 3" pitchFamily="34" charset="-122"/>
                <a:cs typeface="Source Sans 3" pitchFamily="34" charset="-120"/>
              </a:rPr>
              <a:t> built initially for the </a:t>
            </a:r>
            <a:r>
              <a:rPr lang="en-US" sz="1100" b="1" dirty="0">
                <a:solidFill>
                  <a:srgbClr val="3A3630"/>
                </a:solidFill>
                <a:latin typeface="Source Sans 3 Bold" pitchFamily="34" charset="0"/>
                <a:ea typeface="Source Sans 3 Bold" pitchFamily="34" charset="-122"/>
                <a:cs typeface="Source Sans 3 Bold" pitchFamily="34" charset="-120"/>
              </a:rPr>
              <a:t>Technical Training Department</a:t>
            </a:r>
            <a:r>
              <a:rPr lang="en-US" sz="1100" dirty="0">
                <a:solidFill>
                  <a:srgbClr val="3A3630"/>
                </a:solidFill>
                <a:latin typeface="Source Sans 3" pitchFamily="34" charset="0"/>
                <a:ea typeface="Source Sans 3" pitchFamily="34" charset="-122"/>
                <a:cs typeface="Source Sans 3" pitchFamily="34" charset="-120"/>
              </a:rPr>
              <a:t> only, so the MVP can be properly validated before expanding to other departments later.</a:t>
            </a:r>
            <a:endParaRPr lang="en-US" sz="1100" dirty="0"/>
          </a:p>
        </p:txBody>
      </p:sp>
      <p:pic>
        <p:nvPicPr>
          <p:cNvPr id="4" name="Image 0" descr="preencoded.png"/>
          <p:cNvPicPr>
            <a:picLocks noChangeAspect="1"/>
          </p:cNvPicPr>
          <p:nvPr/>
        </p:nvPicPr>
        <p:blipFill>
          <a:blip r:embed="rId3"/>
          <a:stretch>
            <a:fillRect/>
          </a:stretch>
        </p:blipFill>
        <p:spPr>
          <a:xfrm>
            <a:off x="1095149" y="977602"/>
            <a:ext cx="10001397" cy="6100862"/>
          </a:xfrm>
          <a:prstGeom prst="rect">
            <a:avLst/>
          </a:prstGeom>
        </p:spPr>
      </p:pic>
      <p:sp>
        <p:nvSpPr>
          <p:cNvPr id="5" name="Text 2"/>
          <p:cNvSpPr/>
          <p:nvPr/>
        </p:nvSpPr>
        <p:spPr>
          <a:xfrm>
            <a:off x="1335966" y="2188364"/>
            <a:ext cx="2279356" cy="285580"/>
          </a:xfrm>
          <a:prstGeom prst="rect">
            <a:avLst/>
          </a:prstGeom>
          <a:noFill/>
          <a:ln/>
        </p:spPr>
        <p:txBody>
          <a:bodyPr wrap="none" lIns="0" tIns="0" rIns="0" bIns="0" rtlCol="0" anchor="t"/>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Student</a:t>
            </a:r>
            <a:endParaRPr lang="en-US" sz="1800" dirty="0"/>
          </a:p>
        </p:txBody>
      </p:sp>
      <p:sp>
        <p:nvSpPr>
          <p:cNvPr id="6" name="Text 3"/>
          <p:cNvSpPr/>
          <p:nvPr/>
        </p:nvSpPr>
        <p:spPr>
          <a:xfrm>
            <a:off x="2932510" y="4874977"/>
            <a:ext cx="2279356" cy="571160"/>
          </a:xfrm>
          <a:prstGeom prst="rect">
            <a:avLst/>
          </a:prstGeom>
          <a:noFill/>
          <a:ln/>
        </p:spPr>
        <p:txBody>
          <a:bodyPr wrap="square" lIns="0" tIns="0" rIns="0" bIns="0" rtlCol="0" anchor="t">
            <a:normAutofit/>
          </a:bodyPr>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Natural Language Query</a:t>
            </a:r>
            <a:endParaRPr lang="en-US" sz="1800" dirty="0"/>
          </a:p>
        </p:txBody>
      </p:sp>
      <p:sp>
        <p:nvSpPr>
          <p:cNvPr id="7" name="Text 4"/>
          <p:cNvSpPr/>
          <p:nvPr/>
        </p:nvSpPr>
        <p:spPr>
          <a:xfrm>
            <a:off x="4908581" y="2479342"/>
            <a:ext cx="2285935" cy="285580"/>
          </a:xfrm>
          <a:prstGeom prst="rect">
            <a:avLst/>
          </a:prstGeom>
          <a:noFill/>
          <a:ln/>
        </p:spPr>
        <p:txBody>
          <a:bodyPr wrap="none" lIns="0" tIns="0" rIns="0" bIns="0" rtlCol="0" anchor="t"/>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AI Search &amp; Retrieval</a:t>
            </a:r>
            <a:endParaRPr lang="en-US" sz="1800" dirty="0"/>
          </a:p>
        </p:txBody>
      </p:sp>
      <p:sp>
        <p:nvSpPr>
          <p:cNvPr id="8" name="Text 5"/>
          <p:cNvSpPr/>
          <p:nvPr/>
        </p:nvSpPr>
        <p:spPr>
          <a:xfrm>
            <a:off x="6454859" y="5581928"/>
            <a:ext cx="2279356" cy="571160"/>
          </a:xfrm>
          <a:prstGeom prst="rect">
            <a:avLst/>
          </a:prstGeom>
          <a:noFill/>
          <a:ln/>
        </p:spPr>
        <p:txBody>
          <a:bodyPr wrap="square" lIns="0" tIns="0" rIns="0" bIns="0" rtlCol="0" anchor="t">
            <a:normAutofit/>
          </a:bodyPr>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Relevant Department Information</a:t>
            </a:r>
            <a:endParaRPr lang="en-US" sz="1800" dirty="0"/>
          </a:p>
        </p:txBody>
      </p:sp>
      <p:sp>
        <p:nvSpPr>
          <p:cNvPr id="9" name="Text 6"/>
          <p:cNvSpPr/>
          <p:nvPr/>
        </p:nvSpPr>
        <p:spPr>
          <a:xfrm>
            <a:off x="8477992" y="3114771"/>
            <a:ext cx="2279355" cy="285580"/>
          </a:xfrm>
          <a:prstGeom prst="rect">
            <a:avLst/>
          </a:prstGeom>
          <a:noFill/>
          <a:ln/>
        </p:spPr>
        <p:txBody>
          <a:bodyPr wrap="none" lIns="0" tIns="0" rIns="0" bIns="0" rtlCol="0" anchor="t"/>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RAG</a:t>
            </a:r>
            <a:endParaRPr lang="en-US" sz="1800" dirty="0"/>
          </a:p>
        </p:txBody>
      </p:sp>
      <p:sp>
        <p:nvSpPr>
          <p:cNvPr id="10" name="Text 7"/>
          <p:cNvSpPr/>
          <p:nvPr/>
        </p:nvSpPr>
        <p:spPr>
          <a:xfrm>
            <a:off x="698086" y="7171035"/>
            <a:ext cx="5071043" cy="128290"/>
          </a:xfrm>
          <a:prstGeom prst="rect">
            <a:avLst/>
          </a:prstGeom>
          <a:noFill/>
          <a:ln/>
        </p:spPr>
        <p:txBody>
          <a:bodyPr wrap="none" lIns="0" tIns="0" rIns="0" bIns="0" rtlCol="0" anchor="t"/>
          <a:lstStyle/>
          <a:p>
            <a:pPr marL="0" indent="0" algn="l">
              <a:lnSpc>
                <a:spcPct val="104000"/>
              </a:lnSpc>
              <a:buNone/>
            </a:pPr>
            <a:r>
              <a:rPr lang="en-US" sz="800" dirty="0">
                <a:solidFill>
                  <a:srgbClr val="38512F"/>
                </a:solidFill>
                <a:latin typeface="Lora" pitchFamily="34" charset="0"/>
                <a:ea typeface="Lora" pitchFamily="34" charset="-122"/>
                <a:cs typeface="Lora" pitchFamily="34" charset="-120"/>
              </a:rPr>
              <a:t>Core capabilities</a:t>
            </a:r>
            <a:endParaRPr lang="en-US" sz="8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7348339"/>
            <a:ext cx="2513743" cy="476448"/>
          </a:xfrm>
          <a:prstGeom prst="rect">
            <a:avLst/>
          </a:prstGeom>
        </p:spPr>
      </p:pic>
      <p:sp>
        <p:nvSpPr>
          <p:cNvPr id="12" name="Text 8"/>
          <p:cNvSpPr/>
          <p:nvPr/>
        </p:nvSpPr>
        <p:spPr>
          <a:xfrm>
            <a:off x="848795" y="7448252"/>
            <a:ext cx="226312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Natural-language search</a:t>
            </a:r>
            <a:endParaRPr lang="en-US" sz="800" dirty="0"/>
          </a:p>
        </p:txBody>
      </p:sp>
      <p:sp>
        <p:nvSpPr>
          <p:cNvPr id="13" name="Text 9"/>
          <p:cNvSpPr/>
          <p:nvPr/>
        </p:nvSpPr>
        <p:spPr>
          <a:xfrm>
            <a:off x="848795" y="7620099"/>
            <a:ext cx="2263123"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Students ask questions in plain language.</a:t>
            </a:r>
            <a:endParaRPr lang="en-US" sz="65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5385" y="7348339"/>
            <a:ext cx="2513743" cy="476448"/>
          </a:xfrm>
          <a:prstGeom prst="rect">
            <a:avLst/>
          </a:prstGeom>
        </p:spPr>
      </p:pic>
      <p:sp>
        <p:nvSpPr>
          <p:cNvPr id="15" name="Text 10"/>
          <p:cNvSpPr/>
          <p:nvPr/>
        </p:nvSpPr>
        <p:spPr>
          <a:xfrm>
            <a:off x="3406094" y="7448252"/>
            <a:ext cx="226312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Semantic search</a:t>
            </a:r>
            <a:endParaRPr lang="en-US" sz="800" dirty="0"/>
          </a:p>
        </p:txBody>
      </p:sp>
      <p:sp>
        <p:nvSpPr>
          <p:cNvPr id="16" name="Text 11"/>
          <p:cNvSpPr/>
          <p:nvPr/>
        </p:nvSpPr>
        <p:spPr>
          <a:xfrm>
            <a:off x="3406094" y="7620099"/>
            <a:ext cx="2263123"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Finds content by meaning, not just keywords.</a:t>
            </a:r>
            <a:endParaRPr lang="en-US" sz="65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7868345"/>
            <a:ext cx="2513743" cy="476448"/>
          </a:xfrm>
          <a:prstGeom prst="rect">
            <a:avLst/>
          </a:prstGeom>
        </p:spPr>
      </p:pic>
      <p:sp>
        <p:nvSpPr>
          <p:cNvPr id="18" name="Text 12"/>
          <p:cNvSpPr/>
          <p:nvPr/>
        </p:nvSpPr>
        <p:spPr>
          <a:xfrm>
            <a:off x="848795" y="7968258"/>
            <a:ext cx="226312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AI-powered Q&amp;A</a:t>
            </a:r>
            <a:endParaRPr lang="en-US" sz="800" dirty="0"/>
          </a:p>
        </p:txBody>
      </p:sp>
      <p:sp>
        <p:nvSpPr>
          <p:cNvPr id="19" name="Text 13"/>
          <p:cNvSpPr/>
          <p:nvPr/>
        </p:nvSpPr>
        <p:spPr>
          <a:xfrm>
            <a:off x="848795" y="8140105"/>
            <a:ext cx="2263123"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Returns direct answers to student questions.</a:t>
            </a:r>
            <a:endParaRPr lang="en-US" sz="65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5385" y="7868345"/>
            <a:ext cx="2513743" cy="476448"/>
          </a:xfrm>
          <a:prstGeom prst="rect">
            <a:avLst/>
          </a:prstGeom>
        </p:spPr>
      </p:pic>
      <p:sp>
        <p:nvSpPr>
          <p:cNvPr id="21" name="Text 14"/>
          <p:cNvSpPr/>
          <p:nvPr/>
        </p:nvSpPr>
        <p:spPr>
          <a:xfrm>
            <a:off x="3406094" y="7968258"/>
            <a:ext cx="226312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Retrieval of relevant departmental resources</a:t>
            </a:r>
            <a:endParaRPr lang="en-US" sz="800" dirty="0"/>
          </a:p>
        </p:txBody>
      </p:sp>
      <p:sp>
        <p:nvSpPr>
          <p:cNvPr id="22" name="Text 15"/>
          <p:cNvSpPr/>
          <p:nvPr/>
        </p:nvSpPr>
        <p:spPr>
          <a:xfrm>
            <a:off x="3406094" y="8140105"/>
            <a:ext cx="2263123"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Searches across department files and content.</a:t>
            </a:r>
            <a:endParaRPr lang="en-US" sz="650" dirty="0"/>
          </a:p>
        </p:txBody>
      </p:sp>
      <p:pic>
        <p:nvPicPr>
          <p:cNvPr id="23"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8388350"/>
            <a:ext cx="2513743" cy="476448"/>
          </a:xfrm>
          <a:prstGeom prst="rect">
            <a:avLst/>
          </a:prstGeom>
        </p:spPr>
      </p:pic>
      <p:sp>
        <p:nvSpPr>
          <p:cNvPr id="24" name="Text 16"/>
          <p:cNvSpPr/>
          <p:nvPr/>
        </p:nvSpPr>
        <p:spPr>
          <a:xfrm>
            <a:off x="848795" y="8488263"/>
            <a:ext cx="226312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Source-backed answers</a:t>
            </a:r>
            <a:endParaRPr lang="en-US" sz="800" dirty="0"/>
          </a:p>
        </p:txBody>
      </p:sp>
      <p:sp>
        <p:nvSpPr>
          <p:cNvPr id="25" name="Text 17"/>
          <p:cNvSpPr/>
          <p:nvPr/>
        </p:nvSpPr>
        <p:spPr>
          <a:xfrm>
            <a:off x="848795" y="8660110"/>
            <a:ext cx="2263123"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Every response includes references and citations.</a:t>
            </a:r>
            <a:endParaRPr lang="en-US" sz="650" dirty="0"/>
          </a:p>
        </p:txBody>
      </p:sp>
      <p:pic>
        <p:nvPicPr>
          <p:cNvPr id="26"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5385" y="8388350"/>
            <a:ext cx="2513743" cy="476448"/>
          </a:xfrm>
          <a:prstGeom prst="rect">
            <a:avLst/>
          </a:prstGeom>
        </p:spPr>
      </p:pic>
      <p:sp>
        <p:nvSpPr>
          <p:cNvPr id="27" name="Text 18"/>
          <p:cNvSpPr/>
          <p:nvPr/>
        </p:nvSpPr>
        <p:spPr>
          <a:xfrm>
            <a:off x="3406094" y="8488263"/>
            <a:ext cx="226312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Related resource discovery</a:t>
            </a:r>
            <a:endParaRPr lang="en-US" sz="800" dirty="0"/>
          </a:p>
        </p:txBody>
      </p:sp>
      <p:sp>
        <p:nvSpPr>
          <p:cNvPr id="28" name="Text 19"/>
          <p:cNvSpPr/>
          <p:nvPr/>
        </p:nvSpPr>
        <p:spPr>
          <a:xfrm>
            <a:off x="3406094" y="8660110"/>
            <a:ext cx="2263123"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Surfaces connected materials the student may also need.</a:t>
            </a:r>
            <a:endParaRPr lang="en-US" sz="650" dirty="0"/>
          </a:p>
        </p:txBody>
      </p:sp>
      <p:pic>
        <p:nvPicPr>
          <p:cNvPr id="29"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8908355"/>
            <a:ext cx="2513743" cy="476448"/>
          </a:xfrm>
          <a:prstGeom prst="rect">
            <a:avLst/>
          </a:prstGeom>
        </p:spPr>
      </p:pic>
      <p:sp>
        <p:nvSpPr>
          <p:cNvPr id="30" name="Text 20"/>
          <p:cNvSpPr/>
          <p:nvPr/>
        </p:nvSpPr>
        <p:spPr>
          <a:xfrm>
            <a:off x="848795" y="9008269"/>
            <a:ext cx="226312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Metadata-aware retrieval</a:t>
            </a:r>
            <a:endParaRPr lang="en-US" sz="800" dirty="0"/>
          </a:p>
        </p:txBody>
      </p:sp>
      <p:sp>
        <p:nvSpPr>
          <p:cNvPr id="31" name="Text 21"/>
          <p:cNvSpPr/>
          <p:nvPr/>
        </p:nvSpPr>
        <p:spPr>
          <a:xfrm>
            <a:off x="848795" y="9180116"/>
            <a:ext cx="2263123"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Uses tags and context to improve relevance.</a:t>
            </a:r>
            <a:endParaRPr lang="en-US" sz="650" dirty="0"/>
          </a:p>
        </p:txBody>
      </p:sp>
      <p:sp>
        <p:nvSpPr>
          <p:cNvPr id="32" name="Text 22"/>
          <p:cNvSpPr/>
          <p:nvPr/>
        </p:nvSpPr>
        <p:spPr>
          <a:xfrm>
            <a:off x="5988396" y="7171035"/>
            <a:ext cx="5511464" cy="128290"/>
          </a:xfrm>
          <a:prstGeom prst="rect">
            <a:avLst/>
          </a:prstGeom>
          <a:noFill/>
          <a:ln/>
        </p:spPr>
        <p:txBody>
          <a:bodyPr wrap="none" lIns="0" tIns="0" rIns="0" bIns="0" rtlCol="0" anchor="t"/>
          <a:lstStyle/>
          <a:p>
            <a:pPr marL="0" indent="0" algn="l">
              <a:lnSpc>
                <a:spcPct val="104000"/>
              </a:lnSpc>
              <a:buNone/>
            </a:pPr>
            <a:r>
              <a:rPr lang="en-US" sz="800" dirty="0">
                <a:solidFill>
                  <a:srgbClr val="38512F"/>
                </a:solidFill>
                <a:latin typeface="Lora" pitchFamily="34" charset="0"/>
                <a:ea typeface="Lora" pitchFamily="34" charset="-122"/>
                <a:cs typeface="Lora" pitchFamily="34" charset="-120"/>
              </a:rPr>
              <a:t>How it scales</a:t>
            </a:r>
            <a:endParaRPr lang="en-US" sz="800" dirty="0"/>
          </a:p>
        </p:txBody>
      </p:sp>
      <p:sp>
        <p:nvSpPr>
          <p:cNvPr id="33" name="Text 23"/>
          <p:cNvSpPr/>
          <p:nvPr/>
        </p:nvSpPr>
        <p:spPr>
          <a:xfrm>
            <a:off x="5988396" y="7348339"/>
            <a:ext cx="174521" cy="109041"/>
          </a:xfrm>
          <a:prstGeom prst="rect">
            <a:avLst/>
          </a:prstGeom>
          <a:noFill/>
          <a:ln/>
        </p:spPr>
        <p:txBody>
          <a:bodyPr wrap="none" lIns="0" tIns="0" rIns="0" bIns="0" rtlCol="0" anchor="ctr"/>
          <a:lstStyle/>
          <a:p>
            <a:pPr marL="0" indent="0" algn="l">
              <a:lnSpc>
                <a:spcPct val="100000"/>
              </a:lnSpc>
              <a:buNone/>
            </a:pPr>
            <a:r>
              <a:rPr lang="en-US" sz="650" dirty="0">
                <a:solidFill>
                  <a:srgbClr val="3A3630"/>
                </a:solidFill>
                <a:latin typeface="Lora" pitchFamily="34" charset="0"/>
                <a:ea typeface="Lora" pitchFamily="34" charset="-122"/>
                <a:cs typeface="Lora" pitchFamily="34" charset="-120"/>
              </a:rPr>
              <a:t>01</a:t>
            </a:r>
            <a:endParaRPr lang="en-US" sz="650" dirty="0"/>
          </a:p>
        </p:txBody>
      </p:sp>
      <p:sp>
        <p:nvSpPr>
          <p:cNvPr id="34" name="Shape 24"/>
          <p:cNvSpPr/>
          <p:nvPr/>
        </p:nvSpPr>
        <p:spPr>
          <a:xfrm>
            <a:off x="5988396" y="7483773"/>
            <a:ext cx="5511464" cy="12700"/>
          </a:xfrm>
          <a:prstGeom prst="rect">
            <a:avLst/>
          </a:prstGeom>
          <a:solidFill>
            <a:srgbClr val="38512F"/>
          </a:solidFill>
          <a:ln/>
        </p:spPr>
      </p:sp>
      <p:sp>
        <p:nvSpPr>
          <p:cNvPr id="35" name="Text 25"/>
          <p:cNvSpPr/>
          <p:nvPr/>
        </p:nvSpPr>
        <p:spPr>
          <a:xfrm>
            <a:off x="5988396" y="7552730"/>
            <a:ext cx="551146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Technical Training Department</a:t>
            </a:r>
            <a:endParaRPr lang="en-US" sz="800" dirty="0"/>
          </a:p>
        </p:txBody>
      </p:sp>
      <p:sp>
        <p:nvSpPr>
          <p:cNvPr id="36" name="Text 26"/>
          <p:cNvSpPr/>
          <p:nvPr/>
        </p:nvSpPr>
        <p:spPr>
          <a:xfrm>
            <a:off x="5988396" y="7724577"/>
            <a:ext cx="5511464"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Start with one department to keep scope focused.</a:t>
            </a:r>
            <a:endParaRPr lang="en-US" sz="650" dirty="0"/>
          </a:p>
        </p:txBody>
      </p:sp>
      <p:sp>
        <p:nvSpPr>
          <p:cNvPr id="37" name="Text 27"/>
          <p:cNvSpPr/>
          <p:nvPr/>
        </p:nvSpPr>
        <p:spPr>
          <a:xfrm>
            <a:off x="5988396" y="7938294"/>
            <a:ext cx="174521" cy="109041"/>
          </a:xfrm>
          <a:prstGeom prst="rect">
            <a:avLst/>
          </a:prstGeom>
          <a:noFill/>
          <a:ln/>
        </p:spPr>
        <p:txBody>
          <a:bodyPr wrap="none" lIns="0" tIns="0" rIns="0" bIns="0" rtlCol="0" anchor="ctr"/>
          <a:lstStyle/>
          <a:p>
            <a:pPr marL="0" indent="0" algn="l">
              <a:lnSpc>
                <a:spcPct val="100000"/>
              </a:lnSpc>
              <a:buNone/>
            </a:pPr>
            <a:r>
              <a:rPr lang="en-US" sz="650" dirty="0">
                <a:solidFill>
                  <a:srgbClr val="3A3630"/>
                </a:solidFill>
                <a:latin typeface="Lora" pitchFamily="34" charset="0"/>
                <a:ea typeface="Lora" pitchFamily="34" charset="-122"/>
                <a:cs typeface="Lora" pitchFamily="34" charset="-120"/>
              </a:rPr>
              <a:t>02</a:t>
            </a:r>
            <a:endParaRPr lang="en-US" sz="650" dirty="0"/>
          </a:p>
        </p:txBody>
      </p:sp>
      <p:sp>
        <p:nvSpPr>
          <p:cNvPr id="38" name="Shape 28"/>
          <p:cNvSpPr/>
          <p:nvPr/>
        </p:nvSpPr>
        <p:spPr>
          <a:xfrm>
            <a:off x="5988396" y="8073727"/>
            <a:ext cx="5511464" cy="12700"/>
          </a:xfrm>
          <a:prstGeom prst="rect">
            <a:avLst/>
          </a:prstGeom>
          <a:solidFill>
            <a:srgbClr val="38512F"/>
          </a:solidFill>
          <a:ln/>
        </p:spPr>
      </p:sp>
      <p:sp>
        <p:nvSpPr>
          <p:cNvPr id="39" name="Text 29"/>
          <p:cNvSpPr/>
          <p:nvPr/>
        </p:nvSpPr>
        <p:spPr>
          <a:xfrm>
            <a:off x="5988396" y="8142684"/>
            <a:ext cx="551146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Validate MVP</a:t>
            </a:r>
            <a:endParaRPr lang="en-US" sz="800" dirty="0"/>
          </a:p>
        </p:txBody>
      </p:sp>
      <p:sp>
        <p:nvSpPr>
          <p:cNvPr id="40" name="Text 30"/>
          <p:cNvSpPr/>
          <p:nvPr/>
        </p:nvSpPr>
        <p:spPr>
          <a:xfrm>
            <a:off x="5988396" y="8314531"/>
            <a:ext cx="5511464"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Test search quality, usefulness, and source accuracy.</a:t>
            </a:r>
            <a:endParaRPr lang="en-US" sz="650" dirty="0"/>
          </a:p>
        </p:txBody>
      </p:sp>
      <p:sp>
        <p:nvSpPr>
          <p:cNvPr id="41" name="Text 31"/>
          <p:cNvSpPr/>
          <p:nvPr/>
        </p:nvSpPr>
        <p:spPr>
          <a:xfrm>
            <a:off x="5988396" y="8528248"/>
            <a:ext cx="174521" cy="109041"/>
          </a:xfrm>
          <a:prstGeom prst="rect">
            <a:avLst/>
          </a:prstGeom>
          <a:noFill/>
          <a:ln/>
        </p:spPr>
        <p:txBody>
          <a:bodyPr wrap="none" lIns="0" tIns="0" rIns="0" bIns="0" rtlCol="0" anchor="ctr"/>
          <a:lstStyle/>
          <a:p>
            <a:pPr marL="0" indent="0" algn="l">
              <a:lnSpc>
                <a:spcPct val="100000"/>
              </a:lnSpc>
              <a:buNone/>
            </a:pPr>
            <a:r>
              <a:rPr lang="en-US" sz="650" dirty="0">
                <a:solidFill>
                  <a:srgbClr val="3A3630"/>
                </a:solidFill>
                <a:latin typeface="Lora" pitchFamily="34" charset="0"/>
                <a:ea typeface="Lora" pitchFamily="34" charset="-122"/>
                <a:cs typeface="Lora" pitchFamily="34" charset="-120"/>
              </a:rPr>
              <a:t>03</a:t>
            </a:r>
            <a:endParaRPr lang="en-US" sz="650" dirty="0"/>
          </a:p>
        </p:txBody>
      </p:sp>
      <p:sp>
        <p:nvSpPr>
          <p:cNvPr id="42" name="Shape 32"/>
          <p:cNvSpPr/>
          <p:nvPr/>
        </p:nvSpPr>
        <p:spPr>
          <a:xfrm>
            <a:off x="5988396" y="8663682"/>
            <a:ext cx="5511464" cy="12700"/>
          </a:xfrm>
          <a:prstGeom prst="rect">
            <a:avLst/>
          </a:prstGeom>
          <a:solidFill>
            <a:srgbClr val="38512F"/>
          </a:solidFill>
          <a:ln/>
        </p:spPr>
      </p:sp>
      <p:sp>
        <p:nvSpPr>
          <p:cNvPr id="43" name="Text 33"/>
          <p:cNvSpPr/>
          <p:nvPr/>
        </p:nvSpPr>
        <p:spPr>
          <a:xfrm>
            <a:off x="5988396" y="8732639"/>
            <a:ext cx="551146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Add other departments later</a:t>
            </a:r>
            <a:endParaRPr lang="en-US" sz="800" dirty="0"/>
          </a:p>
        </p:txBody>
      </p:sp>
      <p:sp>
        <p:nvSpPr>
          <p:cNvPr id="44" name="Text 34"/>
          <p:cNvSpPr/>
          <p:nvPr/>
        </p:nvSpPr>
        <p:spPr>
          <a:xfrm>
            <a:off x="5988396" y="8904486"/>
            <a:ext cx="5511464"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Expand once the foundation is proven.</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479921"/>
            <a:ext cx="10795524" cy="256679"/>
          </a:xfrm>
          <a:prstGeom prst="rect">
            <a:avLst/>
          </a:prstGeom>
          <a:noFill/>
          <a:ln/>
        </p:spPr>
        <p:txBody>
          <a:bodyPr wrap="none" lIns="0" tIns="0" rIns="0" bIns="0" rtlCol="0" anchor="t"/>
          <a:lstStyle/>
          <a:p>
            <a:pPr marL="0" indent="0" algn="l">
              <a:lnSpc>
                <a:spcPct val="104000"/>
              </a:lnSpc>
              <a:buNone/>
            </a:pPr>
            <a:r>
              <a:rPr lang="en-US" sz="1600" dirty="0">
                <a:solidFill>
                  <a:srgbClr val="38512F"/>
                </a:solidFill>
                <a:latin typeface="Lora" pitchFamily="34" charset="0"/>
                <a:ea typeface="Lora" pitchFamily="34" charset="-122"/>
                <a:cs typeface="Lora" pitchFamily="34" charset="-120"/>
              </a:rPr>
              <a:t>How RAG Works in Our Project</a:t>
            </a:r>
            <a:endParaRPr lang="en-US" sz="1600" dirty="0"/>
          </a:p>
        </p:txBody>
      </p:sp>
      <p:sp>
        <p:nvSpPr>
          <p:cNvPr id="3" name="Text 1"/>
          <p:cNvSpPr/>
          <p:nvPr/>
        </p:nvSpPr>
        <p:spPr>
          <a:xfrm>
            <a:off x="698086" y="823813"/>
            <a:ext cx="11405108" cy="104775"/>
          </a:xfrm>
          <a:prstGeom prst="rect">
            <a:avLst/>
          </a:prstGeom>
          <a:noFill/>
          <a:ln/>
        </p:spPr>
        <p:txBody>
          <a:bodyPr wrap="none" lIns="0" tIns="0" rIns="0" bIns="0" rtlCol="0" anchor="t"/>
          <a:lstStyle/>
          <a:p>
            <a:pPr marL="0" indent="0" algn="l">
              <a:lnSpc>
                <a:spcPct val="100000"/>
              </a:lnSpc>
              <a:buNone/>
            </a:pPr>
            <a:r>
              <a:rPr lang="en-US" sz="650" b="1" dirty="0">
                <a:solidFill>
                  <a:srgbClr val="3A3630"/>
                </a:solidFill>
                <a:latin typeface="Source Sans 3 Bold" pitchFamily="34" charset="0"/>
                <a:ea typeface="Source Sans 3 Bold" pitchFamily="34" charset="-122"/>
                <a:cs typeface="Source Sans 3 Bold" pitchFamily="34" charset="-120"/>
              </a:rPr>
              <a:t>RAG</a:t>
            </a:r>
            <a:r>
              <a:rPr lang="en-US" sz="650" dirty="0">
                <a:solidFill>
                  <a:srgbClr val="3A3630"/>
                </a:solidFill>
                <a:latin typeface="Source Sans 3" pitchFamily="34" charset="0"/>
                <a:ea typeface="Source Sans 3" pitchFamily="34" charset="-122"/>
                <a:cs typeface="Source Sans 3" pitchFamily="34" charset="-120"/>
              </a:rPr>
              <a:t> means </a:t>
            </a:r>
            <a:r>
              <a:rPr lang="en-US" sz="650" b="1" dirty="0">
                <a:solidFill>
                  <a:srgbClr val="3A3630"/>
                </a:solidFill>
                <a:latin typeface="Source Sans 3 Bold" pitchFamily="34" charset="0"/>
                <a:ea typeface="Source Sans 3 Bold" pitchFamily="34" charset="-122"/>
                <a:cs typeface="Source Sans 3 Bold" pitchFamily="34" charset="-120"/>
              </a:rPr>
              <a:t>Retrieval-Augmented Generation</a:t>
            </a:r>
            <a:r>
              <a:rPr lang="en-US" sz="650" dirty="0">
                <a:solidFill>
                  <a:srgbClr val="3A3630"/>
                </a:solidFill>
                <a:latin typeface="Source Sans 3" pitchFamily="34" charset="0"/>
                <a:ea typeface="Source Sans 3" pitchFamily="34" charset="-122"/>
                <a:cs typeface="Source Sans 3" pitchFamily="34" charset="-120"/>
              </a:rPr>
              <a:t>. Instead of asking the LLM to answer from general </a:t>
            </a:r>
            <a:r>
              <a:rPr lang="en-US" sz="1400" dirty="0">
                <a:solidFill>
                  <a:srgbClr val="3A3630"/>
                </a:solidFill>
                <a:latin typeface="Source Sans 3" pitchFamily="34" charset="0"/>
                <a:ea typeface="Source Sans 3" pitchFamily="34" charset="-122"/>
                <a:cs typeface="Source Sans 3" pitchFamily="34" charset="-120"/>
              </a:rPr>
              <a:t>knowledge</a:t>
            </a:r>
            <a:r>
              <a:rPr lang="en-US" sz="650" dirty="0">
                <a:solidFill>
                  <a:srgbClr val="3A3630"/>
                </a:solidFill>
                <a:latin typeface="Source Sans 3" pitchFamily="34" charset="0"/>
                <a:ea typeface="Source Sans 3" pitchFamily="34" charset="-122"/>
                <a:cs typeface="Source Sans 3" pitchFamily="34" charset="-120"/>
              </a:rPr>
              <a:t> alone, the system first retrieves </a:t>
            </a:r>
            <a:r>
              <a:rPr lang="en-US" sz="650" b="1" dirty="0">
                <a:solidFill>
                  <a:srgbClr val="3A3630"/>
                </a:solidFill>
                <a:latin typeface="Source Sans 3 Bold" pitchFamily="34" charset="0"/>
                <a:ea typeface="Source Sans 3 Bold" pitchFamily="34" charset="-122"/>
                <a:cs typeface="Source Sans 3 Bold" pitchFamily="34" charset="-120"/>
              </a:rPr>
              <a:t>authorized departmental information</a:t>
            </a:r>
            <a:r>
              <a:rPr lang="en-US" sz="650" dirty="0">
                <a:solidFill>
                  <a:srgbClr val="3A3630"/>
                </a:solidFill>
                <a:latin typeface="Source Sans 3" pitchFamily="34" charset="0"/>
                <a:ea typeface="Source Sans 3" pitchFamily="34" charset="-122"/>
                <a:cs typeface="Source Sans 3" pitchFamily="34" charset="-120"/>
              </a:rPr>
              <a:t>, then uses that retrieved context to generate a grounded answer with sources.</a:t>
            </a:r>
            <a:endParaRPr lang="en-US" sz="650" dirty="0"/>
          </a:p>
        </p:txBody>
      </p:sp>
      <p:pic>
        <p:nvPicPr>
          <p:cNvPr id="4" name="Image 0" descr="preencoded.png"/>
          <p:cNvPicPr>
            <a:picLocks noChangeAspect="1"/>
          </p:cNvPicPr>
          <p:nvPr/>
        </p:nvPicPr>
        <p:blipFill>
          <a:blip r:embed="rId3"/>
          <a:stretch>
            <a:fillRect/>
          </a:stretch>
        </p:blipFill>
        <p:spPr>
          <a:xfrm>
            <a:off x="1728276" y="1015801"/>
            <a:ext cx="8340913" cy="5748139"/>
          </a:xfrm>
          <a:prstGeom prst="rect">
            <a:avLst/>
          </a:prstGeom>
        </p:spPr>
      </p:pic>
      <p:sp>
        <p:nvSpPr>
          <p:cNvPr id="5" name="Text 2"/>
          <p:cNvSpPr/>
          <p:nvPr/>
        </p:nvSpPr>
        <p:spPr>
          <a:xfrm>
            <a:off x="1728276" y="4253220"/>
            <a:ext cx="2279326" cy="285577"/>
          </a:xfrm>
          <a:prstGeom prst="rect">
            <a:avLst/>
          </a:prstGeom>
          <a:noFill/>
          <a:ln/>
        </p:spPr>
        <p:txBody>
          <a:bodyPr wrap="none" lIns="0" tIns="0" rIns="0" bIns="0" rtlCol="0" anchor="t"/>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Student Query</a:t>
            </a:r>
            <a:endParaRPr lang="en-US" sz="1800" dirty="0"/>
          </a:p>
        </p:txBody>
      </p:sp>
      <p:sp>
        <p:nvSpPr>
          <p:cNvPr id="6" name="Text 3"/>
          <p:cNvSpPr/>
          <p:nvPr/>
        </p:nvSpPr>
        <p:spPr>
          <a:xfrm>
            <a:off x="1868904" y="4685560"/>
            <a:ext cx="2279326" cy="546526"/>
          </a:xfrm>
          <a:prstGeom prst="rect">
            <a:avLst/>
          </a:prstGeom>
          <a:noFill/>
          <a:ln/>
        </p:spPr>
        <p:txBody>
          <a:bodyPr wrap="square" lIns="0" tIns="0" rIns="0" bIns="0" rtlCol="0" anchor="t">
            <a:normAutofit lnSpcReduction="10000"/>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For example: Where can I find resources for Recursion?</a:t>
            </a:r>
            <a:endParaRPr lang="en-US" sz="1500" dirty="0"/>
          </a:p>
        </p:txBody>
      </p:sp>
      <p:sp>
        <p:nvSpPr>
          <p:cNvPr id="7" name="Text 4"/>
          <p:cNvSpPr/>
          <p:nvPr/>
        </p:nvSpPr>
        <p:spPr>
          <a:xfrm>
            <a:off x="2410768" y="5489520"/>
            <a:ext cx="1822382" cy="634240"/>
          </a:xfrm>
          <a:prstGeom prst="rect">
            <a:avLst/>
          </a:prstGeom>
          <a:noFill/>
          <a:ln/>
        </p:spPr>
        <p:txBody>
          <a:bodyPr wrap="square" lIns="0" tIns="0" rIns="0" bIns="0" rtlCol="0" anchor="t">
            <a:normAutofit/>
          </a:bodyPr>
          <a:lstStyle/>
          <a:p>
            <a:pPr marL="0" indent="0" algn="ctr">
              <a:lnSpc>
                <a:spcPct val="78000"/>
              </a:lnSpc>
              <a:buNone/>
            </a:pPr>
            <a:endParaRPr lang="en-US" sz="1500" dirty="0"/>
          </a:p>
        </p:txBody>
      </p:sp>
      <p:sp>
        <p:nvSpPr>
          <p:cNvPr id="8" name="Text 5"/>
          <p:cNvSpPr/>
          <p:nvPr/>
        </p:nvSpPr>
        <p:spPr>
          <a:xfrm>
            <a:off x="4233150" y="1903364"/>
            <a:ext cx="2353376" cy="635142"/>
          </a:xfrm>
          <a:prstGeom prst="rect">
            <a:avLst/>
          </a:prstGeom>
          <a:noFill/>
          <a:ln/>
        </p:spPr>
        <p:txBody>
          <a:bodyPr wrap="square" lIns="0" tIns="0" rIns="0" bIns="0" rtlCol="0" anchor="t">
            <a:normAutofit fontScale="85000" lnSpcReduction="10000"/>
          </a:bodyPr>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Retrieve Relevant Department Information</a:t>
            </a:r>
            <a:endParaRPr lang="en-US" sz="1800" dirty="0"/>
          </a:p>
        </p:txBody>
      </p:sp>
      <p:sp>
        <p:nvSpPr>
          <p:cNvPr id="9" name="Text 6"/>
          <p:cNvSpPr/>
          <p:nvPr/>
        </p:nvSpPr>
        <p:spPr>
          <a:xfrm>
            <a:off x="4233150" y="2397347"/>
            <a:ext cx="2353376" cy="728701"/>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Search authorized PDFs, notes, notices, and faculty/training resources by meaning.</a:t>
            </a:r>
            <a:endParaRPr lang="en-US" sz="1500" dirty="0"/>
          </a:p>
        </p:txBody>
      </p:sp>
      <p:sp>
        <p:nvSpPr>
          <p:cNvPr id="10" name="Text 7"/>
          <p:cNvSpPr/>
          <p:nvPr/>
        </p:nvSpPr>
        <p:spPr>
          <a:xfrm>
            <a:off x="5068993" y="4790346"/>
            <a:ext cx="2279326" cy="571153"/>
          </a:xfrm>
          <a:prstGeom prst="rect">
            <a:avLst/>
          </a:prstGeom>
          <a:noFill/>
          <a:ln/>
        </p:spPr>
        <p:txBody>
          <a:bodyPr wrap="square" lIns="0" tIns="0" rIns="0" bIns="0" rtlCol="0" anchor="t">
            <a:normAutofit/>
          </a:bodyPr>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Provide Retrieved Context to the LLM</a:t>
            </a:r>
            <a:endParaRPr lang="en-US" sz="1800" dirty="0"/>
          </a:p>
        </p:txBody>
      </p:sp>
      <p:sp>
        <p:nvSpPr>
          <p:cNvPr id="11" name="Text 8"/>
          <p:cNvSpPr/>
          <p:nvPr/>
        </p:nvSpPr>
        <p:spPr>
          <a:xfrm>
            <a:off x="5266666" y="5442289"/>
            <a:ext cx="2279326" cy="728701"/>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The model receives the most relevant chunks and references — not just the raw question.</a:t>
            </a:r>
            <a:endParaRPr lang="en-US" sz="1500" dirty="0"/>
          </a:p>
        </p:txBody>
      </p:sp>
      <p:sp>
        <p:nvSpPr>
          <p:cNvPr id="12" name="Text 9"/>
          <p:cNvSpPr/>
          <p:nvPr/>
        </p:nvSpPr>
        <p:spPr>
          <a:xfrm>
            <a:off x="7736423" y="2050884"/>
            <a:ext cx="2279326" cy="571153"/>
          </a:xfrm>
          <a:prstGeom prst="rect">
            <a:avLst/>
          </a:prstGeom>
          <a:noFill/>
          <a:ln/>
        </p:spPr>
        <p:txBody>
          <a:bodyPr wrap="square" lIns="0" tIns="0" rIns="0" bIns="0" rtlCol="0" anchor="t">
            <a:normAutofit/>
          </a:bodyPr>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Grounded Answer + Source</a:t>
            </a:r>
            <a:endParaRPr lang="en-US" sz="1800" dirty="0"/>
          </a:p>
        </p:txBody>
      </p:sp>
      <p:sp>
        <p:nvSpPr>
          <p:cNvPr id="13" name="Text 10"/>
          <p:cNvSpPr/>
          <p:nvPr/>
        </p:nvSpPr>
        <p:spPr>
          <a:xfrm>
            <a:off x="7789863" y="2742994"/>
            <a:ext cx="2279326" cy="728701"/>
          </a:xfrm>
          <a:prstGeom prst="rect">
            <a:avLst/>
          </a:prstGeom>
          <a:noFill/>
          <a:ln/>
        </p:spPr>
        <p:txBody>
          <a:bodyPr wrap="square" lIns="0" tIns="0" rIns="0" bIns="0" rtlCol="0" anchor="t">
            <a:normAutofit/>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The LLM generates a response based on the retrieved material and shows the reference used.</a:t>
            </a:r>
            <a:endParaRPr lang="en-US" sz="1500" dirty="0"/>
          </a:p>
        </p:txBody>
      </p:sp>
      <p:sp>
        <p:nvSpPr>
          <p:cNvPr id="14" name="Text 11"/>
          <p:cNvSpPr/>
          <p:nvPr/>
        </p:nvSpPr>
        <p:spPr>
          <a:xfrm>
            <a:off x="196179" y="6638628"/>
            <a:ext cx="11405108" cy="104775"/>
          </a:xfrm>
          <a:prstGeom prst="rect">
            <a:avLst/>
          </a:prstGeom>
          <a:noFill/>
          <a:ln/>
        </p:spPr>
        <p:txBody>
          <a:bodyPr wrap="none" lIns="0" tIns="0" rIns="0" bIns="0" rtlCol="0" anchor="t"/>
          <a:lstStyle/>
          <a:p>
            <a:r>
              <a:rPr lang="en-US" sz="1200" b="1" dirty="0">
                <a:solidFill>
                  <a:srgbClr val="3A3630"/>
                </a:solidFill>
                <a:latin typeface="Source Sans 3 Bold" pitchFamily="34" charset="0"/>
                <a:ea typeface="Source Sans 3 Bold" pitchFamily="34" charset="-122"/>
                <a:cs typeface="Source Sans 3 Bold" pitchFamily="34" charset="-120"/>
              </a:rPr>
              <a:t>Not just a </a:t>
            </a:r>
            <a:r>
              <a:rPr lang="en-US" sz="1200" b="1" dirty="0" err="1">
                <a:solidFill>
                  <a:srgbClr val="3A3630"/>
                </a:solidFill>
                <a:latin typeface="Source Sans 3 Bold" pitchFamily="34" charset="0"/>
                <a:ea typeface="Source Sans 3 Bold" pitchFamily="34" charset="-122"/>
                <a:cs typeface="Source Sans 3 Bold" pitchFamily="34" charset="-120"/>
              </a:rPr>
              <a:t>chatbot</a:t>
            </a:r>
            <a:r>
              <a:rPr lang="en-US" sz="1200" dirty="0" err="1"/>
              <a:t>the</a:t>
            </a:r>
            <a:r>
              <a:rPr lang="en-US" sz="1200" dirty="0"/>
              <a:t> system is designed to ground answers in retrieved departmental sources and reduce unsupported responses.</a:t>
            </a:r>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6977559"/>
            <a:ext cx="2623873" cy="581223"/>
          </a:xfrm>
          <a:prstGeom prst="rect">
            <a:avLst/>
          </a:prstGeom>
        </p:spPr>
      </p:pic>
      <p:sp>
        <p:nvSpPr>
          <p:cNvPr id="16" name="Text 12"/>
          <p:cNvSpPr/>
          <p:nvPr/>
        </p:nvSpPr>
        <p:spPr>
          <a:xfrm>
            <a:off x="848795" y="7077472"/>
            <a:ext cx="237325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Competitive Programming / Recursion Example</a:t>
            </a:r>
            <a:endParaRPr lang="en-US" sz="800" dirty="0"/>
          </a:p>
        </p:txBody>
      </p:sp>
      <p:sp>
        <p:nvSpPr>
          <p:cNvPr id="17" name="Text 13"/>
          <p:cNvSpPr/>
          <p:nvPr/>
        </p:nvSpPr>
        <p:spPr>
          <a:xfrm>
            <a:off x="848795" y="7249319"/>
            <a:ext cx="2373253"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A student asks: </a:t>
            </a:r>
            <a:r>
              <a:rPr lang="en-US" sz="650" b="1" dirty="0">
                <a:solidFill>
                  <a:srgbClr val="3A3630"/>
                </a:solidFill>
                <a:latin typeface="Source Sans 3 Bold" pitchFamily="34" charset="0"/>
                <a:ea typeface="Source Sans 3 Bold" pitchFamily="34" charset="-122"/>
                <a:cs typeface="Source Sans 3 Bold" pitchFamily="34" charset="-120"/>
              </a:rPr>
              <a:t>“Where can I find resources for Recursion?”</a:t>
            </a:r>
            <a:endParaRPr lang="en-US" sz="65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65515" y="6977559"/>
            <a:ext cx="2623873" cy="581223"/>
          </a:xfrm>
          <a:prstGeom prst="rect">
            <a:avLst/>
          </a:prstGeom>
        </p:spPr>
      </p:pic>
      <p:sp>
        <p:nvSpPr>
          <p:cNvPr id="19" name="Text 14"/>
          <p:cNvSpPr/>
          <p:nvPr/>
        </p:nvSpPr>
        <p:spPr>
          <a:xfrm>
            <a:off x="3516225" y="7077472"/>
            <a:ext cx="237325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What RAG Returns</a:t>
            </a:r>
            <a:endParaRPr lang="en-US" sz="800" dirty="0"/>
          </a:p>
        </p:txBody>
      </p:sp>
      <p:sp>
        <p:nvSpPr>
          <p:cNvPr id="20" name="Text 15"/>
          <p:cNvSpPr/>
          <p:nvPr/>
        </p:nvSpPr>
        <p:spPr>
          <a:xfrm>
            <a:off x="3516225" y="7249319"/>
            <a:ext cx="2373253" cy="209550"/>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Relevant notes, PDFs, notices, and practice material are retrieved first, then the LLM writes a grounded answer using those sources.</a:t>
            </a:r>
            <a:endParaRPr lang="en-US" sz="650"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8656" y="6977559"/>
            <a:ext cx="2623873" cy="581223"/>
          </a:xfrm>
          <a:prstGeom prst="rect">
            <a:avLst/>
          </a:prstGeom>
        </p:spPr>
      </p:pic>
      <p:sp>
        <p:nvSpPr>
          <p:cNvPr id="22" name="Text 16"/>
          <p:cNvSpPr/>
          <p:nvPr/>
        </p:nvSpPr>
        <p:spPr>
          <a:xfrm>
            <a:off x="6359366" y="7077472"/>
            <a:ext cx="237325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Why This Matters</a:t>
            </a:r>
            <a:endParaRPr lang="en-US" sz="800" dirty="0"/>
          </a:p>
        </p:txBody>
      </p:sp>
      <p:sp>
        <p:nvSpPr>
          <p:cNvPr id="23" name="Text 17"/>
          <p:cNvSpPr/>
          <p:nvPr/>
        </p:nvSpPr>
        <p:spPr>
          <a:xfrm>
            <a:off x="6359366" y="7249319"/>
            <a:ext cx="2373253" cy="209550"/>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Students get answers that are specific to the Technical Training Department, accurate, and traceable to the source document.</a:t>
            </a:r>
            <a:endParaRPr lang="en-US" sz="650" dirty="0"/>
          </a:p>
        </p:txBody>
      </p:sp>
      <p:pic>
        <p:nvPicPr>
          <p:cNvPr id="24"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76086" y="6977559"/>
            <a:ext cx="2623873" cy="581223"/>
          </a:xfrm>
          <a:prstGeom prst="rect">
            <a:avLst/>
          </a:prstGeom>
        </p:spPr>
      </p:pic>
      <p:sp>
        <p:nvSpPr>
          <p:cNvPr id="25" name="Text 18"/>
          <p:cNvSpPr/>
          <p:nvPr/>
        </p:nvSpPr>
        <p:spPr>
          <a:xfrm>
            <a:off x="9026795" y="7077472"/>
            <a:ext cx="237325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Output</a:t>
            </a:r>
            <a:endParaRPr lang="en-US" sz="800" dirty="0"/>
          </a:p>
        </p:txBody>
      </p:sp>
      <p:sp>
        <p:nvSpPr>
          <p:cNvPr id="26" name="Text 19"/>
          <p:cNvSpPr/>
          <p:nvPr/>
        </p:nvSpPr>
        <p:spPr>
          <a:xfrm>
            <a:off x="9026795" y="7249319"/>
            <a:ext cx="2373253" cy="209550"/>
          </a:xfrm>
          <a:prstGeom prst="rect">
            <a:avLst/>
          </a:prstGeom>
          <a:noFill/>
          <a:ln/>
        </p:spPr>
        <p:txBody>
          <a:bodyPr wrap="square" lIns="0" tIns="0" rIns="0" bIns="0" rtlCol="0" anchor="t">
            <a:normAutofit/>
          </a:bodyPr>
          <a:lstStyle/>
          <a:p>
            <a:pPr marL="0" indent="0" algn="l">
              <a:lnSpc>
                <a:spcPct val="100000"/>
              </a:lnSpc>
              <a:buNone/>
            </a:pPr>
            <a:r>
              <a:rPr lang="en-US" sz="650" b="1" dirty="0">
                <a:solidFill>
                  <a:srgbClr val="3A3630"/>
                </a:solidFill>
                <a:latin typeface="Source Sans 3 Bold" pitchFamily="34" charset="0"/>
                <a:ea typeface="Source Sans 3 Bold" pitchFamily="34" charset="-122"/>
                <a:cs typeface="Source Sans 3 Bold" pitchFamily="34" charset="-120"/>
              </a:rPr>
              <a:t>Answer</a:t>
            </a:r>
            <a:r>
              <a:rPr lang="en-US" sz="650" dirty="0">
                <a:solidFill>
                  <a:srgbClr val="3A3630"/>
                </a:solidFill>
                <a:latin typeface="Source Sans 3" pitchFamily="34" charset="0"/>
                <a:ea typeface="Source Sans 3" pitchFamily="34" charset="-122"/>
                <a:cs typeface="Source Sans 3" pitchFamily="34" charset="-120"/>
              </a:rPr>
              <a:t> + </a:t>
            </a:r>
            <a:r>
              <a:rPr lang="en-US" sz="650" b="1" dirty="0">
                <a:solidFill>
                  <a:srgbClr val="3A3630"/>
                </a:solidFill>
                <a:latin typeface="Source Sans 3 Bold" pitchFamily="34" charset="0"/>
                <a:ea typeface="Source Sans 3 Bold" pitchFamily="34" charset="-122"/>
                <a:cs typeface="Source Sans 3 Bold" pitchFamily="34" charset="-120"/>
              </a:rPr>
              <a:t>reference</a:t>
            </a:r>
            <a:r>
              <a:rPr lang="en-US" sz="650" dirty="0">
                <a:solidFill>
                  <a:srgbClr val="3A3630"/>
                </a:solidFill>
                <a:latin typeface="Source Sans 3" pitchFamily="34" charset="0"/>
                <a:ea typeface="Source Sans 3" pitchFamily="34" charset="-122"/>
                <a:cs typeface="Source Sans 3" pitchFamily="34" charset="-120"/>
              </a:rPr>
              <a:t> so the student can trust where the information came from.</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86" y="479921"/>
            <a:ext cx="10795524" cy="256679"/>
          </a:xfrm>
          <a:prstGeom prst="rect">
            <a:avLst/>
          </a:prstGeom>
          <a:noFill/>
          <a:ln/>
        </p:spPr>
        <p:txBody>
          <a:bodyPr wrap="none" lIns="0" tIns="0" rIns="0" bIns="0" rtlCol="0" anchor="t"/>
          <a:lstStyle/>
          <a:p>
            <a:pPr marL="0" indent="0" algn="l">
              <a:lnSpc>
                <a:spcPct val="104000"/>
              </a:lnSpc>
              <a:buNone/>
            </a:pPr>
            <a:r>
              <a:rPr lang="en-US" sz="1600" dirty="0">
                <a:solidFill>
                  <a:srgbClr val="38512F"/>
                </a:solidFill>
                <a:latin typeface="Lora" pitchFamily="34" charset="0"/>
                <a:ea typeface="Lora" pitchFamily="34" charset="-122"/>
                <a:cs typeface="Lora" pitchFamily="34" charset="-120"/>
              </a:rPr>
              <a:t>Complete Data Ingestion Pipeline</a:t>
            </a:r>
            <a:endParaRPr lang="en-US" sz="1600" dirty="0"/>
          </a:p>
        </p:txBody>
      </p:sp>
      <p:sp>
        <p:nvSpPr>
          <p:cNvPr id="3" name="Text 1"/>
          <p:cNvSpPr/>
          <p:nvPr/>
        </p:nvSpPr>
        <p:spPr>
          <a:xfrm>
            <a:off x="698086" y="823813"/>
            <a:ext cx="11405108"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The ingestion pipeline transforms authorized departmental content into searchable vector embeddings. It follows a technically accurate sequence from source collection through retrieval-ready storage, with </a:t>
            </a:r>
            <a:r>
              <a:rPr lang="en-US" sz="650" b="1" dirty="0">
                <a:solidFill>
                  <a:srgbClr val="3A3630"/>
                </a:solidFill>
                <a:latin typeface="Source Sans 3 Bold" pitchFamily="34" charset="0"/>
                <a:ea typeface="Source Sans 3 Bold" pitchFamily="34" charset="-122"/>
                <a:cs typeface="Source Sans 3 Bold" pitchFamily="34" charset="-120"/>
              </a:rPr>
              <a:t>chunking</a:t>
            </a:r>
            <a:r>
              <a:rPr lang="en-US" sz="650" dirty="0">
                <a:solidFill>
                  <a:srgbClr val="3A3630"/>
                </a:solidFill>
                <a:latin typeface="Source Sans 3" pitchFamily="34" charset="0"/>
                <a:ea typeface="Source Sans 3" pitchFamily="34" charset="-122"/>
                <a:cs typeface="Source Sans 3" pitchFamily="34" charset="-120"/>
              </a:rPr>
              <a:t> creating smaller meaningful units that make retrieval more precise and efficient.</a:t>
            </a:r>
            <a:endParaRPr lang="en-US" sz="650" dirty="0"/>
          </a:p>
        </p:txBody>
      </p:sp>
      <p:pic>
        <p:nvPicPr>
          <p:cNvPr id="4" name="Image 0" descr="preencoded.png"/>
          <p:cNvPicPr>
            <a:picLocks noChangeAspect="1"/>
          </p:cNvPicPr>
          <p:nvPr/>
        </p:nvPicPr>
        <p:blipFill>
          <a:blip r:embed="rId3"/>
          <a:stretch>
            <a:fillRect/>
          </a:stretch>
        </p:blipFill>
        <p:spPr>
          <a:xfrm>
            <a:off x="1095149" y="1110220"/>
            <a:ext cx="10001397" cy="6100862"/>
          </a:xfrm>
          <a:prstGeom prst="rect">
            <a:avLst/>
          </a:prstGeom>
        </p:spPr>
      </p:pic>
      <p:sp>
        <p:nvSpPr>
          <p:cNvPr id="5" name="Text 2"/>
          <p:cNvSpPr/>
          <p:nvPr/>
        </p:nvSpPr>
        <p:spPr>
          <a:xfrm>
            <a:off x="1335966" y="1949214"/>
            <a:ext cx="2279355" cy="403635"/>
          </a:xfrm>
          <a:prstGeom prst="rect">
            <a:avLst/>
          </a:prstGeom>
          <a:noFill/>
          <a:ln/>
        </p:spPr>
        <p:txBody>
          <a:bodyPr wrap="square" lIns="0" tIns="0" rIns="0" bIns="0" rtlCol="0" anchor="t">
            <a:normAutofit fontScale="62500" lnSpcReduction="20000"/>
          </a:bodyPr>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AUTHORIZED DEPARTMENTAL RESOURCES</a:t>
            </a:r>
            <a:endParaRPr lang="en-US" sz="1800" dirty="0"/>
          </a:p>
        </p:txBody>
      </p:sp>
      <p:sp>
        <p:nvSpPr>
          <p:cNvPr id="6" name="Text 3"/>
          <p:cNvSpPr/>
          <p:nvPr/>
        </p:nvSpPr>
        <p:spPr>
          <a:xfrm>
            <a:off x="1412695" y="2336662"/>
            <a:ext cx="2279356" cy="546533"/>
          </a:xfrm>
          <a:prstGeom prst="rect">
            <a:avLst/>
          </a:prstGeom>
          <a:noFill/>
          <a:ln/>
        </p:spPr>
        <p:txBody>
          <a:bodyPr wrap="square" lIns="0" tIns="0" rIns="0" bIns="0" rtlCol="0" anchor="t">
            <a:normAutofit lnSpcReduction="10000"/>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Approved departmental PDFs, DOC files, text files, images, and notices</a:t>
            </a:r>
            <a:endParaRPr lang="en-US" sz="1500" dirty="0"/>
          </a:p>
        </p:txBody>
      </p:sp>
      <p:sp>
        <p:nvSpPr>
          <p:cNvPr id="7" name="Text 4"/>
          <p:cNvSpPr/>
          <p:nvPr/>
        </p:nvSpPr>
        <p:spPr>
          <a:xfrm>
            <a:off x="2932510" y="4874977"/>
            <a:ext cx="2279356" cy="571160"/>
          </a:xfrm>
          <a:prstGeom prst="rect">
            <a:avLst/>
          </a:prstGeom>
          <a:noFill/>
          <a:ln/>
        </p:spPr>
        <p:txBody>
          <a:bodyPr wrap="square" lIns="0" tIns="0" rIns="0" bIns="0" rtlCol="0" anchor="t">
            <a:normAutofit/>
          </a:bodyPr>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PDF / DOC / TEXT / IMAGE / NOTICE</a:t>
            </a:r>
            <a:endParaRPr lang="en-US" sz="1800" dirty="0"/>
          </a:p>
        </p:txBody>
      </p:sp>
      <p:sp>
        <p:nvSpPr>
          <p:cNvPr id="8" name="Text 5"/>
          <p:cNvSpPr/>
          <p:nvPr/>
        </p:nvSpPr>
        <p:spPr>
          <a:xfrm>
            <a:off x="2932510" y="5532503"/>
            <a:ext cx="2279356" cy="546533"/>
          </a:xfrm>
          <a:prstGeom prst="rect">
            <a:avLst/>
          </a:prstGeom>
          <a:noFill/>
          <a:ln/>
        </p:spPr>
        <p:txBody>
          <a:bodyPr wrap="square" lIns="0" tIns="0" rIns="0" bIns="0" rtlCol="0" anchor="t">
            <a:normAutofit lnSpcReduction="10000"/>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Input formats collected from official departmental sources</a:t>
            </a:r>
            <a:endParaRPr lang="en-US" sz="1500" dirty="0"/>
          </a:p>
        </p:txBody>
      </p:sp>
      <p:sp>
        <p:nvSpPr>
          <p:cNvPr id="9" name="Text 6"/>
          <p:cNvSpPr/>
          <p:nvPr/>
        </p:nvSpPr>
        <p:spPr>
          <a:xfrm>
            <a:off x="5211866" y="2698099"/>
            <a:ext cx="2328778" cy="285580"/>
          </a:xfrm>
          <a:prstGeom prst="rect">
            <a:avLst/>
          </a:prstGeom>
          <a:noFill/>
          <a:ln/>
        </p:spPr>
        <p:txBody>
          <a:bodyPr wrap="none" lIns="0" tIns="0" rIns="0" bIns="0" rtlCol="0" anchor="t"/>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Document Processing</a:t>
            </a:r>
            <a:endParaRPr lang="en-US" sz="1800" dirty="0"/>
          </a:p>
        </p:txBody>
      </p:sp>
      <p:sp>
        <p:nvSpPr>
          <p:cNvPr id="10" name="Text 7"/>
          <p:cNvSpPr/>
          <p:nvPr/>
        </p:nvSpPr>
        <p:spPr>
          <a:xfrm>
            <a:off x="5393005" y="3048056"/>
            <a:ext cx="2353406" cy="364355"/>
          </a:xfrm>
          <a:prstGeom prst="rect">
            <a:avLst/>
          </a:prstGeom>
          <a:noFill/>
          <a:ln/>
        </p:spPr>
        <p:txBody>
          <a:bodyPr wrap="square" lIns="0" tIns="0" rIns="0" bIns="0" rtlCol="0" anchor="t">
            <a:normAutofit lnSpcReduction="10000"/>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Prepare files for downstream extraction and analysis</a:t>
            </a:r>
            <a:endParaRPr lang="en-US" sz="1500" dirty="0"/>
          </a:p>
        </p:txBody>
      </p:sp>
      <p:sp>
        <p:nvSpPr>
          <p:cNvPr id="11" name="Text 8"/>
          <p:cNvSpPr/>
          <p:nvPr/>
        </p:nvSpPr>
        <p:spPr>
          <a:xfrm>
            <a:off x="6454859" y="5581928"/>
            <a:ext cx="2279356" cy="285580"/>
          </a:xfrm>
          <a:prstGeom prst="rect">
            <a:avLst/>
          </a:prstGeom>
          <a:noFill/>
          <a:ln/>
        </p:spPr>
        <p:txBody>
          <a:bodyPr wrap="none" lIns="0" tIns="0" rIns="0" bIns="0" rtlCol="0" anchor="t"/>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Text Extraction</a:t>
            </a:r>
            <a:endParaRPr lang="en-US" sz="1800" dirty="0"/>
          </a:p>
        </p:txBody>
      </p:sp>
      <p:sp>
        <p:nvSpPr>
          <p:cNvPr id="12" name="Text 9"/>
          <p:cNvSpPr/>
          <p:nvPr/>
        </p:nvSpPr>
        <p:spPr>
          <a:xfrm>
            <a:off x="6454859" y="5953873"/>
            <a:ext cx="2279356" cy="546533"/>
          </a:xfrm>
          <a:prstGeom prst="rect">
            <a:avLst/>
          </a:prstGeom>
          <a:noFill/>
          <a:ln/>
        </p:spPr>
        <p:txBody>
          <a:bodyPr wrap="square" lIns="0" tIns="0" rIns="0" bIns="0" rtlCol="0" anchor="t">
            <a:normAutofit lnSpcReduction="10000"/>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Extract machine-readable text from documents where available</a:t>
            </a:r>
            <a:endParaRPr lang="en-US" sz="1500" dirty="0"/>
          </a:p>
        </p:txBody>
      </p:sp>
      <p:sp>
        <p:nvSpPr>
          <p:cNvPr id="13" name="Text 10"/>
          <p:cNvSpPr/>
          <p:nvPr/>
        </p:nvSpPr>
        <p:spPr>
          <a:xfrm>
            <a:off x="8477992" y="2743223"/>
            <a:ext cx="2279355" cy="571160"/>
          </a:xfrm>
          <a:prstGeom prst="rect">
            <a:avLst/>
          </a:prstGeom>
          <a:noFill/>
          <a:ln/>
        </p:spPr>
        <p:txBody>
          <a:bodyPr wrap="square" lIns="0" tIns="0" rIns="0" bIns="0" rtlCol="0" anchor="t">
            <a:normAutofit/>
          </a:bodyPr>
          <a:lstStyle/>
          <a:p>
            <a:pPr marL="0" indent="0" algn="ctr">
              <a:lnSpc>
                <a:spcPct val="104000"/>
              </a:lnSpc>
              <a:buNone/>
            </a:pPr>
            <a:r>
              <a:rPr lang="en-US" sz="1800" dirty="0">
                <a:solidFill>
                  <a:srgbClr val="3A3630"/>
                </a:solidFill>
                <a:latin typeface="Lora" pitchFamily="34" charset="0"/>
                <a:ea typeface="Lora" pitchFamily="34" charset="-122"/>
                <a:cs typeface="Lora" pitchFamily="34" charset="-120"/>
              </a:rPr>
              <a:t>OCR for Image-Based Text</a:t>
            </a:r>
            <a:endParaRPr lang="en-US" sz="1800" dirty="0"/>
          </a:p>
        </p:txBody>
      </p:sp>
      <p:sp>
        <p:nvSpPr>
          <p:cNvPr id="14" name="Text 11"/>
          <p:cNvSpPr/>
          <p:nvPr/>
        </p:nvSpPr>
        <p:spPr>
          <a:xfrm>
            <a:off x="8745318" y="3412411"/>
            <a:ext cx="2279355" cy="546533"/>
          </a:xfrm>
          <a:prstGeom prst="rect">
            <a:avLst/>
          </a:prstGeom>
          <a:noFill/>
          <a:ln/>
        </p:spPr>
        <p:txBody>
          <a:bodyPr wrap="square" lIns="0" tIns="0" rIns="0" bIns="0" rtlCol="0" anchor="t">
            <a:normAutofit lnSpcReduction="10000"/>
          </a:bodyPr>
          <a:lstStyle/>
          <a:p>
            <a:pPr marL="0" indent="0" algn="ctr">
              <a:lnSpc>
                <a:spcPct val="78000"/>
              </a:lnSpc>
              <a:buNone/>
            </a:pPr>
            <a:r>
              <a:rPr lang="en-US" sz="1500" dirty="0">
                <a:solidFill>
                  <a:srgbClr val="3A3630"/>
                </a:solidFill>
                <a:latin typeface="Source Sans 3" pitchFamily="34" charset="0"/>
                <a:ea typeface="Source Sans 3" pitchFamily="34" charset="-122"/>
                <a:cs typeface="Source Sans 3" pitchFamily="34" charset="-120"/>
              </a:rPr>
              <a:t>Use OCR when text is embedded in scans or images</a:t>
            </a:r>
            <a:endParaRPr lang="en-US" sz="1500" dirty="0"/>
          </a:p>
        </p:txBody>
      </p:sp>
      <p:sp>
        <p:nvSpPr>
          <p:cNvPr id="15" name="Text 12"/>
          <p:cNvSpPr/>
          <p:nvPr/>
        </p:nvSpPr>
        <p:spPr>
          <a:xfrm>
            <a:off x="698086" y="7127478"/>
            <a:ext cx="11405108" cy="104775"/>
          </a:xfrm>
          <a:prstGeom prst="rect">
            <a:avLst/>
          </a:prstGeom>
          <a:noFill/>
          <a:ln/>
        </p:spPr>
        <p:txBody>
          <a:bodyPr wrap="none" lIns="0" tIns="0" rIns="0" bIns="0" rtlCol="0" anchor="t"/>
          <a:lstStyle/>
          <a:p>
            <a:pPr marL="0" indent="0" algn="l">
              <a:lnSpc>
                <a:spcPct val="100000"/>
              </a:lnSpc>
              <a:buNone/>
            </a:pPr>
            <a:r>
              <a:rPr lang="en-US" sz="650" b="1" dirty="0">
                <a:solidFill>
                  <a:srgbClr val="3A3630"/>
                </a:solidFill>
                <a:latin typeface="Source Sans 3 Bold" pitchFamily="34" charset="0"/>
                <a:ea typeface="Source Sans 3 Bold" pitchFamily="34" charset="-122"/>
                <a:cs typeface="Source Sans 3 Bold" pitchFamily="34" charset="-120"/>
              </a:rPr>
              <a:t>Complete pipeline</a:t>
            </a:r>
            <a:r>
              <a:rPr lang="en-US" sz="650" dirty="0">
                <a:solidFill>
                  <a:srgbClr val="3A3630"/>
                </a:solidFill>
                <a:latin typeface="Source Sans 3" pitchFamily="34" charset="0"/>
                <a:ea typeface="Source Sans 3" pitchFamily="34" charset="-122"/>
                <a:cs typeface="Source Sans 3" pitchFamily="34" charset="-120"/>
              </a:rPr>
              <a:t> — AUTHORIZED DEPARTMENTAL RESOURCES → PDF / DOC / TEXT / IMAGE / NOTICE → Document Processing → Text Extraction → OCR for image-based text when required → Cleaning &amp; Normalization → Chunking → Metadata Attachment → Embedding Generation → Vector Database</a:t>
            </a:r>
            <a:endParaRPr lang="en-US" sz="65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7330281"/>
            <a:ext cx="2623873" cy="829965"/>
          </a:xfrm>
          <a:prstGeom prst="rect">
            <a:avLst/>
          </a:prstGeom>
        </p:spPr>
      </p:pic>
      <p:sp>
        <p:nvSpPr>
          <p:cNvPr id="17" name="Text 13"/>
          <p:cNvSpPr/>
          <p:nvPr/>
        </p:nvSpPr>
        <p:spPr>
          <a:xfrm>
            <a:off x="848795" y="7430195"/>
            <a:ext cx="237325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Chunking Example</a:t>
            </a:r>
            <a:endParaRPr lang="en-US" sz="800" dirty="0"/>
          </a:p>
        </p:txBody>
      </p:sp>
      <p:sp>
        <p:nvSpPr>
          <p:cNvPr id="18" name="Text 14"/>
          <p:cNvSpPr/>
          <p:nvPr/>
        </p:nvSpPr>
        <p:spPr>
          <a:xfrm>
            <a:off x="848795" y="7602041"/>
            <a:ext cx="2373253" cy="458291"/>
          </a:xfrm>
          <a:prstGeom prst="rect">
            <a:avLst/>
          </a:prstGeom>
          <a:noFill/>
          <a:ln/>
        </p:spPr>
        <p:txBody>
          <a:bodyPr wrap="square" lIns="0" tIns="0" rIns="0" bIns="0" rtlCol="0" anchor="t">
            <a:normAutofit/>
          </a:bodyPr>
          <a:lstStyle/>
          <a:p>
            <a:pPr marL="0" indent="0" algn="l">
              <a:lnSpc>
                <a:spcPct val="100000"/>
              </a:lnSpc>
              <a:spcAft>
                <a:spcPts val="300"/>
              </a:spcAft>
              <a:buNone/>
            </a:pPr>
            <a:r>
              <a:rPr lang="en-US" sz="650" b="1" dirty="0">
                <a:solidFill>
                  <a:srgbClr val="3A3630"/>
                </a:solidFill>
                <a:latin typeface="Source Sans 3 Bold" pitchFamily="34" charset="0"/>
                <a:ea typeface="Source Sans 3 Bold" pitchFamily="34" charset="-122"/>
                <a:cs typeface="Source Sans 3 Bold" pitchFamily="34" charset="-120"/>
              </a:rPr>
              <a:t>DSA Notes PDF</a:t>
            </a:r>
            <a:r>
              <a:rPr lang="en-US" sz="650" dirty="0">
                <a:solidFill>
                  <a:srgbClr val="3A3630"/>
                </a:solidFill>
                <a:latin typeface="Source Sans 3" pitchFamily="34" charset="0"/>
                <a:ea typeface="Source Sans 3" pitchFamily="34" charset="-122"/>
                <a:cs typeface="Source Sans 3" pitchFamily="34" charset="-120"/>
              </a:rPr>
              <a:t> → Chunk 1 (Arrays), Chunk 2 (Linked List), Chunk 3 (Stack), Chunk 4 (Trees), Chunk 5 (Recursion)</a:t>
            </a:r>
            <a:endParaRPr lang="en-US" sz="650" dirty="0"/>
          </a:p>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Smaller meaningful chunks improve retrieval precision and efficiency by narrowing the search to the most relevant sections.</a:t>
            </a:r>
            <a:endParaRPr lang="en-US" sz="650"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65515" y="7330281"/>
            <a:ext cx="2623873" cy="829965"/>
          </a:xfrm>
          <a:prstGeom prst="rect">
            <a:avLst/>
          </a:prstGeom>
        </p:spPr>
      </p:pic>
      <p:sp>
        <p:nvSpPr>
          <p:cNvPr id="20" name="Text 15"/>
          <p:cNvSpPr/>
          <p:nvPr/>
        </p:nvSpPr>
        <p:spPr>
          <a:xfrm>
            <a:off x="3516225" y="7430195"/>
            <a:ext cx="237325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Metadata on Every Chunk</a:t>
            </a:r>
            <a:endParaRPr lang="en-US" sz="800" dirty="0"/>
          </a:p>
        </p:txBody>
      </p:sp>
      <p:sp>
        <p:nvSpPr>
          <p:cNvPr id="21" name="Text 16"/>
          <p:cNvSpPr/>
          <p:nvPr/>
        </p:nvSpPr>
        <p:spPr>
          <a:xfrm>
            <a:off x="3516225" y="7602041"/>
            <a:ext cx="2373253" cy="314325"/>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Each chunk is associated with metadata such as source document, page number, topic, and section title so the retrieved answer stays grounded and traceable.</a:t>
            </a:r>
            <a:endParaRPr lang="en-US" sz="650"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8086" y="8203803"/>
            <a:ext cx="2623873" cy="581223"/>
          </a:xfrm>
          <a:prstGeom prst="rect">
            <a:avLst/>
          </a:prstGeom>
        </p:spPr>
      </p:pic>
      <p:sp>
        <p:nvSpPr>
          <p:cNvPr id="23" name="Text 17"/>
          <p:cNvSpPr/>
          <p:nvPr/>
        </p:nvSpPr>
        <p:spPr>
          <a:xfrm>
            <a:off x="848795" y="8303716"/>
            <a:ext cx="237325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Embedding Generation</a:t>
            </a:r>
            <a:endParaRPr lang="en-US" sz="800" dirty="0"/>
          </a:p>
        </p:txBody>
      </p:sp>
      <p:sp>
        <p:nvSpPr>
          <p:cNvPr id="24" name="Text 18"/>
          <p:cNvSpPr/>
          <p:nvPr/>
        </p:nvSpPr>
        <p:spPr>
          <a:xfrm>
            <a:off x="848795" y="8475563"/>
            <a:ext cx="2373253" cy="209550"/>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Each cleaned chunk is converted into a semantic vector, allowing meaning-based search instead of exact keyword matching.</a:t>
            </a:r>
            <a:endParaRPr lang="en-US" sz="650"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65515" y="8203803"/>
            <a:ext cx="2623873" cy="581223"/>
          </a:xfrm>
          <a:prstGeom prst="rect">
            <a:avLst/>
          </a:prstGeom>
        </p:spPr>
      </p:pic>
      <p:sp>
        <p:nvSpPr>
          <p:cNvPr id="26" name="Text 19"/>
          <p:cNvSpPr/>
          <p:nvPr/>
        </p:nvSpPr>
        <p:spPr>
          <a:xfrm>
            <a:off x="3516225" y="8303716"/>
            <a:ext cx="2373253"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Vector Database</a:t>
            </a:r>
            <a:endParaRPr lang="en-US" sz="800" dirty="0"/>
          </a:p>
        </p:txBody>
      </p:sp>
      <p:sp>
        <p:nvSpPr>
          <p:cNvPr id="27" name="Text 20"/>
          <p:cNvSpPr/>
          <p:nvPr/>
        </p:nvSpPr>
        <p:spPr>
          <a:xfrm>
            <a:off x="3516225" y="8475563"/>
            <a:ext cx="2373253" cy="209550"/>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Chunk embeddings and metadata are stored together for fast retrieval during query-time semantic search.</a:t>
            </a:r>
            <a:endParaRPr lang="en-US" sz="650" dirty="0"/>
          </a:p>
        </p:txBody>
      </p:sp>
      <p:sp>
        <p:nvSpPr>
          <p:cNvPr id="28" name="Shape 21"/>
          <p:cNvSpPr/>
          <p:nvPr/>
        </p:nvSpPr>
        <p:spPr>
          <a:xfrm>
            <a:off x="6145753" y="7281267"/>
            <a:ext cx="5417109" cy="1710134"/>
          </a:xfrm>
          <a:prstGeom prst="roundRect">
            <a:avLst>
              <a:gd name="adj" fmla="val 765"/>
            </a:avLst>
          </a:prstGeom>
          <a:solidFill>
            <a:srgbClr val="6496FF"/>
          </a:solidFill>
          <a:ln/>
        </p:spPr>
      </p:sp>
      <p:sp>
        <p:nvSpPr>
          <p:cNvPr id="29" name="Text 22"/>
          <p:cNvSpPr/>
          <p:nvPr/>
        </p:nvSpPr>
        <p:spPr>
          <a:xfrm>
            <a:off x="6232964" y="7324824"/>
            <a:ext cx="5242687" cy="128290"/>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Lora" pitchFamily="34" charset="0"/>
                <a:ea typeface="Lora" pitchFamily="34" charset="-122"/>
                <a:cs typeface="Lora" pitchFamily="34" charset="-120"/>
              </a:rPr>
              <a:t>Technology Stack</a:t>
            </a:r>
            <a:endParaRPr lang="en-US" sz="800" dirty="0"/>
          </a:p>
        </p:txBody>
      </p:sp>
      <p:sp>
        <p:nvSpPr>
          <p:cNvPr id="30" name="Shape 23"/>
          <p:cNvSpPr/>
          <p:nvPr/>
        </p:nvSpPr>
        <p:spPr>
          <a:xfrm>
            <a:off x="6232964" y="7502128"/>
            <a:ext cx="2599565" cy="451048"/>
          </a:xfrm>
          <a:prstGeom prst="roundRect">
            <a:avLst>
              <a:gd name="adj" fmla="val 2902"/>
            </a:avLst>
          </a:prstGeom>
          <a:solidFill>
            <a:srgbClr val="F3E7D4"/>
          </a:solidFill>
          <a:ln/>
        </p:spPr>
      </p:sp>
      <p:sp>
        <p:nvSpPr>
          <p:cNvPr id="31" name="Text 24"/>
          <p:cNvSpPr/>
          <p:nvPr/>
        </p:nvSpPr>
        <p:spPr>
          <a:xfrm>
            <a:off x="6320175" y="7589341"/>
            <a:ext cx="2425143" cy="128290"/>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Lora" pitchFamily="34" charset="0"/>
                <a:ea typeface="Lora" pitchFamily="34" charset="-122"/>
                <a:cs typeface="Lora" pitchFamily="34" charset="-120"/>
              </a:rPr>
              <a:t>Frontend</a:t>
            </a:r>
            <a:endParaRPr lang="en-US" sz="800" dirty="0"/>
          </a:p>
        </p:txBody>
      </p:sp>
      <p:sp>
        <p:nvSpPr>
          <p:cNvPr id="32" name="Text 25"/>
          <p:cNvSpPr/>
          <p:nvPr/>
        </p:nvSpPr>
        <p:spPr>
          <a:xfrm>
            <a:off x="6320175" y="7761188"/>
            <a:ext cx="2425143" cy="104775"/>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Source Sans 3" pitchFamily="34" charset="0"/>
                <a:ea typeface="Source Sans 3" pitchFamily="34" charset="-122"/>
                <a:cs typeface="Source Sans 3" pitchFamily="34" charset="-120"/>
              </a:rPr>
              <a:t>React.js + JavaScript + HTML/CSS</a:t>
            </a:r>
            <a:endParaRPr lang="en-US" sz="650" dirty="0"/>
          </a:p>
        </p:txBody>
      </p:sp>
      <p:sp>
        <p:nvSpPr>
          <p:cNvPr id="33" name="Shape 26"/>
          <p:cNvSpPr/>
          <p:nvPr/>
        </p:nvSpPr>
        <p:spPr>
          <a:xfrm>
            <a:off x="8876086" y="7502128"/>
            <a:ext cx="2599565" cy="451048"/>
          </a:xfrm>
          <a:prstGeom prst="roundRect">
            <a:avLst>
              <a:gd name="adj" fmla="val 2902"/>
            </a:avLst>
          </a:prstGeom>
          <a:solidFill>
            <a:srgbClr val="F3E7D4"/>
          </a:solidFill>
          <a:ln/>
        </p:spPr>
      </p:sp>
      <p:sp>
        <p:nvSpPr>
          <p:cNvPr id="34" name="Text 27"/>
          <p:cNvSpPr/>
          <p:nvPr/>
        </p:nvSpPr>
        <p:spPr>
          <a:xfrm>
            <a:off x="8963297" y="7589341"/>
            <a:ext cx="2425143" cy="128290"/>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Lora" pitchFamily="34" charset="0"/>
                <a:ea typeface="Lora" pitchFamily="34" charset="-122"/>
                <a:cs typeface="Lora" pitchFamily="34" charset="-120"/>
              </a:rPr>
              <a:t>Backend</a:t>
            </a:r>
            <a:endParaRPr lang="en-US" sz="800" dirty="0"/>
          </a:p>
        </p:txBody>
      </p:sp>
      <p:sp>
        <p:nvSpPr>
          <p:cNvPr id="35" name="Text 28"/>
          <p:cNvSpPr/>
          <p:nvPr/>
        </p:nvSpPr>
        <p:spPr>
          <a:xfrm>
            <a:off x="8963297" y="7761188"/>
            <a:ext cx="2425143" cy="104775"/>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Source Sans 3" pitchFamily="34" charset="0"/>
                <a:ea typeface="Source Sans 3" pitchFamily="34" charset="-122"/>
                <a:cs typeface="Source Sans 3" pitchFamily="34" charset="-120"/>
              </a:rPr>
              <a:t>Node.js · Express.js</a:t>
            </a:r>
            <a:endParaRPr lang="en-US" sz="650" dirty="0"/>
          </a:p>
        </p:txBody>
      </p:sp>
      <p:sp>
        <p:nvSpPr>
          <p:cNvPr id="36" name="Shape 29"/>
          <p:cNvSpPr/>
          <p:nvPr/>
        </p:nvSpPr>
        <p:spPr>
          <a:xfrm>
            <a:off x="6232964" y="7996734"/>
            <a:ext cx="2599565" cy="451048"/>
          </a:xfrm>
          <a:prstGeom prst="roundRect">
            <a:avLst>
              <a:gd name="adj" fmla="val 2902"/>
            </a:avLst>
          </a:prstGeom>
          <a:solidFill>
            <a:srgbClr val="F3E7D4"/>
          </a:solidFill>
          <a:ln/>
        </p:spPr>
      </p:sp>
      <p:sp>
        <p:nvSpPr>
          <p:cNvPr id="37" name="Text 30"/>
          <p:cNvSpPr/>
          <p:nvPr/>
        </p:nvSpPr>
        <p:spPr>
          <a:xfrm>
            <a:off x="6320175" y="8083947"/>
            <a:ext cx="2425143" cy="128290"/>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Lora" pitchFamily="34" charset="0"/>
                <a:ea typeface="Lora" pitchFamily="34" charset="-122"/>
                <a:cs typeface="Lora" pitchFamily="34" charset="-120"/>
              </a:rPr>
              <a:t>AI / ML</a:t>
            </a:r>
            <a:endParaRPr lang="en-US" sz="800" dirty="0"/>
          </a:p>
        </p:txBody>
      </p:sp>
      <p:sp>
        <p:nvSpPr>
          <p:cNvPr id="38" name="Text 31"/>
          <p:cNvSpPr/>
          <p:nvPr/>
        </p:nvSpPr>
        <p:spPr>
          <a:xfrm>
            <a:off x="6320175" y="8255794"/>
            <a:ext cx="2425143" cy="104775"/>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Source Sans 3" pitchFamily="34" charset="0"/>
                <a:ea typeface="Source Sans 3" pitchFamily="34" charset="-122"/>
                <a:cs typeface="Source Sans 3" pitchFamily="34" charset="-120"/>
              </a:rPr>
              <a:t>Python + NLP + Embeddings + RAG</a:t>
            </a:r>
            <a:endParaRPr lang="en-US" sz="650" dirty="0"/>
          </a:p>
        </p:txBody>
      </p:sp>
      <p:sp>
        <p:nvSpPr>
          <p:cNvPr id="39" name="Shape 32"/>
          <p:cNvSpPr/>
          <p:nvPr/>
        </p:nvSpPr>
        <p:spPr>
          <a:xfrm>
            <a:off x="8876086" y="7996734"/>
            <a:ext cx="2599565" cy="451048"/>
          </a:xfrm>
          <a:prstGeom prst="roundRect">
            <a:avLst>
              <a:gd name="adj" fmla="val 2902"/>
            </a:avLst>
          </a:prstGeom>
          <a:solidFill>
            <a:srgbClr val="F3E7D4"/>
          </a:solidFill>
          <a:ln/>
        </p:spPr>
      </p:sp>
      <p:sp>
        <p:nvSpPr>
          <p:cNvPr id="40" name="Text 33"/>
          <p:cNvSpPr/>
          <p:nvPr/>
        </p:nvSpPr>
        <p:spPr>
          <a:xfrm>
            <a:off x="8963297" y="8083947"/>
            <a:ext cx="2425143" cy="128290"/>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Lora" pitchFamily="34" charset="0"/>
                <a:ea typeface="Lora" pitchFamily="34" charset="-122"/>
                <a:cs typeface="Lora" pitchFamily="34" charset="-120"/>
              </a:rPr>
              <a:t>Database</a:t>
            </a:r>
            <a:endParaRPr lang="en-US" sz="800" dirty="0"/>
          </a:p>
        </p:txBody>
      </p:sp>
      <p:sp>
        <p:nvSpPr>
          <p:cNvPr id="41" name="Text 34"/>
          <p:cNvSpPr/>
          <p:nvPr/>
        </p:nvSpPr>
        <p:spPr>
          <a:xfrm>
            <a:off x="8963297" y="8255794"/>
            <a:ext cx="2425143" cy="104775"/>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Source Sans 3" pitchFamily="34" charset="0"/>
                <a:ea typeface="Source Sans 3" pitchFamily="34" charset="-122"/>
                <a:cs typeface="Source Sans 3" pitchFamily="34" charset="-120"/>
              </a:rPr>
              <a:t>MongoDB / PostgreSQL</a:t>
            </a:r>
            <a:endParaRPr lang="en-US" sz="650" dirty="0"/>
          </a:p>
        </p:txBody>
      </p:sp>
      <p:sp>
        <p:nvSpPr>
          <p:cNvPr id="42" name="Shape 35"/>
          <p:cNvSpPr/>
          <p:nvPr/>
        </p:nvSpPr>
        <p:spPr>
          <a:xfrm>
            <a:off x="6232964" y="8491339"/>
            <a:ext cx="2599565" cy="451048"/>
          </a:xfrm>
          <a:prstGeom prst="roundRect">
            <a:avLst>
              <a:gd name="adj" fmla="val 2902"/>
            </a:avLst>
          </a:prstGeom>
          <a:solidFill>
            <a:srgbClr val="F3E7D4"/>
          </a:solidFill>
          <a:ln/>
        </p:spPr>
      </p:sp>
      <p:sp>
        <p:nvSpPr>
          <p:cNvPr id="43" name="Text 36"/>
          <p:cNvSpPr/>
          <p:nvPr/>
        </p:nvSpPr>
        <p:spPr>
          <a:xfrm>
            <a:off x="6320175" y="8578552"/>
            <a:ext cx="2425143" cy="128290"/>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Lora" pitchFamily="34" charset="0"/>
                <a:ea typeface="Lora" pitchFamily="34" charset="-122"/>
                <a:cs typeface="Lora" pitchFamily="34" charset="-120"/>
              </a:rPr>
              <a:t>Vector Search</a:t>
            </a:r>
            <a:endParaRPr lang="en-US" sz="800" dirty="0"/>
          </a:p>
        </p:txBody>
      </p:sp>
      <p:sp>
        <p:nvSpPr>
          <p:cNvPr id="44" name="Text 37"/>
          <p:cNvSpPr/>
          <p:nvPr/>
        </p:nvSpPr>
        <p:spPr>
          <a:xfrm>
            <a:off x="6320175" y="8750399"/>
            <a:ext cx="2425143" cy="104775"/>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Source Sans 3" pitchFamily="34" charset="0"/>
                <a:ea typeface="Source Sans 3" pitchFamily="34" charset="-122"/>
                <a:cs typeface="Source Sans 3" pitchFamily="34" charset="-120"/>
              </a:rPr>
              <a:t>Vector Database</a:t>
            </a:r>
            <a:endParaRPr lang="en-US" sz="650" dirty="0"/>
          </a:p>
        </p:txBody>
      </p:sp>
      <p:sp>
        <p:nvSpPr>
          <p:cNvPr id="45" name="Shape 38"/>
          <p:cNvSpPr/>
          <p:nvPr/>
        </p:nvSpPr>
        <p:spPr>
          <a:xfrm>
            <a:off x="8876086" y="8491339"/>
            <a:ext cx="2599565" cy="451048"/>
          </a:xfrm>
          <a:prstGeom prst="roundRect">
            <a:avLst>
              <a:gd name="adj" fmla="val 2902"/>
            </a:avLst>
          </a:prstGeom>
          <a:solidFill>
            <a:srgbClr val="F3E7D4"/>
          </a:solidFill>
          <a:ln/>
        </p:spPr>
      </p:sp>
      <p:sp>
        <p:nvSpPr>
          <p:cNvPr id="46" name="Text 39"/>
          <p:cNvSpPr/>
          <p:nvPr/>
        </p:nvSpPr>
        <p:spPr>
          <a:xfrm>
            <a:off x="8963297" y="8578552"/>
            <a:ext cx="2425143" cy="128290"/>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Lora" pitchFamily="34" charset="0"/>
                <a:ea typeface="Lora" pitchFamily="34" charset="-122"/>
                <a:cs typeface="Lora" pitchFamily="34" charset="-120"/>
              </a:rPr>
              <a:t>LLM</a:t>
            </a:r>
            <a:endParaRPr lang="en-US" sz="800" dirty="0"/>
          </a:p>
        </p:txBody>
      </p:sp>
      <p:sp>
        <p:nvSpPr>
          <p:cNvPr id="47" name="Text 40"/>
          <p:cNvSpPr/>
          <p:nvPr/>
        </p:nvSpPr>
        <p:spPr>
          <a:xfrm>
            <a:off x="8963297" y="8750399"/>
            <a:ext cx="2425143" cy="104775"/>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Source Sans 3" pitchFamily="34" charset="0"/>
                <a:ea typeface="Source Sans 3" pitchFamily="34" charset="-122"/>
                <a:cs typeface="Source Sans 3" pitchFamily="34" charset="-120"/>
              </a:rPr>
              <a:t>Use an appropriate LLM/API during implementation</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479921"/>
            <a:ext cx="10795524" cy="256679"/>
          </a:xfrm>
          <a:prstGeom prst="rect">
            <a:avLst/>
          </a:prstGeom>
          <a:noFill/>
          <a:ln/>
        </p:spPr>
        <p:txBody>
          <a:bodyPr wrap="none" lIns="0" tIns="0" rIns="0" bIns="0" rtlCol="0" anchor="t"/>
          <a:lstStyle/>
          <a:p>
            <a:pPr marL="0" indent="0" algn="l">
              <a:lnSpc>
                <a:spcPct val="104000"/>
              </a:lnSpc>
              <a:buNone/>
            </a:pPr>
            <a:r>
              <a:rPr lang="en-US" sz="1600" dirty="0">
                <a:solidFill>
                  <a:srgbClr val="38512F"/>
                </a:solidFill>
                <a:latin typeface="Lora" pitchFamily="34" charset="0"/>
                <a:ea typeface="Lora" pitchFamily="34" charset="-122"/>
                <a:cs typeface="Lora" pitchFamily="34" charset="-120"/>
              </a:rPr>
              <a:t>Query / Retrieval Pipeline</a:t>
            </a:r>
            <a:endParaRPr lang="en-US" sz="1600" dirty="0"/>
          </a:p>
        </p:txBody>
      </p:sp>
      <p:sp>
        <p:nvSpPr>
          <p:cNvPr id="3" name="Text 1"/>
          <p:cNvSpPr/>
          <p:nvPr/>
        </p:nvSpPr>
        <p:spPr>
          <a:xfrm>
            <a:off x="698086" y="823813"/>
            <a:ext cx="11405108"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The platform is designed to serve both students and the department by turning natural-language requests into grounded answers — with relevant context retrieved from department knowledge before the AI responds.</a:t>
            </a:r>
            <a:endParaRPr lang="en-US" sz="650" dirty="0"/>
          </a:p>
        </p:txBody>
      </p:sp>
      <p:pic>
        <p:nvPicPr>
          <p:cNvPr id="4" name="Image 0" descr="preencoded.png"/>
          <p:cNvPicPr>
            <a:picLocks noChangeAspect="1"/>
          </p:cNvPicPr>
          <p:nvPr/>
        </p:nvPicPr>
        <p:blipFill>
          <a:blip r:embed="rId3"/>
          <a:stretch>
            <a:fillRect/>
          </a:stretch>
        </p:blipFill>
        <p:spPr>
          <a:xfrm>
            <a:off x="2056554" y="1804458"/>
            <a:ext cx="8530097" cy="4661300"/>
          </a:xfrm>
          <a:prstGeom prst="rect">
            <a:avLst/>
          </a:prstGeom>
        </p:spPr>
      </p:pic>
      <p:sp>
        <p:nvSpPr>
          <p:cNvPr id="5" name="Text 2"/>
          <p:cNvSpPr/>
          <p:nvPr/>
        </p:nvSpPr>
        <p:spPr>
          <a:xfrm>
            <a:off x="3035602" y="3703888"/>
            <a:ext cx="2231608" cy="571157"/>
          </a:xfrm>
          <a:prstGeom prst="rect">
            <a:avLst/>
          </a:prstGeom>
          <a:noFill/>
          <a:ln/>
        </p:spPr>
        <p:txBody>
          <a:bodyPr wrap="square" lIns="0" tIns="0" rIns="0" bIns="0" rtlCol="0" anchor="t">
            <a:normAutofit/>
          </a:bodyPr>
          <a:lstStyle/>
          <a:p>
            <a:pPr marL="0" indent="0" algn="ctr">
              <a:lnSpc>
                <a:spcPct val="104000"/>
              </a:lnSpc>
              <a:buNone/>
            </a:pPr>
            <a:r>
              <a:rPr lang="en-US" sz="1800" dirty="0">
                <a:solidFill>
                  <a:srgbClr val="38512F"/>
                </a:solidFill>
                <a:latin typeface="Lora" pitchFamily="34" charset="0"/>
                <a:ea typeface="Lora" pitchFamily="34" charset="-122"/>
                <a:cs typeface="Lora" pitchFamily="34" charset="-120"/>
              </a:rPr>
              <a:t>Query Understanding</a:t>
            </a:r>
            <a:endParaRPr lang="en-US" sz="1800" dirty="0"/>
          </a:p>
        </p:txBody>
      </p:sp>
      <p:sp>
        <p:nvSpPr>
          <p:cNvPr id="6" name="Text 3"/>
          <p:cNvSpPr/>
          <p:nvPr/>
        </p:nvSpPr>
        <p:spPr>
          <a:xfrm>
            <a:off x="8094056" y="3703888"/>
            <a:ext cx="2231607" cy="285579"/>
          </a:xfrm>
          <a:prstGeom prst="rect">
            <a:avLst/>
          </a:prstGeom>
          <a:noFill/>
          <a:ln/>
        </p:spPr>
        <p:txBody>
          <a:bodyPr wrap="none" lIns="0" tIns="0" rIns="0" bIns="0" rtlCol="0" anchor="t"/>
          <a:lstStyle/>
          <a:p>
            <a:pPr marL="0" indent="0" algn="ctr">
              <a:lnSpc>
                <a:spcPct val="104000"/>
              </a:lnSpc>
              <a:buNone/>
            </a:pPr>
            <a:r>
              <a:rPr lang="en-US" sz="1800" dirty="0">
                <a:solidFill>
                  <a:srgbClr val="38512F"/>
                </a:solidFill>
                <a:latin typeface="Lora" pitchFamily="34" charset="0"/>
                <a:ea typeface="Lora" pitchFamily="34" charset="-122"/>
                <a:cs typeface="Lora" pitchFamily="34" charset="-120"/>
              </a:rPr>
              <a:t>Embedding &amp; Search</a:t>
            </a:r>
            <a:endParaRPr lang="en-US" sz="1800" dirty="0"/>
          </a:p>
        </p:txBody>
      </p:sp>
      <p:sp>
        <p:nvSpPr>
          <p:cNvPr id="7" name="Text 4"/>
          <p:cNvSpPr/>
          <p:nvPr/>
        </p:nvSpPr>
        <p:spPr>
          <a:xfrm>
            <a:off x="5465623" y="3699250"/>
            <a:ext cx="2231607" cy="285578"/>
          </a:xfrm>
          <a:prstGeom prst="rect">
            <a:avLst/>
          </a:prstGeom>
          <a:noFill/>
          <a:ln/>
        </p:spPr>
        <p:txBody>
          <a:bodyPr wrap="none" lIns="0" tIns="0" rIns="0" bIns="0" rtlCol="0" anchor="t"/>
          <a:lstStyle/>
          <a:p>
            <a:pPr marL="0" indent="0" algn="ctr">
              <a:lnSpc>
                <a:spcPct val="104000"/>
              </a:lnSpc>
              <a:buNone/>
            </a:pPr>
            <a:r>
              <a:rPr lang="en-US" sz="1800" dirty="0">
                <a:solidFill>
                  <a:srgbClr val="38512F"/>
                </a:solidFill>
                <a:latin typeface="Lora" pitchFamily="34" charset="0"/>
                <a:ea typeface="Lora" pitchFamily="34" charset="-122"/>
                <a:cs typeface="Lora" pitchFamily="34" charset="-120"/>
              </a:rPr>
              <a:t>Retrieve &amp; Rank</a:t>
            </a:r>
            <a:endParaRPr lang="en-US" sz="1800" dirty="0"/>
          </a:p>
        </p:txBody>
      </p:sp>
      <p:sp>
        <p:nvSpPr>
          <p:cNvPr id="8" name="Text 5"/>
          <p:cNvSpPr/>
          <p:nvPr/>
        </p:nvSpPr>
        <p:spPr>
          <a:xfrm>
            <a:off x="698086" y="6289576"/>
            <a:ext cx="11405108" cy="104775"/>
          </a:xfrm>
          <a:prstGeom prst="rect">
            <a:avLst/>
          </a:prstGeom>
          <a:noFill/>
          <a:ln/>
        </p:spPr>
        <p:txBody>
          <a:bodyPr wrap="none" lIns="0" tIns="0" rIns="0" bIns="0" rtlCol="0" anchor="t"/>
          <a:lstStyle/>
          <a:p>
            <a:pPr marL="0" indent="0" algn="l">
              <a:lnSpc>
                <a:spcPct val="100000"/>
              </a:lnSpc>
              <a:buNone/>
            </a:pPr>
            <a:r>
              <a:rPr lang="en-US" sz="650" b="1" dirty="0">
                <a:solidFill>
                  <a:srgbClr val="3A3630"/>
                </a:solidFill>
                <a:latin typeface="Source Sans 3 Bold" pitchFamily="34" charset="0"/>
                <a:ea typeface="Source Sans 3 Bold" pitchFamily="34" charset="-122"/>
                <a:cs typeface="Source Sans 3 Bold" pitchFamily="34" charset="-120"/>
              </a:rPr>
              <a:t>Example query:</a:t>
            </a:r>
            <a:r>
              <a:rPr lang="en-US" sz="650" dirty="0">
                <a:solidFill>
                  <a:srgbClr val="3A3630"/>
                </a:solidFill>
                <a:latin typeface="Source Sans 3" pitchFamily="34" charset="0"/>
                <a:ea typeface="Source Sans 3" pitchFamily="34" charset="-122"/>
                <a:cs typeface="Source Sans 3" pitchFamily="34" charset="-120"/>
              </a:rPr>
              <a:t> “Explain recursion and give me beginner resources.” The system understands the intent, searches by semantic meaning, retrieves relevant chunks, ranks relevant resources, gives them to the LLM as context, generates an answer, and shows the original sources.</a:t>
            </a:r>
            <a:endParaRPr lang="en-US" sz="6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6443365"/>
            <a:ext cx="2666140" cy="563761"/>
          </a:xfrm>
          <a:prstGeom prst="rect">
            <a:avLst/>
          </a:prstGeom>
        </p:spPr>
      </p:pic>
      <p:sp>
        <p:nvSpPr>
          <p:cNvPr id="10" name="Text 6"/>
          <p:cNvSpPr/>
          <p:nvPr/>
        </p:nvSpPr>
        <p:spPr>
          <a:xfrm>
            <a:off x="848795" y="6543278"/>
            <a:ext cx="2415519"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STUDENT QUERY</a:t>
            </a:r>
            <a:endParaRPr lang="en-US" sz="800" dirty="0"/>
          </a:p>
        </p:txBody>
      </p:sp>
      <p:sp>
        <p:nvSpPr>
          <p:cNvPr id="11" name="Text 7"/>
          <p:cNvSpPr/>
          <p:nvPr/>
        </p:nvSpPr>
        <p:spPr>
          <a:xfrm>
            <a:off x="848795" y="6697663"/>
            <a:ext cx="2415519"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The student asks a question in plain language.</a:t>
            </a:r>
            <a:endParaRPr lang="en-US" sz="6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07781" y="6443365"/>
            <a:ext cx="2666239" cy="563761"/>
          </a:xfrm>
          <a:prstGeom prst="rect">
            <a:avLst/>
          </a:prstGeom>
        </p:spPr>
      </p:pic>
      <p:sp>
        <p:nvSpPr>
          <p:cNvPr id="13" name="Text 8"/>
          <p:cNvSpPr/>
          <p:nvPr/>
        </p:nvSpPr>
        <p:spPr>
          <a:xfrm>
            <a:off x="3558491" y="6543278"/>
            <a:ext cx="2415618"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Query Understanding</a:t>
            </a:r>
            <a:endParaRPr lang="en-US" sz="800" dirty="0"/>
          </a:p>
        </p:txBody>
      </p:sp>
      <p:sp>
        <p:nvSpPr>
          <p:cNvPr id="14" name="Text 9"/>
          <p:cNvSpPr/>
          <p:nvPr/>
        </p:nvSpPr>
        <p:spPr>
          <a:xfrm>
            <a:off x="3558491" y="6697663"/>
            <a:ext cx="2415618"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Detects intent, topic, and what kind of help is needed.</a:t>
            </a:r>
            <a:endParaRPr lang="en-US" sz="6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17576" y="6443365"/>
            <a:ext cx="2666239" cy="563761"/>
          </a:xfrm>
          <a:prstGeom prst="rect">
            <a:avLst/>
          </a:prstGeom>
        </p:spPr>
      </p:pic>
      <p:sp>
        <p:nvSpPr>
          <p:cNvPr id="16" name="Text 10"/>
          <p:cNvSpPr/>
          <p:nvPr/>
        </p:nvSpPr>
        <p:spPr>
          <a:xfrm>
            <a:off x="6268285" y="6543278"/>
            <a:ext cx="2415618"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Query Embedding</a:t>
            </a:r>
            <a:endParaRPr lang="en-US" sz="800" dirty="0"/>
          </a:p>
        </p:txBody>
      </p:sp>
      <p:sp>
        <p:nvSpPr>
          <p:cNvPr id="17" name="Text 11"/>
          <p:cNvSpPr/>
          <p:nvPr/>
        </p:nvSpPr>
        <p:spPr>
          <a:xfrm>
            <a:off x="6268285" y="6697663"/>
            <a:ext cx="2415618"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Converts the query into a semantic vector representation.</a:t>
            </a:r>
            <a:endParaRPr lang="en-US" sz="65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27371" y="6443365"/>
            <a:ext cx="2666239" cy="563761"/>
          </a:xfrm>
          <a:prstGeom prst="rect">
            <a:avLst/>
          </a:prstGeom>
        </p:spPr>
      </p:pic>
      <p:sp>
        <p:nvSpPr>
          <p:cNvPr id="19" name="Text 12"/>
          <p:cNvSpPr/>
          <p:nvPr/>
        </p:nvSpPr>
        <p:spPr>
          <a:xfrm>
            <a:off x="8978080" y="6543278"/>
            <a:ext cx="2415618"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Semantic / Vector Search</a:t>
            </a:r>
            <a:endParaRPr lang="en-US" sz="800" dirty="0"/>
          </a:p>
        </p:txBody>
      </p:sp>
      <p:sp>
        <p:nvSpPr>
          <p:cNvPr id="20" name="Text 13"/>
          <p:cNvSpPr/>
          <p:nvPr/>
        </p:nvSpPr>
        <p:spPr>
          <a:xfrm>
            <a:off x="8978080" y="6697663"/>
            <a:ext cx="2415618" cy="209550"/>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Searches indexed department content by meaning, not exact keywords.</a:t>
            </a:r>
            <a:endParaRPr lang="en-US" sz="65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7050683"/>
            <a:ext cx="2666140" cy="563761"/>
          </a:xfrm>
          <a:prstGeom prst="rect">
            <a:avLst/>
          </a:prstGeom>
        </p:spPr>
      </p:pic>
      <p:sp>
        <p:nvSpPr>
          <p:cNvPr id="22" name="Text 14"/>
          <p:cNvSpPr/>
          <p:nvPr/>
        </p:nvSpPr>
        <p:spPr>
          <a:xfrm>
            <a:off x="848795" y="7150596"/>
            <a:ext cx="2415519"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Retrieve Top Relevant Chunks</a:t>
            </a:r>
            <a:endParaRPr lang="en-US" sz="800" dirty="0"/>
          </a:p>
        </p:txBody>
      </p:sp>
      <p:sp>
        <p:nvSpPr>
          <p:cNvPr id="23" name="Text 15"/>
          <p:cNvSpPr/>
          <p:nvPr/>
        </p:nvSpPr>
        <p:spPr>
          <a:xfrm>
            <a:off x="848795" y="7304980"/>
            <a:ext cx="2415519" cy="209550"/>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Pulls the most relevant document passages from the knowledge base.</a:t>
            </a:r>
            <a:endParaRPr lang="en-US" sz="650"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07781" y="7050683"/>
            <a:ext cx="2666239" cy="563761"/>
          </a:xfrm>
          <a:prstGeom prst="rect">
            <a:avLst/>
          </a:prstGeom>
        </p:spPr>
      </p:pic>
      <p:sp>
        <p:nvSpPr>
          <p:cNvPr id="25" name="Text 16"/>
          <p:cNvSpPr/>
          <p:nvPr/>
        </p:nvSpPr>
        <p:spPr>
          <a:xfrm>
            <a:off x="3558491" y="7150596"/>
            <a:ext cx="2415618"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Ranking / Relevance Filtering</a:t>
            </a:r>
            <a:endParaRPr lang="en-US" sz="800" dirty="0"/>
          </a:p>
        </p:txBody>
      </p:sp>
      <p:sp>
        <p:nvSpPr>
          <p:cNvPr id="26" name="Text 17"/>
          <p:cNvSpPr/>
          <p:nvPr/>
        </p:nvSpPr>
        <p:spPr>
          <a:xfrm>
            <a:off x="3558491" y="7304980"/>
            <a:ext cx="2415618"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Applies the MVP filtering step to keep the most useful results.</a:t>
            </a:r>
            <a:endParaRPr lang="en-US" sz="650" dirty="0"/>
          </a:p>
        </p:txBody>
      </p:sp>
      <p:pic>
        <p:nvPicPr>
          <p:cNvPr id="27"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17576" y="7050683"/>
            <a:ext cx="2666239" cy="563761"/>
          </a:xfrm>
          <a:prstGeom prst="rect">
            <a:avLst/>
          </a:prstGeom>
        </p:spPr>
      </p:pic>
      <p:sp>
        <p:nvSpPr>
          <p:cNvPr id="28" name="Text 18"/>
          <p:cNvSpPr/>
          <p:nvPr/>
        </p:nvSpPr>
        <p:spPr>
          <a:xfrm>
            <a:off x="6268285" y="7150596"/>
            <a:ext cx="2415618"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Relevant Context</a:t>
            </a:r>
            <a:endParaRPr lang="en-US" sz="800" dirty="0"/>
          </a:p>
        </p:txBody>
      </p:sp>
      <p:sp>
        <p:nvSpPr>
          <p:cNvPr id="29" name="Text 19"/>
          <p:cNvSpPr/>
          <p:nvPr/>
        </p:nvSpPr>
        <p:spPr>
          <a:xfrm>
            <a:off x="6268285" y="7304980"/>
            <a:ext cx="2415618"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Packages the selected chunks into context for the AI model.</a:t>
            </a:r>
            <a:endParaRPr lang="en-US" sz="650" dirty="0"/>
          </a:p>
        </p:txBody>
      </p:sp>
      <p:pic>
        <p:nvPicPr>
          <p:cNvPr id="30" name="Image 8"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27371" y="7050683"/>
            <a:ext cx="2666239" cy="563761"/>
          </a:xfrm>
          <a:prstGeom prst="rect">
            <a:avLst/>
          </a:prstGeom>
        </p:spPr>
      </p:pic>
      <p:sp>
        <p:nvSpPr>
          <p:cNvPr id="31" name="Text 20"/>
          <p:cNvSpPr/>
          <p:nvPr/>
        </p:nvSpPr>
        <p:spPr>
          <a:xfrm>
            <a:off x="8978080" y="7150596"/>
            <a:ext cx="2415618"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RAG</a:t>
            </a:r>
            <a:endParaRPr lang="en-US" sz="800" dirty="0"/>
          </a:p>
        </p:txBody>
      </p:sp>
      <p:sp>
        <p:nvSpPr>
          <p:cNvPr id="32" name="Text 21"/>
          <p:cNvSpPr/>
          <p:nvPr/>
        </p:nvSpPr>
        <p:spPr>
          <a:xfrm>
            <a:off x="8978080" y="7304980"/>
            <a:ext cx="2415618" cy="209550"/>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Retrieval-augmented generation combines retrieved context with the prompt.</a:t>
            </a:r>
            <a:endParaRPr lang="en-US" sz="650" dirty="0"/>
          </a:p>
        </p:txBody>
      </p:sp>
      <p:pic>
        <p:nvPicPr>
          <p:cNvPr id="33" name="Image 9"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7658001"/>
            <a:ext cx="2666140" cy="563761"/>
          </a:xfrm>
          <a:prstGeom prst="rect">
            <a:avLst/>
          </a:prstGeom>
        </p:spPr>
      </p:pic>
      <p:sp>
        <p:nvSpPr>
          <p:cNvPr id="34" name="Text 22"/>
          <p:cNvSpPr/>
          <p:nvPr/>
        </p:nvSpPr>
        <p:spPr>
          <a:xfrm>
            <a:off x="848795" y="7757914"/>
            <a:ext cx="2415519"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LLM</a:t>
            </a:r>
            <a:endParaRPr lang="en-US" sz="800" dirty="0"/>
          </a:p>
        </p:txBody>
      </p:sp>
      <p:sp>
        <p:nvSpPr>
          <p:cNvPr id="35" name="Text 23"/>
          <p:cNvSpPr/>
          <p:nvPr/>
        </p:nvSpPr>
        <p:spPr>
          <a:xfrm>
            <a:off x="848795" y="7912298"/>
            <a:ext cx="2415519" cy="104775"/>
          </a:xfrm>
          <a:prstGeom prst="rect">
            <a:avLst/>
          </a:prstGeom>
          <a:noFill/>
          <a:ln/>
        </p:spPr>
        <p:txBody>
          <a:bodyPr wrap="none" lIns="0" tIns="0" rIns="0" bIns="0" rtlCol="0" anchor="t"/>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Generates a grounded response using the retrieved context.</a:t>
            </a:r>
            <a:endParaRPr lang="en-US" sz="650" dirty="0"/>
          </a:p>
        </p:txBody>
      </p:sp>
      <p:pic>
        <p:nvPicPr>
          <p:cNvPr id="36" name="Image 1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07781" y="7658001"/>
            <a:ext cx="2666239" cy="563761"/>
          </a:xfrm>
          <a:prstGeom prst="rect">
            <a:avLst/>
          </a:prstGeom>
        </p:spPr>
      </p:pic>
      <p:sp>
        <p:nvSpPr>
          <p:cNvPr id="37" name="Text 24"/>
          <p:cNvSpPr/>
          <p:nvPr/>
        </p:nvSpPr>
        <p:spPr>
          <a:xfrm>
            <a:off x="3558491" y="7757914"/>
            <a:ext cx="2415618"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Answer + Sources</a:t>
            </a:r>
            <a:endParaRPr lang="en-US" sz="800" dirty="0"/>
          </a:p>
        </p:txBody>
      </p:sp>
      <p:sp>
        <p:nvSpPr>
          <p:cNvPr id="38" name="Text 25"/>
          <p:cNvSpPr/>
          <p:nvPr/>
        </p:nvSpPr>
        <p:spPr>
          <a:xfrm>
            <a:off x="3558491" y="7912298"/>
            <a:ext cx="2415618" cy="209550"/>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3A3630"/>
                </a:solidFill>
                <a:latin typeface="Source Sans 3" pitchFamily="34" charset="0"/>
                <a:ea typeface="Source Sans 3" pitchFamily="34" charset="-122"/>
                <a:cs typeface="Source Sans 3" pitchFamily="34" charset="-120"/>
              </a:rPr>
              <a:t>Returns the answer with citations so students can verify the source material.</a:t>
            </a:r>
            <a:endParaRPr lang="en-US" sz="650" dirty="0"/>
          </a:p>
        </p:txBody>
      </p:sp>
      <p:sp>
        <p:nvSpPr>
          <p:cNvPr id="39" name="Shape 26"/>
          <p:cNvSpPr/>
          <p:nvPr/>
        </p:nvSpPr>
        <p:spPr>
          <a:xfrm>
            <a:off x="698086" y="8270776"/>
            <a:ext cx="10795524" cy="230981"/>
          </a:xfrm>
          <a:prstGeom prst="roundRect">
            <a:avLst>
              <a:gd name="adj" fmla="val 5667"/>
            </a:avLst>
          </a:prstGeom>
          <a:solidFill>
            <a:srgbClr val="E2ECDF"/>
          </a:solidFill>
          <a:ln/>
        </p:spPr>
      </p:sp>
      <p:pic>
        <p:nvPicPr>
          <p:cNvPr id="40" name="Image 11" descr="preencoded.png"/>
          <p:cNvPicPr>
            <a:picLocks noChangeAspect="1"/>
          </p:cNvPicPr>
          <p:nvPr/>
        </p:nvPicPr>
        <p:blipFill>
          <a:blip r:embed="rId5"/>
          <a:stretch>
            <a:fillRect/>
          </a:stretch>
        </p:blipFill>
        <p:spPr>
          <a:xfrm>
            <a:off x="785297" y="8336062"/>
            <a:ext cx="109039" cy="87213"/>
          </a:xfrm>
          <a:prstGeom prst="rect">
            <a:avLst/>
          </a:prstGeom>
        </p:spPr>
      </p:pic>
      <p:sp>
        <p:nvSpPr>
          <p:cNvPr id="41" name="Text 27"/>
          <p:cNvSpPr/>
          <p:nvPr/>
        </p:nvSpPr>
        <p:spPr>
          <a:xfrm>
            <a:off x="981547" y="8336062"/>
            <a:ext cx="11034436" cy="104775"/>
          </a:xfrm>
          <a:prstGeom prst="rect">
            <a:avLst/>
          </a:prstGeom>
          <a:noFill/>
          <a:ln/>
        </p:spPr>
        <p:txBody>
          <a:bodyPr wrap="none" lIns="0" tIns="0" rIns="0" bIns="0" rtlCol="0" anchor="t"/>
          <a:lstStyle/>
          <a:p>
            <a:pPr marL="0" indent="0" algn="l">
              <a:lnSpc>
                <a:spcPct val="100000"/>
              </a:lnSpc>
              <a:buNone/>
            </a:pPr>
            <a:r>
              <a:rPr lang="en-US" sz="650" b="1" dirty="0">
                <a:solidFill>
                  <a:srgbClr val="000000"/>
                </a:solidFill>
                <a:latin typeface="Source Sans 3 Bold" pitchFamily="34" charset="0"/>
                <a:ea typeface="Source Sans 3 Bold" pitchFamily="34" charset="-122"/>
                <a:cs typeface="Source Sans 3 Bold" pitchFamily="34" charset="-120"/>
              </a:rPr>
              <a:t>MVP note:</a:t>
            </a:r>
            <a:r>
              <a:rPr lang="en-US" sz="650" dirty="0">
                <a:solidFill>
                  <a:srgbClr val="000000"/>
                </a:solidFill>
                <a:latin typeface="Source Sans 3" pitchFamily="34" charset="0"/>
                <a:ea typeface="Source Sans 3" pitchFamily="34" charset="-122"/>
                <a:cs typeface="Source Sans 3" pitchFamily="34" charset="-120"/>
              </a:rPr>
              <a:t> use ranking/relevance filtering as the proposed first version, rather than advanced reranking techniques.</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543620"/>
            <a:ext cx="10795524" cy="288727"/>
          </a:xfrm>
          <a:prstGeom prst="rect">
            <a:avLst/>
          </a:prstGeom>
          <a:noFill/>
          <a:ln/>
        </p:spPr>
        <p:txBody>
          <a:bodyPr wrap="none" lIns="0" tIns="0" rIns="0" bIns="0" rtlCol="0" anchor="t"/>
          <a:lstStyle/>
          <a:p>
            <a:pPr marL="0" indent="0" algn="l">
              <a:lnSpc>
                <a:spcPct val="104000"/>
              </a:lnSpc>
              <a:buNone/>
            </a:pPr>
            <a:r>
              <a:rPr lang="en-US" sz="1800" dirty="0">
                <a:solidFill>
                  <a:srgbClr val="38512F"/>
                </a:solidFill>
                <a:latin typeface="Lora" pitchFamily="34" charset="0"/>
                <a:ea typeface="Lora" pitchFamily="34" charset="-122"/>
                <a:cs typeface="Lora" pitchFamily="34" charset="-120"/>
              </a:rPr>
              <a:t>Data Types + Metadata + Versioning</a:t>
            </a:r>
            <a:endParaRPr lang="en-US" sz="1800" dirty="0"/>
          </a:p>
        </p:txBody>
      </p:sp>
      <p:sp>
        <p:nvSpPr>
          <p:cNvPr id="3" name="Text 1"/>
          <p:cNvSpPr/>
          <p:nvPr/>
        </p:nvSpPr>
        <p:spPr>
          <a:xfrm>
            <a:off x="698086" y="942777"/>
            <a:ext cx="11405108" cy="122734"/>
          </a:xfrm>
          <a:prstGeom prst="rect">
            <a:avLst/>
          </a:prstGeom>
          <a:noFill/>
          <a:ln/>
        </p:spPr>
        <p:txBody>
          <a:bodyPr wrap="none" lIns="0" tIns="0" rIns="0" bIns="0" rtlCol="0" anchor="t"/>
          <a:lstStyle/>
          <a:p>
            <a:pPr marL="0" indent="0" algn="l">
              <a:lnSpc>
                <a:spcPct val="104000"/>
              </a:lnSpc>
              <a:buNone/>
            </a:pPr>
            <a:r>
              <a:rPr lang="en-US" sz="750" dirty="0">
                <a:solidFill>
                  <a:srgbClr val="3A3630"/>
                </a:solidFill>
                <a:latin typeface="Source Sans 3" pitchFamily="34" charset="0"/>
                <a:ea typeface="Source Sans 3" pitchFamily="34" charset="-122"/>
                <a:cs typeface="Source Sans 3" pitchFamily="34" charset="-120"/>
              </a:rPr>
              <a:t>This </a:t>
            </a:r>
            <a:r>
              <a:rPr lang="en-US" sz="750" b="1" dirty="0">
                <a:solidFill>
                  <a:srgbClr val="3A3630"/>
                </a:solidFill>
                <a:latin typeface="Source Sans 3 Bold" pitchFamily="34" charset="0"/>
                <a:ea typeface="Source Sans 3 Bold" pitchFamily="34" charset="-122"/>
                <a:cs typeface="Source Sans 3 Bold" pitchFamily="34" charset="-120"/>
              </a:rPr>
              <a:t>proposed metadata and version-aware retrieval approach</a:t>
            </a:r>
            <a:r>
              <a:rPr lang="en-US" sz="750" dirty="0">
                <a:solidFill>
                  <a:srgbClr val="3A3630"/>
                </a:solidFill>
                <a:latin typeface="Source Sans 3" pitchFamily="34" charset="0"/>
                <a:ea typeface="Source Sans 3" pitchFamily="34" charset="-122"/>
                <a:cs typeface="Source Sans 3" pitchFamily="34" charset="-120"/>
              </a:rPr>
              <a:t> shows how the system could handle multiple resource types, attach structured metadata to each document chunk, and use versioning to prioritize the latest valid, authoritative resources.</a:t>
            </a:r>
            <a:endParaRPr lang="en-US" sz="750" dirty="0"/>
          </a:p>
        </p:txBody>
      </p:sp>
      <p:sp>
        <p:nvSpPr>
          <p:cNvPr id="4" name="Text 2"/>
          <p:cNvSpPr/>
          <p:nvPr/>
        </p:nvSpPr>
        <p:spPr>
          <a:xfrm>
            <a:off x="845323" y="1189732"/>
            <a:ext cx="11257871" cy="122734"/>
          </a:xfrm>
          <a:prstGeom prst="rect">
            <a:avLst/>
          </a:prstGeom>
          <a:noFill/>
          <a:ln/>
        </p:spPr>
        <p:txBody>
          <a:bodyPr wrap="none" lIns="0" tIns="0" rIns="0" bIns="0" rtlCol="0" anchor="t"/>
          <a:lstStyle/>
          <a:p>
            <a:pPr marL="0" indent="0" algn="l">
              <a:lnSpc>
                <a:spcPct val="104000"/>
              </a:lnSpc>
              <a:buNone/>
            </a:pPr>
            <a:r>
              <a:rPr lang="en-US" sz="750" b="1" dirty="0">
                <a:solidFill>
                  <a:srgbClr val="3A3630"/>
                </a:solidFill>
                <a:latin typeface="Source Sans 3 Bold" pitchFamily="34" charset="0"/>
                <a:ea typeface="Source Sans 3 Bold" pitchFamily="34" charset="-122"/>
                <a:cs typeface="Source Sans 3 Bold" pitchFamily="34" charset="-120"/>
              </a:rPr>
              <a:t>Proposed metadata and version-aware retrieval approach</a:t>
            </a:r>
            <a:r>
              <a:rPr lang="en-US" sz="750" dirty="0">
                <a:solidFill>
                  <a:srgbClr val="3A3630"/>
                </a:solidFill>
                <a:latin typeface="Source Sans 3" pitchFamily="34" charset="0"/>
                <a:ea typeface="Source Sans 3" pitchFamily="34" charset="-122"/>
                <a:cs typeface="Source Sans 3" pitchFamily="34" charset="-120"/>
              </a:rPr>
              <a:t>: Support multiple resource types — </a:t>
            </a:r>
            <a:r>
              <a:rPr lang="en-US" sz="750" b="1" dirty="0">
                <a:solidFill>
                  <a:srgbClr val="3A3630"/>
                </a:solidFill>
                <a:latin typeface="Source Sans 3 Bold" pitchFamily="34" charset="0"/>
                <a:ea typeface="Source Sans 3 Bold" pitchFamily="34" charset="-122"/>
                <a:cs typeface="Source Sans 3 Bold" pitchFamily="34" charset="-120"/>
              </a:rPr>
              <a:t>PDF</a:t>
            </a:r>
            <a:r>
              <a:rPr lang="en-US" sz="750" dirty="0">
                <a:solidFill>
                  <a:srgbClr val="3A3630"/>
                </a:solidFill>
                <a:latin typeface="Source Sans 3" pitchFamily="34" charset="0"/>
                <a:ea typeface="Source Sans 3" pitchFamily="34" charset="-122"/>
                <a:cs typeface="Source Sans 3" pitchFamily="34" charset="-120"/>
              </a:rPr>
              <a:t>, </a:t>
            </a:r>
            <a:r>
              <a:rPr lang="en-US" sz="750" b="1" dirty="0">
                <a:solidFill>
                  <a:srgbClr val="3A3630"/>
                </a:solidFill>
                <a:latin typeface="Source Sans 3 Bold" pitchFamily="34" charset="0"/>
                <a:ea typeface="Source Sans 3 Bold" pitchFamily="34" charset="-122"/>
                <a:cs typeface="Source Sans 3 Bold" pitchFamily="34" charset="-120"/>
              </a:rPr>
              <a:t>DOC/DOCX</a:t>
            </a:r>
            <a:r>
              <a:rPr lang="en-US" sz="750" dirty="0">
                <a:solidFill>
                  <a:srgbClr val="3A3630"/>
                </a:solidFill>
                <a:latin typeface="Source Sans 3" pitchFamily="34" charset="0"/>
                <a:ea typeface="Source Sans 3" pitchFamily="34" charset="-122"/>
                <a:cs typeface="Source Sans 3" pitchFamily="34" charset="-120"/>
              </a:rPr>
              <a:t>, </a:t>
            </a:r>
            <a:r>
              <a:rPr lang="en-US" sz="750" b="1" dirty="0">
                <a:solidFill>
                  <a:srgbClr val="3A3630"/>
                </a:solidFill>
                <a:latin typeface="Source Sans 3 Bold" pitchFamily="34" charset="0"/>
                <a:ea typeface="Source Sans 3 Bold" pitchFamily="34" charset="-122"/>
                <a:cs typeface="Source Sans 3 Bold" pitchFamily="34" charset="-120"/>
              </a:rPr>
              <a:t>Text notes</a:t>
            </a:r>
            <a:r>
              <a:rPr lang="en-US" sz="750" dirty="0">
                <a:solidFill>
                  <a:srgbClr val="3A3630"/>
                </a:solidFill>
                <a:latin typeface="Source Sans 3" pitchFamily="34" charset="0"/>
                <a:ea typeface="Source Sans 3" pitchFamily="34" charset="-122"/>
                <a:cs typeface="Source Sans 3" pitchFamily="34" charset="-120"/>
              </a:rPr>
              <a:t>, </a:t>
            </a:r>
            <a:r>
              <a:rPr lang="en-US" sz="750" b="1" dirty="0">
                <a:solidFill>
                  <a:srgbClr val="3A3630"/>
                </a:solidFill>
                <a:latin typeface="Source Sans 3 Bold" pitchFamily="34" charset="0"/>
                <a:ea typeface="Source Sans 3 Bold" pitchFamily="34" charset="-122"/>
                <a:cs typeface="Source Sans 3 Bold" pitchFamily="34" charset="-120"/>
              </a:rPr>
              <a:t>Images</a:t>
            </a:r>
            <a:r>
              <a:rPr lang="en-US" sz="750" dirty="0">
                <a:solidFill>
                  <a:srgbClr val="3A3630"/>
                </a:solidFill>
                <a:latin typeface="Source Sans 3" pitchFamily="34" charset="0"/>
                <a:ea typeface="Source Sans 3" pitchFamily="34" charset="-122"/>
                <a:cs typeface="Source Sans 3" pitchFamily="34" charset="-120"/>
              </a:rPr>
              <a:t>, </a:t>
            </a:r>
            <a:r>
              <a:rPr lang="en-US" sz="750" b="1" dirty="0">
                <a:solidFill>
                  <a:srgbClr val="3A3630"/>
                </a:solidFill>
                <a:latin typeface="Source Sans 3 Bold" pitchFamily="34" charset="0"/>
                <a:ea typeface="Source Sans 3 Bold" pitchFamily="34" charset="-122"/>
                <a:cs typeface="Source Sans 3 Bold" pitchFamily="34" charset="-120"/>
              </a:rPr>
              <a:t>Notices</a:t>
            </a:r>
            <a:r>
              <a:rPr lang="en-US" sz="750" dirty="0">
                <a:solidFill>
                  <a:srgbClr val="3A3630"/>
                </a:solidFill>
                <a:latin typeface="Source Sans 3" pitchFamily="34" charset="0"/>
                <a:ea typeface="Source Sans 3" pitchFamily="34" charset="-122"/>
                <a:cs typeface="Source Sans 3" pitchFamily="34" charset="-120"/>
              </a:rPr>
              <a:t>, </a:t>
            </a:r>
            <a:r>
              <a:rPr lang="en-US" sz="750" b="1" dirty="0">
                <a:solidFill>
                  <a:srgbClr val="3A3630"/>
                </a:solidFill>
                <a:latin typeface="Source Sans 3 Bold" pitchFamily="34" charset="0"/>
                <a:ea typeface="Source Sans 3 Bold" pitchFamily="34" charset="-122"/>
                <a:cs typeface="Source Sans 3 Bold" pitchFamily="34" charset="-120"/>
              </a:rPr>
              <a:t>Timetables</a:t>
            </a:r>
            <a:r>
              <a:rPr lang="en-US" sz="750" dirty="0">
                <a:solidFill>
                  <a:srgbClr val="3A3630"/>
                </a:solidFill>
                <a:latin typeface="Source Sans 3" pitchFamily="34" charset="0"/>
                <a:ea typeface="Source Sans 3" pitchFamily="34" charset="-122"/>
                <a:cs typeface="Source Sans 3" pitchFamily="34" charset="-120"/>
              </a:rPr>
              <a:t>, </a:t>
            </a:r>
            <a:r>
              <a:rPr lang="en-US" sz="750" b="1" dirty="0">
                <a:solidFill>
                  <a:srgbClr val="3A3630"/>
                </a:solidFill>
                <a:latin typeface="Source Sans 3 Bold" pitchFamily="34" charset="0"/>
                <a:ea typeface="Source Sans 3 Bold" pitchFamily="34" charset="-122"/>
                <a:cs typeface="Source Sans 3 Bold" pitchFamily="34" charset="-120"/>
              </a:rPr>
              <a:t>Training material</a:t>
            </a:r>
            <a:r>
              <a:rPr lang="en-US" sz="750" dirty="0">
                <a:solidFill>
                  <a:srgbClr val="3A3630"/>
                </a:solidFill>
                <a:latin typeface="Source Sans 3" pitchFamily="34" charset="0"/>
                <a:ea typeface="Source Sans 3" pitchFamily="34" charset="-122"/>
                <a:cs typeface="Source Sans 3" pitchFamily="34" charset="-120"/>
              </a:rPr>
              <a:t>, and </a:t>
            </a:r>
            <a:r>
              <a:rPr lang="en-US" sz="750" b="1" dirty="0">
                <a:solidFill>
                  <a:srgbClr val="3A3630"/>
                </a:solidFill>
                <a:latin typeface="Source Sans 3 Bold" pitchFamily="34" charset="0"/>
                <a:ea typeface="Source Sans 3 Bold" pitchFamily="34" charset="-122"/>
                <a:cs typeface="Source Sans 3 Bold" pitchFamily="34" charset="-120"/>
              </a:rPr>
              <a:t>other authorized resources</a:t>
            </a:r>
            <a:r>
              <a:rPr lang="en-US" sz="750" dirty="0">
                <a:solidFill>
                  <a:srgbClr val="3A3630"/>
                </a:solidFill>
                <a:latin typeface="Source Sans 3" pitchFamily="34" charset="0"/>
                <a:ea typeface="Source Sans 3" pitchFamily="34" charset="-122"/>
                <a:cs typeface="Source Sans 3" pitchFamily="34" charset="-120"/>
              </a:rPr>
              <a:t>.</a:t>
            </a:r>
            <a:endParaRPr lang="en-US" sz="750" dirty="0"/>
          </a:p>
        </p:txBody>
      </p:sp>
      <p:sp>
        <p:nvSpPr>
          <p:cNvPr id="5" name="Shape 3"/>
          <p:cNvSpPr/>
          <p:nvPr/>
        </p:nvSpPr>
        <p:spPr>
          <a:xfrm>
            <a:off x="698086" y="1127621"/>
            <a:ext cx="12700" cy="246955"/>
          </a:xfrm>
          <a:prstGeom prst="roundRect">
            <a:avLst>
              <a:gd name="adj" fmla="val 49999"/>
            </a:avLst>
          </a:prstGeom>
          <a:solidFill>
            <a:srgbClr val="38512F"/>
          </a:solidFill>
          <a:ln/>
        </p:spPr>
      </p:sp>
      <p:sp>
        <p:nvSpPr>
          <p:cNvPr id="6" name="Shape 4"/>
          <p:cNvSpPr/>
          <p:nvPr/>
        </p:nvSpPr>
        <p:spPr>
          <a:xfrm>
            <a:off x="528074" y="2269748"/>
            <a:ext cx="5223240" cy="4044632"/>
          </a:xfrm>
          <a:prstGeom prst="roundRect">
            <a:avLst>
              <a:gd name="adj" fmla="val 302"/>
            </a:avLst>
          </a:prstGeom>
          <a:solidFill>
            <a:srgbClr val="6496FF"/>
          </a:solidFill>
          <a:ln/>
        </p:spPr>
        <p:txBody>
          <a:bodyPr/>
          <a:lstStyle/>
          <a:p>
            <a:endParaRPr lang="en-US" dirty="0"/>
          </a:p>
        </p:txBody>
      </p:sp>
      <p:sp>
        <p:nvSpPr>
          <p:cNvPr id="7" name="Text 5"/>
          <p:cNvSpPr/>
          <p:nvPr/>
        </p:nvSpPr>
        <p:spPr>
          <a:xfrm>
            <a:off x="725469" y="1491853"/>
            <a:ext cx="5223240" cy="14436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Metadata Per Document / Chunk</a:t>
            </a:r>
            <a:endParaRPr lang="en-US" sz="900" dirty="0"/>
          </a:p>
        </p:txBody>
      </p:sp>
      <p:sp>
        <p:nvSpPr>
          <p:cNvPr id="8" name="Shape 6"/>
          <p:cNvSpPr/>
          <p:nvPr/>
        </p:nvSpPr>
        <p:spPr>
          <a:xfrm>
            <a:off x="713562" y="2490055"/>
            <a:ext cx="220855" cy="220861"/>
          </a:xfrm>
          <a:prstGeom prst="roundRect">
            <a:avLst>
              <a:gd name="adj" fmla="val 6668"/>
            </a:avLst>
          </a:prstGeom>
          <a:solidFill>
            <a:srgbClr val="F3E7D4"/>
          </a:solidFill>
          <a:ln/>
        </p:spPr>
      </p:sp>
      <p:sp>
        <p:nvSpPr>
          <p:cNvPr id="9" name="Text 7"/>
          <p:cNvSpPr/>
          <p:nvPr/>
        </p:nvSpPr>
        <p:spPr>
          <a:xfrm>
            <a:off x="743556" y="2485045"/>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1</a:t>
            </a:r>
            <a:endParaRPr lang="en-US" sz="1050" dirty="0"/>
          </a:p>
        </p:txBody>
      </p:sp>
      <p:sp>
        <p:nvSpPr>
          <p:cNvPr id="10" name="Text 8"/>
          <p:cNvSpPr/>
          <p:nvPr/>
        </p:nvSpPr>
        <p:spPr>
          <a:xfrm>
            <a:off x="951711" y="2475143"/>
            <a:ext cx="4947221" cy="14436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Resource ID</a:t>
            </a:r>
            <a:endParaRPr lang="en-US" sz="900" dirty="0"/>
          </a:p>
        </p:txBody>
      </p:sp>
      <p:sp>
        <p:nvSpPr>
          <p:cNvPr id="11" name="Text 9"/>
          <p:cNvSpPr/>
          <p:nvPr/>
        </p:nvSpPr>
        <p:spPr>
          <a:xfrm>
            <a:off x="991169" y="2664419"/>
            <a:ext cx="4947221" cy="122734"/>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Unique identifier for the document or chunk.</a:t>
            </a:r>
            <a:endParaRPr lang="en-US" sz="750" dirty="0"/>
          </a:p>
        </p:txBody>
      </p:sp>
      <p:sp>
        <p:nvSpPr>
          <p:cNvPr id="12" name="Shape 10"/>
          <p:cNvSpPr/>
          <p:nvPr/>
        </p:nvSpPr>
        <p:spPr>
          <a:xfrm>
            <a:off x="716352" y="2947022"/>
            <a:ext cx="220855" cy="220861"/>
          </a:xfrm>
          <a:prstGeom prst="roundRect">
            <a:avLst>
              <a:gd name="adj" fmla="val 6668"/>
            </a:avLst>
          </a:prstGeom>
          <a:solidFill>
            <a:srgbClr val="F3E7D4"/>
          </a:solidFill>
          <a:ln/>
        </p:spPr>
      </p:sp>
      <p:sp>
        <p:nvSpPr>
          <p:cNvPr id="13" name="Text 11"/>
          <p:cNvSpPr/>
          <p:nvPr/>
        </p:nvSpPr>
        <p:spPr>
          <a:xfrm>
            <a:off x="756123" y="2970291"/>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2</a:t>
            </a:r>
            <a:endParaRPr lang="en-US" sz="1050" dirty="0"/>
          </a:p>
        </p:txBody>
      </p:sp>
      <p:sp>
        <p:nvSpPr>
          <p:cNvPr id="14" name="Text 12"/>
          <p:cNvSpPr/>
          <p:nvPr/>
        </p:nvSpPr>
        <p:spPr>
          <a:xfrm>
            <a:off x="991169" y="2959752"/>
            <a:ext cx="4947221" cy="14436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Department</a:t>
            </a:r>
            <a:endParaRPr lang="en-US" sz="900" dirty="0"/>
          </a:p>
        </p:txBody>
      </p:sp>
      <p:sp>
        <p:nvSpPr>
          <p:cNvPr id="15" name="Text 13"/>
          <p:cNvSpPr/>
          <p:nvPr/>
        </p:nvSpPr>
        <p:spPr>
          <a:xfrm>
            <a:off x="976978" y="3088122"/>
            <a:ext cx="4947221" cy="122734"/>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Department or unit that owns the resource.</a:t>
            </a:r>
            <a:endParaRPr lang="en-US" sz="750" dirty="0"/>
          </a:p>
        </p:txBody>
      </p:sp>
      <p:sp>
        <p:nvSpPr>
          <p:cNvPr id="16" name="Shape 14"/>
          <p:cNvSpPr/>
          <p:nvPr/>
        </p:nvSpPr>
        <p:spPr>
          <a:xfrm>
            <a:off x="725469" y="3322124"/>
            <a:ext cx="220855" cy="220861"/>
          </a:xfrm>
          <a:prstGeom prst="roundRect">
            <a:avLst>
              <a:gd name="adj" fmla="val 6668"/>
            </a:avLst>
          </a:prstGeom>
          <a:solidFill>
            <a:srgbClr val="F3E7D4"/>
          </a:solidFill>
          <a:ln/>
        </p:spPr>
      </p:sp>
      <p:sp>
        <p:nvSpPr>
          <p:cNvPr id="17" name="Text 15"/>
          <p:cNvSpPr/>
          <p:nvPr/>
        </p:nvSpPr>
        <p:spPr>
          <a:xfrm>
            <a:off x="776020" y="3396846"/>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3</a:t>
            </a:r>
            <a:endParaRPr lang="en-US" sz="1050" dirty="0"/>
          </a:p>
        </p:txBody>
      </p:sp>
      <p:sp>
        <p:nvSpPr>
          <p:cNvPr id="18" name="Text 16"/>
          <p:cNvSpPr/>
          <p:nvPr/>
        </p:nvSpPr>
        <p:spPr>
          <a:xfrm>
            <a:off x="980887" y="3315029"/>
            <a:ext cx="4947221" cy="14436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Subject / Topic</a:t>
            </a:r>
            <a:endParaRPr lang="en-US" sz="900" dirty="0"/>
          </a:p>
        </p:txBody>
      </p:sp>
      <p:sp>
        <p:nvSpPr>
          <p:cNvPr id="19" name="Text 17"/>
          <p:cNvSpPr/>
          <p:nvPr/>
        </p:nvSpPr>
        <p:spPr>
          <a:xfrm>
            <a:off x="991169" y="3442226"/>
            <a:ext cx="4947221" cy="122734"/>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Primary subject area, such as Recursion or Databases.</a:t>
            </a:r>
            <a:endParaRPr lang="en-US" sz="750" dirty="0"/>
          </a:p>
        </p:txBody>
      </p:sp>
      <p:sp>
        <p:nvSpPr>
          <p:cNvPr id="20" name="Shape 18"/>
          <p:cNvSpPr/>
          <p:nvPr/>
        </p:nvSpPr>
        <p:spPr>
          <a:xfrm>
            <a:off x="735771" y="3675352"/>
            <a:ext cx="220855" cy="220861"/>
          </a:xfrm>
          <a:prstGeom prst="roundRect">
            <a:avLst>
              <a:gd name="adj" fmla="val 6668"/>
            </a:avLst>
          </a:prstGeom>
          <a:solidFill>
            <a:srgbClr val="F3E7D4"/>
          </a:solidFill>
          <a:ln/>
        </p:spPr>
        <p:txBody>
          <a:bodyPr/>
          <a:lstStyle/>
          <a:p>
            <a:endParaRPr lang="en-US" dirty="0"/>
          </a:p>
        </p:txBody>
      </p:sp>
      <p:sp>
        <p:nvSpPr>
          <p:cNvPr id="21" name="Text 19"/>
          <p:cNvSpPr/>
          <p:nvPr/>
        </p:nvSpPr>
        <p:spPr>
          <a:xfrm>
            <a:off x="755617" y="3681112"/>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4</a:t>
            </a:r>
            <a:endParaRPr lang="en-US" sz="1050" dirty="0"/>
          </a:p>
        </p:txBody>
      </p:sp>
      <p:sp>
        <p:nvSpPr>
          <p:cNvPr id="22" name="Text 20"/>
          <p:cNvSpPr/>
          <p:nvPr/>
        </p:nvSpPr>
        <p:spPr>
          <a:xfrm>
            <a:off x="1012669" y="3662802"/>
            <a:ext cx="4947221" cy="14436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Resource Type</a:t>
            </a:r>
            <a:endParaRPr lang="en-US" sz="900" dirty="0"/>
          </a:p>
        </p:txBody>
      </p:sp>
      <p:sp>
        <p:nvSpPr>
          <p:cNvPr id="23" name="Text 21"/>
          <p:cNvSpPr/>
          <p:nvPr/>
        </p:nvSpPr>
        <p:spPr>
          <a:xfrm>
            <a:off x="1001490" y="3797756"/>
            <a:ext cx="4947221" cy="122734"/>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PDF, DOC/DOCX, text notes, image, notice, timetable, training material, or other authorized resource.</a:t>
            </a:r>
            <a:endParaRPr lang="en-US" sz="750" dirty="0"/>
          </a:p>
        </p:txBody>
      </p:sp>
      <p:sp>
        <p:nvSpPr>
          <p:cNvPr id="24" name="Shape 22"/>
          <p:cNvSpPr/>
          <p:nvPr/>
        </p:nvSpPr>
        <p:spPr>
          <a:xfrm>
            <a:off x="716352" y="3968581"/>
            <a:ext cx="220855" cy="220861"/>
          </a:xfrm>
          <a:prstGeom prst="roundRect">
            <a:avLst>
              <a:gd name="adj" fmla="val 6668"/>
            </a:avLst>
          </a:prstGeom>
          <a:solidFill>
            <a:srgbClr val="F3E7D4"/>
          </a:solidFill>
          <a:ln/>
        </p:spPr>
      </p:sp>
      <p:sp>
        <p:nvSpPr>
          <p:cNvPr id="25" name="Text 23"/>
          <p:cNvSpPr/>
          <p:nvPr/>
        </p:nvSpPr>
        <p:spPr>
          <a:xfrm>
            <a:off x="766593" y="3972661"/>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5</a:t>
            </a:r>
            <a:endParaRPr lang="en-US" sz="1050" dirty="0"/>
          </a:p>
        </p:txBody>
      </p:sp>
      <p:sp>
        <p:nvSpPr>
          <p:cNvPr id="26" name="Text 24"/>
          <p:cNvSpPr/>
          <p:nvPr/>
        </p:nvSpPr>
        <p:spPr>
          <a:xfrm>
            <a:off x="978868" y="3963781"/>
            <a:ext cx="4947221" cy="14436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Source / Owner</a:t>
            </a:r>
            <a:endParaRPr lang="en-US" sz="900" dirty="0"/>
          </a:p>
        </p:txBody>
      </p:sp>
      <p:sp>
        <p:nvSpPr>
          <p:cNvPr id="27" name="Text 25"/>
          <p:cNvSpPr/>
          <p:nvPr/>
        </p:nvSpPr>
        <p:spPr>
          <a:xfrm>
            <a:off x="980887" y="4084637"/>
            <a:ext cx="4947221" cy="122734"/>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Faculty, department office, or other authorized source.</a:t>
            </a:r>
            <a:endParaRPr lang="en-US" sz="750" dirty="0"/>
          </a:p>
        </p:txBody>
      </p:sp>
      <p:sp>
        <p:nvSpPr>
          <p:cNvPr id="28" name="Shape 26"/>
          <p:cNvSpPr/>
          <p:nvPr/>
        </p:nvSpPr>
        <p:spPr>
          <a:xfrm>
            <a:off x="734895" y="4297158"/>
            <a:ext cx="220855" cy="220861"/>
          </a:xfrm>
          <a:prstGeom prst="roundRect">
            <a:avLst>
              <a:gd name="adj" fmla="val 6668"/>
            </a:avLst>
          </a:prstGeom>
          <a:solidFill>
            <a:srgbClr val="F3E7D4"/>
          </a:solidFill>
          <a:ln/>
        </p:spPr>
      </p:sp>
      <p:sp>
        <p:nvSpPr>
          <p:cNvPr id="29" name="Text 27"/>
          <p:cNvSpPr/>
          <p:nvPr/>
        </p:nvSpPr>
        <p:spPr>
          <a:xfrm>
            <a:off x="786653" y="4363833"/>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6</a:t>
            </a:r>
            <a:endParaRPr lang="en-US" sz="1050" dirty="0"/>
          </a:p>
        </p:txBody>
      </p:sp>
      <p:sp>
        <p:nvSpPr>
          <p:cNvPr id="30" name="Text 28"/>
          <p:cNvSpPr/>
          <p:nvPr/>
        </p:nvSpPr>
        <p:spPr>
          <a:xfrm>
            <a:off x="1001490" y="4288333"/>
            <a:ext cx="4947221" cy="31696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Upload Date</a:t>
            </a:r>
            <a:endParaRPr lang="en-US" sz="900" dirty="0"/>
          </a:p>
        </p:txBody>
      </p:sp>
      <p:sp>
        <p:nvSpPr>
          <p:cNvPr id="31" name="Text 29"/>
          <p:cNvSpPr/>
          <p:nvPr/>
        </p:nvSpPr>
        <p:spPr>
          <a:xfrm>
            <a:off x="980887" y="4438790"/>
            <a:ext cx="4947221" cy="122734"/>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When the resource was first added to the system.</a:t>
            </a:r>
            <a:endParaRPr lang="en-US" sz="750" dirty="0"/>
          </a:p>
        </p:txBody>
      </p:sp>
      <p:sp>
        <p:nvSpPr>
          <p:cNvPr id="32" name="Shape 30"/>
          <p:cNvSpPr/>
          <p:nvPr/>
        </p:nvSpPr>
        <p:spPr>
          <a:xfrm>
            <a:off x="715119" y="4678196"/>
            <a:ext cx="220855" cy="220861"/>
          </a:xfrm>
          <a:prstGeom prst="roundRect">
            <a:avLst>
              <a:gd name="adj" fmla="val 6668"/>
            </a:avLst>
          </a:prstGeom>
          <a:solidFill>
            <a:srgbClr val="F3E7D4"/>
          </a:solidFill>
          <a:ln/>
        </p:spPr>
      </p:sp>
      <p:sp>
        <p:nvSpPr>
          <p:cNvPr id="33" name="Text 31"/>
          <p:cNvSpPr/>
          <p:nvPr/>
        </p:nvSpPr>
        <p:spPr>
          <a:xfrm>
            <a:off x="766592" y="4672791"/>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7</a:t>
            </a:r>
            <a:endParaRPr lang="en-US" sz="1050" dirty="0"/>
          </a:p>
        </p:txBody>
      </p:sp>
      <p:sp>
        <p:nvSpPr>
          <p:cNvPr id="34" name="Text 32"/>
          <p:cNvSpPr/>
          <p:nvPr/>
        </p:nvSpPr>
        <p:spPr>
          <a:xfrm>
            <a:off x="1012669" y="4672647"/>
            <a:ext cx="5177123" cy="12949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Last Updated Date</a:t>
            </a:r>
            <a:endParaRPr lang="en-US" sz="900" dirty="0"/>
          </a:p>
        </p:txBody>
      </p:sp>
      <p:sp>
        <p:nvSpPr>
          <p:cNvPr id="35" name="Text 33"/>
          <p:cNvSpPr/>
          <p:nvPr/>
        </p:nvSpPr>
        <p:spPr>
          <a:xfrm>
            <a:off x="1018713" y="4817980"/>
            <a:ext cx="4848717" cy="99655"/>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Most recent modification timestamp.</a:t>
            </a:r>
            <a:endParaRPr lang="en-US" sz="750" dirty="0"/>
          </a:p>
        </p:txBody>
      </p:sp>
      <p:sp>
        <p:nvSpPr>
          <p:cNvPr id="36" name="Shape 34"/>
          <p:cNvSpPr/>
          <p:nvPr/>
        </p:nvSpPr>
        <p:spPr>
          <a:xfrm>
            <a:off x="706918" y="5014827"/>
            <a:ext cx="220855" cy="220861"/>
          </a:xfrm>
          <a:prstGeom prst="roundRect">
            <a:avLst>
              <a:gd name="adj" fmla="val 6668"/>
            </a:avLst>
          </a:prstGeom>
          <a:solidFill>
            <a:srgbClr val="F3E7D4"/>
          </a:solidFill>
          <a:ln/>
        </p:spPr>
      </p:sp>
      <p:sp>
        <p:nvSpPr>
          <p:cNvPr id="37" name="Text 35"/>
          <p:cNvSpPr/>
          <p:nvPr/>
        </p:nvSpPr>
        <p:spPr>
          <a:xfrm>
            <a:off x="756123" y="5028417"/>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8</a:t>
            </a:r>
            <a:endParaRPr lang="en-US" sz="1050" dirty="0"/>
          </a:p>
        </p:txBody>
      </p:sp>
      <p:sp>
        <p:nvSpPr>
          <p:cNvPr id="38" name="Text 36"/>
          <p:cNvSpPr/>
          <p:nvPr/>
        </p:nvSpPr>
        <p:spPr>
          <a:xfrm>
            <a:off x="1104184" y="5045160"/>
            <a:ext cx="4947221" cy="14436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Version</a:t>
            </a:r>
            <a:endParaRPr lang="en-US" sz="900" dirty="0"/>
          </a:p>
        </p:txBody>
      </p:sp>
      <p:sp>
        <p:nvSpPr>
          <p:cNvPr id="39" name="Text 37"/>
          <p:cNvSpPr/>
          <p:nvPr/>
        </p:nvSpPr>
        <p:spPr>
          <a:xfrm>
            <a:off x="1042310" y="5182992"/>
            <a:ext cx="5331287" cy="113655"/>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Version number used to distinguish older and newer revisions.</a:t>
            </a:r>
            <a:endParaRPr lang="en-US" sz="750" dirty="0"/>
          </a:p>
        </p:txBody>
      </p:sp>
      <p:sp>
        <p:nvSpPr>
          <p:cNvPr id="40" name="Shape 38"/>
          <p:cNvSpPr/>
          <p:nvPr/>
        </p:nvSpPr>
        <p:spPr>
          <a:xfrm>
            <a:off x="715119" y="5360891"/>
            <a:ext cx="220855" cy="220861"/>
          </a:xfrm>
          <a:prstGeom prst="roundRect">
            <a:avLst>
              <a:gd name="adj" fmla="val 6668"/>
            </a:avLst>
          </a:prstGeom>
          <a:solidFill>
            <a:srgbClr val="F3E7D4"/>
          </a:solidFill>
          <a:ln/>
        </p:spPr>
      </p:sp>
      <p:sp>
        <p:nvSpPr>
          <p:cNvPr id="41" name="Text 39"/>
          <p:cNvSpPr/>
          <p:nvPr/>
        </p:nvSpPr>
        <p:spPr>
          <a:xfrm>
            <a:off x="743556" y="5417026"/>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9</a:t>
            </a:r>
            <a:endParaRPr lang="en-US" sz="1050" dirty="0"/>
          </a:p>
        </p:txBody>
      </p:sp>
      <p:sp>
        <p:nvSpPr>
          <p:cNvPr id="42" name="Text 40"/>
          <p:cNvSpPr/>
          <p:nvPr/>
        </p:nvSpPr>
        <p:spPr>
          <a:xfrm>
            <a:off x="1082197" y="5355860"/>
            <a:ext cx="4865940" cy="54570"/>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Status / Validity</a:t>
            </a:r>
            <a:endParaRPr lang="en-US" sz="900" dirty="0"/>
          </a:p>
        </p:txBody>
      </p:sp>
      <p:sp>
        <p:nvSpPr>
          <p:cNvPr id="43" name="Text 41"/>
          <p:cNvSpPr/>
          <p:nvPr/>
        </p:nvSpPr>
        <p:spPr>
          <a:xfrm>
            <a:off x="1066037" y="5477409"/>
            <a:ext cx="4865940" cy="112424"/>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Indicates whether the resource is current, superseded, archived, or still valid.</a:t>
            </a:r>
            <a:endParaRPr lang="en-US" sz="750" dirty="0"/>
          </a:p>
        </p:txBody>
      </p:sp>
      <p:sp>
        <p:nvSpPr>
          <p:cNvPr id="44" name="Shape 42"/>
          <p:cNvSpPr/>
          <p:nvPr/>
        </p:nvSpPr>
        <p:spPr>
          <a:xfrm>
            <a:off x="714591" y="5724754"/>
            <a:ext cx="220855" cy="220861"/>
          </a:xfrm>
          <a:prstGeom prst="roundRect">
            <a:avLst>
              <a:gd name="adj" fmla="val 6668"/>
            </a:avLst>
          </a:prstGeom>
          <a:solidFill>
            <a:srgbClr val="F3E7D4"/>
          </a:solidFill>
          <a:ln/>
        </p:spPr>
      </p:sp>
      <p:sp>
        <p:nvSpPr>
          <p:cNvPr id="45" name="Text 43"/>
          <p:cNvSpPr/>
          <p:nvPr/>
        </p:nvSpPr>
        <p:spPr>
          <a:xfrm>
            <a:off x="766591" y="5739278"/>
            <a:ext cx="138605" cy="173236"/>
          </a:xfrm>
          <a:prstGeom prst="rect">
            <a:avLst/>
          </a:prstGeom>
          <a:noFill/>
          <a:ln/>
        </p:spPr>
        <p:txBody>
          <a:bodyPr wrap="none" lIns="0" tIns="0" rIns="0" bIns="0" rtlCol="0" anchor="ctr"/>
          <a:lstStyle/>
          <a:p>
            <a:pPr marL="0" indent="0" algn="ctr">
              <a:lnSpc>
                <a:spcPct val="100000"/>
              </a:lnSpc>
              <a:buNone/>
            </a:pPr>
            <a:r>
              <a:rPr lang="en-US" sz="1050" dirty="0">
                <a:solidFill>
                  <a:srgbClr val="000000"/>
                </a:solidFill>
                <a:latin typeface="Lora" pitchFamily="34" charset="0"/>
                <a:ea typeface="Lora" pitchFamily="34" charset="-122"/>
                <a:cs typeface="Lora" pitchFamily="34" charset="-120"/>
              </a:rPr>
              <a:t>10</a:t>
            </a:r>
            <a:endParaRPr lang="en-US" sz="1050" dirty="0"/>
          </a:p>
        </p:txBody>
      </p:sp>
      <p:sp>
        <p:nvSpPr>
          <p:cNvPr id="46" name="Text 44"/>
          <p:cNvSpPr/>
          <p:nvPr/>
        </p:nvSpPr>
        <p:spPr>
          <a:xfrm>
            <a:off x="1066037" y="5728458"/>
            <a:ext cx="4882672" cy="132953"/>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Lora" pitchFamily="34" charset="0"/>
                <a:ea typeface="Lora" pitchFamily="34" charset="-122"/>
                <a:cs typeface="Lora" pitchFamily="34" charset="-120"/>
              </a:rPr>
              <a:t>Page / Section Reference</a:t>
            </a:r>
            <a:endParaRPr lang="en-US" sz="900" dirty="0"/>
          </a:p>
        </p:txBody>
      </p:sp>
      <p:sp>
        <p:nvSpPr>
          <p:cNvPr id="47" name="Text 45"/>
          <p:cNvSpPr/>
          <p:nvPr/>
        </p:nvSpPr>
        <p:spPr>
          <a:xfrm>
            <a:off x="1059282" y="5862045"/>
            <a:ext cx="4947221" cy="122734"/>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Source Sans 3" pitchFamily="34" charset="0"/>
                <a:ea typeface="Source Sans 3" pitchFamily="34" charset="-122"/>
                <a:cs typeface="Source Sans 3" pitchFamily="34" charset="-120"/>
              </a:rPr>
              <a:t>Tracks the exact page, section, or location within the source.</a:t>
            </a:r>
            <a:endParaRPr lang="en-US" sz="750" dirty="0"/>
          </a:p>
        </p:txBody>
      </p:sp>
      <p:sp>
        <p:nvSpPr>
          <p:cNvPr id="48" name="Text 46"/>
          <p:cNvSpPr/>
          <p:nvPr/>
        </p:nvSpPr>
        <p:spPr>
          <a:xfrm>
            <a:off x="6221951" y="1491853"/>
            <a:ext cx="5278008" cy="144363"/>
          </a:xfrm>
          <a:prstGeom prst="rect">
            <a:avLst/>
          </a:prstGeom>
          <a:noFill/>
          <a:ln/>
        </p:spPr>
        <p:txBody>
          <a:bodyPr wrap="none" lIns="0" tIns="0" rIns="0" bIns="0" rtlCol="0" anchor="t"/>
          <a:lstStyle/>
          <a:p>
            <a:pPr marL="0" indent="0" algn="l">
              <a:lnSpc>
                <a:spcPct val="104000"/>
              </a:lnSpc>
              <a:buNone/>
            </a:pPr>
            <a:r>
              <a:rPr lang="en-US" sz="900" dirty="0">
                <a:solidFill>
                  <a:srgbClr val="38512F"/>
                </a:solidFill>
                <a:latin typeface="Lora" pitchFamily="34" charset="0"/>
                <a:ea typeface="Lora" pitchFamily="34" charset="-122"/>
                <a:cs typeface="Lora" pitchFamily="34" charset="-120"/>
              </a:rPr>
              <a:t>Example: Timetable Revision</a:t>
            </a:r>
            <a:endParaRPr lang="en-US" sz="900" dirty="0"/>
          </a:p>
        </p:txBody>
      </p:sp>
      <p:sp>
        <p:nvSpPr>
          <p:cNvPr id="49" name="Shape 47"/>
          <p:cNvSpPr/>
          <p:nvPr/>
        </p:nvSpPr>
        <p:spPr>
          <a:xfrm>
            <a:off x="6178612" y="2448877"/>
            <a:ext cx="2611372" cy="666651"/>
          </a:xfrm>
          <a:prstGeom prst="roundRect">
            <a:avLst>
              <a:gd name="adj" fmla="val 2209"/>
            </a:avLst>
          </a:prstGeom>
          <a:solidFill>
            <a:srgbClr val="FEF5E7"/>
          </a:solidFill>
          <a:ln w="12700">
            <a:solidFill>
              <a:srgbClr val="D9CDBA"/>
            </a:solidFill>
            <a:prstDash val="solid"/>
          </a:ln>
        </p:spPr>
        <p:txBody>
          <a:bodyPr/>
          <a:lstStyle/>
          <a:p>
            <a:endParaRPr lang="en-US" dirty="0"/>
          </a:p>
        </p:txBody>
      </p:sp>
      <p:sp>
        <p:nvSpPr>
          <p:cNvPr id="50" name="Text 48"/>
          <p:cNvSpPr/>
          <p:nvPr/>
        </p:nvSpPr>
        <p:spPr>
          <a:xfrm>
            <a:off x="6221951" y="2559000"/>
            <a:ext cx="2389723" cy="144363"/>
          </a:xfrm>
          <a:prstGeom prst="rect">
            <a:avLst/>
          </a:prstGeom>
          <a:noFill/>
          <a:ln/>
        </p:spPr>
        <p:txBody>
          <a:bodyPr wrap="none" lIns="0" tIns="0" rIns="0" bIns="0" rtlCol="0" anchor="t"/>
          <a:lstStyle/>
          <a:p>
            <a:pPr marL="0" indent="0" algn="l">
              <a:lnSpc>
                <a:spcPct val="104000"/>
              </a:lnSpc>
              <a:buNone/>
            </a:pPr>
            <a:r>
              <a:rPr lang="en-US" sz="900" dirty="0">
                <a:solidFill>
                  <a:srgbClr val="3A3630"/>
                </a:solidFill>
                <a:latin typeface="Lora" pitchFamily="34" charset="0"/>
                <a:ea typeface="Lora" pitchFamily="34" charset="-122"/>
                <a:cs typeface="Lora" pitchFamily="34" charset="-120"/>
              </a:rPr>
              <a:t>OLD TIMETABLE</a:t>
            </a:r>
            <a:endParaRPr lang="en-US" sz="900" dirty="0"/>
          </a:p>
        </p:txBody>
      </p:sp>
      <p:sp>
        <p:nvSpPr>
          <p:cNvPr id="51" name="Text 49"/>
          <p:cNvSpPr/>
          <p:nvPr/>
        </p:nvSpPr>
        <p:spPr>
          <a:xfrm>
            <a:off x="6243291" y="2760484"/>
            <a:ext cx="2389723" cy="245467"/>
          </a:xfrm>
          <a:prstGeom prst="rect">
            <a:avLst/>
          </a:prstGeom>
          <a:noFill/>
          <a:ln/>
        </p:spPr>
        <p:txBody>
          <a:bodyPr wrap="square" lIns="0" tIns="0" rIns="0" bIns="0" rtlCol="0" anchor="t">
            <a:normAutofit/>
          </a:bodyPr>
          <a:lstStyle/>
          <a:p>
            <a:pPr marL="0" indent="0" algn="l">
              <a:lnSpc>
                <a:spcPct val="104000"/>
              </a:lnSpc>
              <a:buNone/>
            </a:pPr>
            <a:r>
              <a:rPr lang="en-US" sz="750" b="1" dirty="0">
                <a:solidFill>
                  <a:srgbClr val="3A3630"/>
                </a:solidFill>
                <a:latin typeface="Source Sans 3 Bold" pitchFamily="34" charset="0"/>
                <a:ea typeface="Source Sans 3 Bold" pitchFamily="34" charset="-122"/>
                <a:cs typeface="Source Sans 3 Bold" pitchFamily="34" charset="-120"/>
              </a:rPr>
              <a:t>Version 1</a:t>
            </a:r>
            <a:endParaRPr lang="en-US" sz="750" dirty="0"/>
          </a:p>
          <a:p>
            <a:pPr marL="0" indent="0" algn="l">
              <a:lnSpc>
                <a:spcPct val="104000"/>
              </a:lnSpc>
              <a:buNone/>
            </a:pPr>
            <a:r>
              <a:rPr lang="en-US" sz="750" dirty="0">
                <a:solidFill>
                  <a:srgbClr val="3A3630"/>
                </a:solidFill>
                <a:latin typeface="Source Sans 3" pitchFamily="34" charset="0"/>
                <a:ea typeface="Source Sans 3" pitchFamily="34" charset="-122"/>
                <a:cs typeface="Source Sans 3" pitchFamily="34" charset="-120"/>
              </a:rPr>
              <a:t>Uploaded: 20 August</a:t>
            </a:r>
            <a:endParaRPr lang="en-US" sz="750" dirty="0"/>
          </a:p>
        </p:txBody>
      </p:sp>
      <p:sp>
        <p:nvSpPr>
          <p:cNvPr id="52" name="Shape 50"/>
          <p:cNvSpPr/>
          <p:nvPr/>
        </p:nvSpPr>
        <p:spPr>
          <a:xfrm>
            <a:off x="8888488" y="2448877"/>
            <a:ext cx="2611471" cy="666651"/>
          </a:xfrm>
          <a:prstGeom prst="roundRect">
            <a:avLst>
              <a:gd name="adj" fmla="val 2209"/>
            </a:avLst>
          </a:prstGeom>
          <a:solidFill>
            <a:srgbClr val="FEF5E7"/>
          </a:solidFill>
          <a:ln w="12700">
            <a:solidFill>
              <a:srgbClr val="D9CDBA"/>
            </a:solidFill>
            <a:prstDash val="solid"/>
          </a:ln>
        </p:spPr>
      </p:sp>
      <p:sp>
        <p:nvSpPr>
          <p:cNvPr id="53" name="Text 51"/>
          <p:cNvSpPr/>
          <p:nvPr/>
        </p:nvSpPr>
        <p:spPr>
          <a:xfrm>
            <a:off x="8986992" y="2643455"/>
            <a:ext cx="2389822" cy="144363"/>
          </a:xfrm>
          <a:prstGeom prst="rect">
            <a:avLst/>
          </a:prstGeom>
          <a:noFill/>
          <a:ln/>
        </p:spPr>
        <p:txBody>
          <a:bodyPr wrap="none" lIns="0" tIns="0" rIns="0" bIns="0" rtlCol="0" anchor="t"/>
          <a:lstStyle/>
          <a:p>
            <a:pPr marL="0" indent="0" algn="l">
              <a:lnSpc>
                <a:spcPct val="104000"/>
              </a:lnSpc>
              <a:buNone/>
            </a:pPr>
            <a:r>
              <a:rPr lang="en-US" sz="900" dirty="0">
                <a:solidFill>
                  <a:srgbClr val="3A3630"/>
                </a:solidFill>
                <a:latin typeface="Lora" pitchFamily="34" charset="0"/>
                <a:ea typeface="Lora" pitchFamily="34" charset="-122"/>
                <a:cs typeface="Lora" pitchFamily="34" charset="-120"/>
              </a:rPr>
              <a:t>UPDATED TIMETABLE</a:t>
            </a:r>
            <a:endParaRPr lang="en-US" sz="900" dirty="0"/>
          </a:p>
        </p:txBody>
      </p:sp>
      <p:sp>
        <p:nvSpPr>
          <p:cNvPr id="54" name="Text 52"/>
          <p:cNvSpPr/>
          <p:nvPr/>
        </p:nvSpPr>
        <p:spPr>
          <a:xfrm>
            <a:off x="8986992" y="2771186"/>
            <a:ext cx="2389822" cy="245467"/>
          </a:xfrm>
          <a:prstGeom prst="rect">
            <a:avLst/>
          </a:prstGeom>
          <a:noFill/>
          <a:ln/>
        </p:spPr>
        <p:txBody>
          <a:bodyPr wrap="square" lIns="0" tIns="0" rIns="0" bIns="0" rtlCol="0" anchor="t">
            <a:normAutofit/>
          </a:bodyPr>
          <a:lstStyle/>
          <a:p>
            <a:pPr marL="0" indent="0" algn="l">
              <a:lnSpc>
                <a:spcPct val="104000"/>
              </a:lnSpc>
              <a:buNone/>
            </a:pPr>
            <a:r>
              <a:rPr lang="en-US" sz="750" b="1" dirty="0">
                <a:solidFill>
                  <a:srgbClr val="3A3630"/>
                </a:solidFill>
                <a:latin typeface="Source Sans 3 Bold" pitchFamily="34" charset="0"/>
                <a:ea typeface="Source Sans 3 Bold" pitchFamily="34" charset="-122"/>
                <a:cs typeface="Source Sans 3 Bold" pitchFamily="34" charset="-120"/>
              </a:rPr>
              <a:t>Version 2</a:t>
            </a:r>
            <a:endParaRPr lang="en-US" sz="750" dirty="0"/>
          </a:p>
          <a:p>
            <a:pPr marL="0" indent="0" algn="l">
              <a:lnSpc>
                <a:spcPct val="104000"/>
              </a:lnSpc>
              <a:buNone/>
            </a:pPr>
            <a:r>
              <a:rPr lang="en-US" sz="750" dirty="0">
                <a:solidFill>
                  <a:srgbClr val="3A3630"/>
                </a:solidFill>
                <a:latin typeface="Source Sans 3" pitchFamily="34" charset="0"/>
                <a:ea typeface="Source Sans 3" pitchFamily="34" charset="-122"/>
                <a:cs typeface="Source Sans 3" pitchFamily="34" charset="-120"/>
              </a:rPr>
              <a:t>Uploaded: 25 August</a:t>
            </a:r>
            <a:endParaRPr lang="en-US" sz="750" dirty="0"/>
          </a:p>
        </p:txBody>
      </p:sp>
      <p:sp>
        <p:nvSpPr>
          <p:cNvPr id="55" name="Shape 53"/>
          <p:cNvSpPr/>
          <p:nvPr/>
        </p:nvSpPr>
        <p:spPr>
          <a:xfrm>
            <a:off x="6112913" y="3418940"/>
            <a:ext cx="2611372" cy="789384"/>
          </a:xfrm>
          <a:prstGeom prst="roundRect">
            <a:avLst>
              <a:gd name="adj" fmla="val 1866"/>
            </a:avLst>
          </a:prstGeom>
          <a:solidFill>
            <a:srgbClr val="FEF5E7"/>
          </a:solidFill>
          <a:ln w="12700">
            <a:solidFill>
              <a:srgbClr val="D9CDBA"/>
            </a:solidFill>
            <a:prstDash val="solid"/>
          </a:ln>
        </p:spPr>
      </p:sp>
      <p:sp>
        <p:nvSpPr>
          <p:cNvPr id="56" name="Text 54"/>
          <p:cNvSpPr/>
          <p:nvPr/>
        </p:nvSpPr>
        <p:spPr>
          <a:xfrm>
            <a:off x="6243292" y="3649843"/>
            <a:ext cx="2389723" cy="144363"/>
          </a:xfrm>
          <a:prstGeom prst="rect">
            <a:avLst/>
          </a:prstGeom>
          <a:noFill/>
          <a:ln/>
        </p:spPr>
        <p:txBody>
          <a:bodyPr wrap="none" lIns="0" tIns="0" rIns="0" bIns="0" rtlCol="0" anchor="t"/>
          <a:lstStyle/>
          <a:p>
            <a:pPr marL="0" indent="0" algn="l">
              <a:lnSpc>
                <a:spcPct val="104000"/>
              </a:lnSpc>
              <a:buNone/>
            </a:pPr>
            <a:r>
              <a:rPr lang="en-US" sz="900" dirty="0">
                <a:solidFill>
                  <a:srgbClr val="3A3630"/>
                </a:solidFill>
                <a:latin typeface="Lora" pitchFamily="34" charset="0"/>
                <a:ea typeface="Lora" pitchFamily="34" charset="-122"/>
                <a:cs typeface="Lora" pitchFamily="34" charset="-120"/>
              </a:rPr>
              <a:t>Retrieval Priority Rule</a:t>
            </a:r>
            <a:endParaRPr lang="en-US" sz="900" dirty="0"/>
          </a:p>
        </p:txBody>
      </p:sp>
      <p:sp>
        <p:nvSpPr>
          <p:cNvPr id="57" name="Text 55"/>
          <p:cNvSpPr/>
          <p:nvPr/>
        </p:nvSpPr>
        <p:spPr>
          <a:xfrm>
            <a:off x="6243292" y="3807471"/>
            <a:ext cx="2389723" cy="368201"/>
          </a:xfrm>
          <a:prstGeom prst="rect">
            <a:avLst/>
          </a:prstGeom>
          <a:noFill/>
          <a:ln/>
        </p:spPr>
        <p:txBody>
          <a:bodyPr wrap="square" lIns="0" tIns="0" rIns="0" bIns="0" rtlCol="0" anchor="t">
            <a:normAutofit/>
          </a:bodyPr>
          <a:lstStyle/>
          <a:p>
            <a:pPr marL="0" indent="0" algn="l">
              <a:lnSpc>
                <a:spcPct val="104000"/>
              </a:lnSpc>
              <a:buNone/>
            </a:pPr>
            <a:r>
              <a:rPr lang="en-US" sz="750" dirty="0">
                <a:solidFill>
                  <a:srgbClr val="3A3630"/>
                </a:solidFill>
                <a:latin typeface="Source Sans 3" pitchFamily="34" charset="0"/>
                <a:ea typeface="Source Sans 3" pitchFamily="34" charset="-122"/>
                <a:cs typeface="Source Sans 3" pitchFamily="34" charset="-120"/>
              </a:rPr>
              <a:t>Metadata such as </a:t>
            </a:r>
            <a:r>
              <a:rPr lang="en-US" sz="750" b="1" dirty="0">
                <a:solidFill>
                  <a:srgbClr val="3A3630"/>
                </a:solidFill>
                <a:latin typeface="Source Sans 3 Bold" pitchFamily="34" charset="0"/>
                <a:ea typeface="Source Sans 3 Bold" pitchFamily="34" charset="-122"/>
                <a:cs typeface="Source Sans 3 Bold" pitchFamily="34" charset="-120"/>
              </a:rPr>
              <a:t>timestamp</a:t>
            </a:r>
            <a:r>
              <a:rPr lang="en-US" sz="750" dirty="0">
                <a:solidFill>
                  <a:srgbClr val="3A3630"/>
                </a:solidFill>
                <a:latin typeface="Source Sans 3" pitchFamily="34" charset="0"/>
                <a:ea typeface="Source Sans 3" pitchFamily="34" charset="-122"/>
                <a:cs typeface="Source Sans 3" pitchFamily="34" charset="-120"/>
              </a:rPr>
              <a:t>, </a:t>
            </a:r>
            <a:r>
              <a:rPr lang="en-US" sz="750" b="1" dirty="0">
                <a:solidFill>
                  <a:srgbClr val="3A3630"/>
                </a:solidFill>
                <a:latin typeface="Source Sans 3 Bold" pitchFamily="34" charset="0"/>
                <a:ea typeface="Source Sans 3 Bold" pitchFamily="34" charset="-122"/>
                <a:cs typeface="Source Sans 3 Bold" pitchFamily="34" charset="-120"/>
              </a:rPr>
              <a:t>version</a:t>
            </a:r>
            <a:r>
              <a:rPr lang="en-US" sz="750" dirty="0">
                <a:solidFill>
                  <a:srgbClr val="3A3630"/>
                </a:solidFill>
                <a:latin typeface="Source Sans 3" pitchFamily="34" charset="0"/>
                <a:ea typeface="Source Sans 3" pitchFamily="34" charset="-122"/>
                <a:cs typeface="Source Sans 3" pitchFamily="34" charset="-120"/>
              </a:rPr>
              <a:t>, and </a:t>
            </a:r>
            <a:r>
              <a:rPr lang="en-US" sz="750" b="1" dirty="0">
                <a:solidFill>
                  <a:srgbClr val="3A3630"/>
                </a:solidFill>
                <a:latin typeface="Source Sans 3 Bold" pitchFamily="34" charset="0"/>
                <a:ea typeface="Source Sans 3 Bold" pitchFamily="34" charset="-122"/>
                <a:cs typeface="Source Sans 3 Bold" pitchFamily="34" charset="-120"/>
              </a:rPr>
              <a:t>authorized source</a:t>
            </a:r>
            <a:r>
              <a:rPr lang="en-US" sz="750" dirty="0">
                <a:solidFill>
                  <a:srgbClr val="3A3630"/>
                </a:solidFill>
                <a:latin typeface="Source Sans 3" pitchFamily="34" charset="0"/>
                <a:ea typeface="Source Sans 3" pitchFamily="34" charset="-122"/>
                <a:cs typeface="Source Sans 3" pitchFamily="34" charset="-120"/>
              </a:rPr>
              <a:t> helps prioritize the latest valid and authoritative resource.</a:t>
            </a:r>
            <a:endParaRPr lang="en-US" sz="750" dirty="0"/>
          </a:p>
        </p:txBody>
      </p:sp>
      <p:sp>
        <p:nvSpPr>
          <p:cNvPr id="58" name="Shape 56"/>
          <p:cNvSpPr/>
          <p:nvPr/>
        </p:nvSpPr>
        <p:spPr>
          <a:xfrm>
            <a:off x="8888488" y="3394712"/>
            <a:ext cx="2611471" cy="789384"/>
          </a:xfrm>
          <a:prstGeom prst="roundRect">
            <a:avLst>
              <a:gd name="adj" fmla="val 1866"/>
            </a:avLst>
          </a:prstGeom>
          <a:solidFill>
            <a:srgbClr val="FEF5E7"/>
          </a:solidFill>
          <a:ln w="12700">
            <a:solidFill>
              <a:srgbClr val="D9CDBA"/>
            </a:solidFill>
            <a:prstDash val="solid"/>
          </a:ln>
        </p:spPr>
      </p:sp>
      <p:sp>
        <p:nvSpPr>
          <p:cNvPr id="59" name="Text 57"/>
          <p:cNvSpPr/>
          <p:nvPr/>
        </p:nvSpPr>
        <p:spPr>
          <a:xfrm>
            <a:off x="8999312" y="3597771"/>
            <a:ext cx="2389822" cy="144363"/>
          </a:xfrm>
          <a:prstGeom prst="rect">
            <a:avLst/>
          </a:prstGeom>
          <a:noFill/>
          <a:ln/>
        </p:spPr>
        <p:txBody>
          <a:bodyPr wrap="none" lIns="0" tIns="0" rIns="0" bIns="0" rtlCol="0" anchor="t"/>
          <a:lstStyle/>
          <a:p>
            <a:pPr marL="0" indent="0" algn="l">
              <a:lnSpc>
                <a:spcPct val="104000"/>
              </a:lnSpc>
              <a:buNone/>
            </a:pPr>
            <a:r>
              <a:rPr lang="en-US" sz="900" dirty="0">
                <a:solidFill>
                  <a:srgbClr val="3A3630"/>
                </a:solidFill>
                <a:latin typeface="Lora" pitchFamily="34" charset="0"/>
                <a:ea typeface="Lora" pitchFamily="34" charset="-122"/>
                <a:cs typeface="Lora" pitchFamily="34" charset="-120"/>
              </a:rPr>
              <a:t>Resulting Behavior</a:t>
            </a:r>
            <a:endParaRPr lang="en-US" sz="900" dirty="0"/>
          </a:p>
        </p:txBody>
      </p:sp>
      <p:sp>
        <p:nvSpPr>
          <p:cNvPr id="60" name="Text 58"/>
          <p:cNvSpPr/>
          <p:nvPr/>
        </p:nvSpPr>
        <p:spPr>
          <a:xfrm>
            <a:off x="8999312" y="3890912"/>
            <a:ext cx="2389822" cy="245467"/>
          </a:xfrm>
          <a:prstGeom prst="rect">
            <a:avLst/>
          </a:prstGeom>
          <a:noFill/>
          <a:ln/>
        </p:spPr>
        <p:txBody>
          <a:bodyPr wrap="square" lIns="0" tIns="0" rIns="0" bIns="0" rtlCol="0" anchor="t">
            <a:normAutofit/>
          </a:bodyPr>
          <a:lstStyle/>
          <a:p>
            <a:pPr marL="0" indent="0" algn="l">
              <a:lnSpc>
                <a:spcPct val="104000"/>
              </a:lnSpc>
              <a:buNone/>
            </a:pPr>
            <a:r>
              <a:rPr lang="en-US" sz="750" dirty="0">
                <a:solidFill>
                  <a:srgbClr val="3A3630"/>
                </a:solidFill>
                <a:latin typeface="Source Sans 3" pitchFamily="34" charset="0"/>
                <a:ea typeface="Source Sans 3" pitchFamily="34" charset="-122"/>
                <a:cs typeface="Source Sans 3" pitchFamily="34" charset="-120"/>
              </a:rPr>
              <a:t>If both timetable versions exist, the system should prefer Version 2 because it is newer and more authoritative.</a:t>
            </a:r>
            <a:endParaRPr lang="en-US" sz="750" dirty="0"/>
          </a:p>
        </p:txBody>
      </p:sp>
      <p:sp>
        <p:nvSpPr>
          <p:cNvPr id="61" name="Text 59"/>
          <p:cNvSpPr/>
          <p:nvPr/>
        </p:nvSpPr>
        <p:spPr>
          <a:xfrm>
            <a:off x="6243292" y="4511220"/>
            <a:ext cx="5278008" cy="245467"/>
          </a:xfrm>
          <a:prstGeom prst="rect">
            <a:avLst/>
          </a:prstGeom>
          <a:noFill/>
          <a:ln/>
        </p:spPr>
        <p:txBody>
          <a:bodyPr wrap="square" lIns="0" tIns="0" rIns="0" bIns="0" rtlCol="0" anchor="t">
            <a:normAutofit/>
          </a:bodyPr>
          <a:lstStyle/>
          <a:p>
            <a:pPr marL="0" indent="0" algn="l">
              <a:lnSpc>
                <a:spcPct val="104000"/>
              </a:lnSpc>
              <a:buNone/>
            </a:pPr>
            <a:r>
              <a:rPr lang="en-US" sz="750" i="1" dirty="0">
                <a:solidFill>
                  <a:srgbClr val="3A3630"/>
                </a:solidFill>
                <a:latin typeface="Source Sans 3" pitchFamily="34" charset="0"/>
                <a:ea typeface="Source Sans 3" pitchFamily="34" charset="-122"/>
                <a:cs typeface="Source Sans 3" pitchFamily="34" charset="-120"/>
              </a:rPr>
              <a:t>Proposed, not yet implemented: metadata-aware ranking should help identify the most current trusted resource before generating an answer.</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533896"/>
            <a:ext cx="10795524" cy="328910"/>
          </a:xfrm>
          <a:prstGeom prst="rect">
            <a:avLst/>
          </a:prstGeom>
          <a:noFill/>
          <a:ln/>
        </p:spPr>
        <p:txBody>
          <a:bodyPr wrap="none" lIns="0" tIns="0" rIns="0" bIns="0" rtlCol="0" anchor="t"/>
          <a:lstStyle/>
          <a:p>
            <a:pPr marL="0" indent="0" algn="l">
              <a:lnSpc>
                <a:spcPct val="104000"/>
              </a:lnSpc>
              <a:buNone/>
            </a:pPr>
            <a:r>
              <a:rPr lang="en-US" sz="2050" dirty="0">
                <a:solidFill>
                  <a:srgbClr val="38512F"/>
                </a:solidFill>
                <a:latin typeface="Lora" pitchFamily="34" charset="0"/>
                <a:ea typeface="Lora" pitchFamily="34" charset="-122"/>
                <a:cs typeface="Lora" pitchFamily="34" charset="-120"/>
              </a:rPr>
              <a:t>Core Features + Differentiation</a:t>
            </a:r>
            <a:endParaRPr lang="en-US" sz="2050" dirty="0"/>
          </a:p>
        </p:txBody>
      </p:sp>
      <p:sp>
        <p:nvSpPr>
          <p:cNvPr id="3" name="Shape 1"/>
          <p:cNvSpPr/>
          <p:nvPr/>
        </p:nvSpPr>
        <p:spPr>
          <a:xfrm>
            <a:off x="586169" y="1897908"/>
            <a:ext cx="2950034" cy="2149509"/>
          </a:xfrm>
          <a:prstGeom prst="roundRect">
            <a:avLst>
              <a:gd name="adj" fmla="val 706"/>
            </a:avLst>
          </a:prstGeom>
          <a:solidFill>
            <a:srgbClr val="F3E7D4"/>
          </a:solidFill>
          <a:ln/>
        </p:spPr>
      </p:sp>
      <p:sp>
        <p:nvSpPr>
          <p:cNvPr id="4" name="Shape 2"/>
          <p:cNvSpPr/>
          <p:nvPr/>
        </p:nvSpPr>
        <p:spPr>
          <a:xfrm>
            <a:off x="642177" y="2161171"/>
            <a:ext cx="335450" cy="335459"/>
          </a:xfrm>
          <a:prstGeom prst="ellipse">
            <a:avLst/>
          </a:prstGeom>
          <a:solidFill>
            <a:srgbClr val="38512F"/>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448" y="2267147"/>
            <a:ext cx="150908" cy="150912"/>
          </a:xfrm>
          <a:prstGeom prst="rect">
            <a:avLst/>
          </a:prstGeom>
        </p:spPr>
      </p:pic>
      <p:sp>
        <p:nvSpPr>
          <p:cNvPr id="6" name="Text 3"/>
          <p:cNvSpPr/>
          <p:nvPr/>
        </p:nvSpPr>
        <p:spPr>
          <a:xfrm>
            <a:off x="688823" y="2660099"/>
            <a:ext cx="3327118" cy="164405"/>
          </a:xfrm>
          <a:prstGeom prst="rect">
            <a:avLst/>
          </a:prstGeom>
          <a:noFill/>
          <a:ln/>
        </p:spPr>
        <p:txBody>
          <a:bodyPr wrap="none" lIns="0" tIns="0" rIns="0" bIns="0" rtlCol="0" anchor="t"/>
          <a:lstStyle/>
          <a:p>
            <a:pPr marL="0" indent="0" algn="l">
              <a:lnSpc>
                <a:spcPct val="104000"/>
              </a:lnSpc>
              <a:buNone/>
            </a:pPr>
            <a:r>
              <a:rPr lang="en-US" sz="1000" dirty="0">
                <a:solidFill>
                  <a:srgbClr val="3A3630"/>
                </a:solidFill>
                <a:latin typeface="Lora" pitchFamily="34" charset="0"/>
                <a:ea typeface="Lora" pitchFamily="34" charset="-122"/>
                <a:cs typeface="Lora" pitchFamily="34" charset="-120"/>
              </a:rPr>
              <a:t>Multimodal Data</a:t>
            </a:r>
            <a:endParaRPr lang="en-US" sz="1000" dirty="0"/>
          </a:p>
        </p:txBody>
      </p:sp>
      <p:sp>
        <p:nvSpPr>
          <p:cNvPr id="7" name="Text 4"/>
          <p:cNvSpPr/>
          <p:nvPr/>
        </p:nvSpPr>
        <p:spPr>
          <a:xfrm>
            <a:off x="688823" y="2541248"/>
            <a:ext cx="3327118" cy="146745"/>
          </a:xfrm>
          <a:prstGeom prst="rect">
            <a:avLst/>
          </a:prstGeom>
          <a:noFill/>
          <a:ln/>
        </p:spPr>
        <p:txBody>
          <a:bodyPr wrap="none" lIns="0" tIns="0" rIns="0" bIns="0" rtlCol="0" anchor="t"/>
          <a:lstStyle/>
          <a:p>
            <a:pPr marL="0" indent="0" algn="l">
              <a:lnSpc>
                <a:spcPct val="109000"/>
              </a:lnSpc>
              <a:buNone/>
            </a:pPr>
            <a:r>
              <a:rPr lang="en-US" sz="850" dirty="0">
                <a:solidFill>
                  <a:srgbClr val="3A3630"/>
                </a:solidFill>
                <a:latin typeface="Source Sans 3" pitchFamily="34" charset="0"/>
                <a:ea typeface="Source Sans 3" pitchFamily="34" charset="-122"/>
                <a:cs typeface="Source Sans 3" pitchFamily="34" charset="-120"/>
              </a:rPr>
              <a:t>Department information exists in different formats:</a:t>
            </a:r>
            <a:endParaRPr lang="en-US" sz="850" dirty="0"/>
          </a:p>
        </p:txBody>
      </p:sp>
      <p:sp>
        <p:nvSpPr>
          <p:cNvPr id="8" name="Text 5"/>
          <p:cNvSpPr/>
          <p:nvPr/>
        </p:nvSpPr>
        <p:spPr>
          <a:xfrm>
            <a:off x="809902" y="2809499"/>
            <a:ext cx="3327118" cy="1005483"/>
          </a:xfrm>
          <a:prstGeom prst="rect">
            <a:avLst/>
          </a:prstGeom>
          <a:noFill/>
          <a:ln/>
        </p:spPr>
        <p:txBody>
          <a:bodyPr wrap="square" lIns="0" tIns="44727" rIns="0" bIns="0" rtlCol="0" anchor="t">
            <a:normAutofit/>
          </a:bodyPr>
          <a:lstStyle/>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PDFs</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DOCX/text notes</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Images</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Notices</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Timetables</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Training material</a:t>
            </a:r>
            <a:endParaRPr lang="en-US" sz="850" dirty="0"/>
          </a:p>
        </p:txBody>
      </p:sp>
      <p:sp>
        <p:nvSpPr>
          <p:cNvPr id="9" name="Shape 6"/>
          <p:cNvSpPr/>
          <p:nvPr/>
        </p:nvSpPr>
        <p:spPr>
          <a:xfrm>
            <a:off x="4243904" y="1926284"/>
            <a:ext cx="2950034" cy="2149509"/>
          </a:xfrm>
          <a:prstGeom prst="roundRect">
            <a:avLst>
              <a:gd name="adj" fmla="val 706"/>
            </a:avLst>
          </a:prstGeom>
          <a:solidFill>
            <a:srgbClr val="F3E7D4"/>
          </a:solidFill>
          <a:ln/>
        </p:spPr>
      </p:sp>
      <p:sp>
        <p:nvSpPr>
          <p:cNvPr id="10" name="Shape 7"/>
          <p:cNvSpPr/>
          <p:nvPr/>
        </p:nvSpPr>
        <p:spPr>
          <a:xfrm>
            <a:off x="4441025" y="2106348"/>
            <a:ext cx="335450" cy="335459"/>
          </a:xfrm>
          <a:prstGeom prst="ellipse">
            <a:avLst/>
          </a:prstGeom>
          <a:solidFill>
            <a:srgbClr val="38512F"/>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33296" y="2215930"/>
            <a:ext cx="150908" cy="150912"/>
          </a:xfrm>
          <a:prstGeom prst="rect">
            <a:avLst/>
          </a:prstGeom>
        </p:spPr>
      </p:pic>
      <p:sp>
        <p:nvSpPr>
          <p:cNvPr id="12" name="Text 8"/>
          <p:cNvSpPr/>
          <p:nvPr/>
        </p:nvSpPr>
        <p:spPr>
          <a:xfrm>
            <a:off x="4264463" y="2541248"/>
            <a:ext cx="3327218" cy="164405"/>
          </a:xfrm>
          <a:prstGeom prst="rect">
            <a:avLst/>
          </a:prstGeom>
          <a:noFill/>
          <a:ln/>
        </p:spPr>
        <p:txBody>
          <a:bodyPr wrap="none" lIns="0" tIns="0" rIns="0" bIns="0" rtlCol="0" anchor="t"/>
          <a:lstStyle/>
          <a:p>
            <a:pPr marL="0" indent="0" algn="l">
              <a:lnSpc>
                <a:spcPct val="104000"/>
              </a:lnSpc>
              <a:buNone/>
            </a:pPr>
            <a:r>
              <a:rPr lang="en-US" sz="1000" dirty="0">
                <a:solidFill>
                  <a:srgbClr val="3A3630"/>
                </a:solidFill>
                <a:latin typeface="Lora" pitchFamily="34" charset="0"/>
                <a:ea typeface="Lora" pitchFamily="34" charset="-122"/>
                <a:cs typeface="Lora" pitchFamily="34" charset="-120"/>
              </a:rPr>
              <a:t>Chunking</a:t>
            </a:r>
            <a:endParaRPr lang="en-US" sz="1000" dirty="0"/>
          </a:p>
        </p:txBody>
      </p:sp>
      <p:sp>
        <p:nvSpPr>
          <p:cNvPr id="13" name="Text 9"/>
          <p:cNvSpPr/>
          <p:nvPr/>
        </p:nvSpPr>
        <p:spPr>
          <a:xfrm>
            <a:off x="4264463" y="2843609"/>
            <a:ext cx="2838117" cy="215658"/>
          </a:xfrm>
          <a:prstGeom prst="rect">
            <a:avLst/>
          </a:prstGeom>
          <a:noFill/>
          <a:ln/>
        </p:spPr>
        <p:txBody>
          <a:bodyPr wrap="square" lIns="0" tIns="0" rIns="0" bIns="0" rtlCol="0" anchor="t">
            <a:normAutofit fontScale="85000" lnSpcReduction="10000"/>
          </a:bodyPr>
          <a:lstStyle/>
          <a:p>
            <a:pPr marL="0" indent="0" algn="l">
              <a:lnSpc>
                <a:spcPct val="109000"/>
              </a:lnSpc>
              <a:buNone/>
            </a:pPr>
            <a:r>
              <a:rPr lang="en-US" sz="850" dirty="0">
                <a:solidFill>
                  <a:srgbClr val="3A3630"/>
                </a:solidFill>
                <a:latin typeface="Source Sans 3" pitchFamily="34" charset="0"/>
                <a:ea typeface="Source Sans 3" pitchFamily="34" charset="-122"/>
                <a:cs typeface="Source Sans 3" pitchFamily="34" charset="-120"/>
              </a:rPr>
              <a:t>Large documents are divided into smaller meaningful sections so relevant information can be retrieved efficiently.</a:t>
            </a:r>
            <a:endParaRPr lang="en-US" sz="850" dirty="0"/>
          </a:p>
        </p:txBody>
      </p:sp>
      <p:sp>
        <p:nvSpPr>
          <p:cNvPr id="14" name="Shape 10"/>
          <p:cNvSpPr/>
          <p:nvPr/>
        </p:nvSpPr>
        <p:spPr>
          <a:xfrm>
            <a:off x="7551021" y="1900288"/>
            <a:ext cx="2796927" cy="2121757"/>
          </a:xfrm>
          <a:prstGeom prst="roundRect">
            <a:avLst>
              <a:gd name="adj" fmla="val 706"/>
            </a:avLst>
          </a:prstGeom>
          <a:solidFill>
            <a:srgbClr val="F3E7D4"/>
          </a:solidFill>
          <a:ln/>
        </p:spPr>
      </p:sp>
      <p:sp>
        <p:nvSpPr>
          <p:cNvPr id="15" name="Shape 11"/>
          <p:cNvSpPr/>
          <p:nvPr/>
        </p:nvSpPr>
        <p:spPr>
          <a:xfrm>
            <a:off x="7812580" y="2049919"/>
            <a:ext cx="335450" cy="335459"/>
          </a:xfrm>
          <a:prstGeom prst="ellipse">
            <a:avLst/>
          </a:prstGeom>
          <a:solidFill>
            <a:srgbClr val="38512F"/>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04851" y="2168875"/>
            <a:ext cx="150908" cy="150912"/>
          </a:xfrm>
          <a:prstGeom prst="rect">
            <a:avLst/>
          </a:prstGeom>
        </p:spPr>
      </p:pic>
      <p:sp>
        <p:nvSpPr>
          <p:cNvPr id="17" name="Text 12"/>
          <p:cNvSpPr/>
          <p:nvPr/>
        </p:nvSpPr>
        <p:spPr>
          <a:xfrm>
            <a:off x="7612240" y="2529835"/>
            <a:ext cx="3327118" cy="164405"/>
          </a:xfrm>
          <a:prstGeom prst="rect">
            <a:avLst/>
          </a:prstGeom>
          <a:noFill/>
          <a:ln/>
        </p:spPr>
        <p:txBody>
          <a:bodyPr wrap="none" lIns="0" tIns="0" rIns="0" bIns="0" rtlCol="0" anchor="t"/>
          <a:lstStyle/>
          <a:p>
            <a:pPr marL="0" indent="0" algn="l">
              <a:lnSpc>
                <a:spcPct val="104000"/>
              </a:lnSpc>
              <a:buNone/>
            </a:pPr>
            <a:r>
              <a:rPr lang="en-US" sz="1000" dirty="0">
                <a:solidFill>
                  <a:srgbClr val="3A3630"/>
                </a:solidFill>
                <a:latin typeface="Lora" pitchFamily="34" charset="0"/>
                <a:ea typeface="Lora" pitchFamily="34" charset="-122"/>
                <a:cs typeface="Lora" pitchFamily="34" charset="-120"/>
              </a:rPr>
              <a:t>Metadata</a:t>
            </a:r>
            <a:endParaRPr lang="en-US" sz="1000" dirty="0"/>
          </a:p>
        </p:txBody>
      </p:sp>
      <p:sp>
        <p:nvSpPr>
          <p:cNvPr id="18" name="Text 13"/>
          <p:cNvSpPr/>
          <p:nvPr/>
        </p:nvSpPr>
        <p:spPr>
          <a:xfrm>
            <a:off x="7591681" y="2714328"/>
            <a:ext cx="3327118" cy="146745"/>
          </a:xfrm>
          <a:prstGeom prst="rect">
            <a:avLst/>
          </a:prstGeom>
          <a:noFill/>
          <a:ln/>
        </p:spPr>
        <p:txBody>
          <a:bodyPr wrap="none" lIns="0" tIns="0" rIns="0" bIns="0" rtlCol="0" anchor="t"/>
          <a:lstStyle/>
          <a:p>
            <a:pPr marL="0" indent="0" algn="l">
              <a:lnSpc>
                <a:spcPct val="109000"/>
              </a:lnSpc>
              <a:buNone/>
            </a:pPr>
            <a:r>
              <a:rPr lang="en-US" sz="850" dirty="0">
                <a:solidFill>
                  <a:srgbClr val="3A3630"/>
                </a:solidFill>
                <a:latin typeface="Source Sans 3" pitchFamily="34" charset="0"/>
                <a:ea typeface="Source Sans 3" pitchFamily="34" charset="-122"/>
                <a:cs typeface="Source Sans 3" pitchFamily="34" charset="-120"/>
              </a:rPr>
              <a:t>Each resource can store:</a:t>
            </a:r>
            <a:endParaRPr lang="en-US" sz="850" dirty="0"/>
          </a:p>
        </p:txBody>
      </p:sp>
      <p:sp>
        <p:nvSpPr>
          <p:cNvPr id="19" name="Text 14"/>
          <p:cNvSpPr/>
          <p:nvPr/>
        </p:nvSpPr>
        <p:spPr>
          <a:xfrm>
            <a:off x="7927650" y="2777876"/>
            <a:ext cx="3327118" cy="1348978"/>
          </a:xfrm>
          <a:prstGeom prst="rect">
            <a:avLst/>
          </a:prstGeom>
          <a:noFill/>
          <a:ln/>
        </p:spPr>
        <p:txBody>
          <a:bodyPr wrap="square" lIns="0" tIns="44727" rIns="0" bIns="0" rtlCol="0" anchor="t">
            <a:normAutofit/>
          </a:bodyPr>
          <a:lstStyle/>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Department</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Subject/topic</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Resource type</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Source/owner</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Upload date</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Last updated date</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Version</a:t>
            </a:r>
            <a:endParaRPr lang="en-US" sz="850" dirty="0"/>
          </a:p>
          <a:p>
            <a:pPr marL="172720" indent="-172720" algn="l">
              <a:lnSpc>
                <a:spcPct val="109000"/>
              </a:lnSpc>
              <a:buSzPct val="100000"/>
              <a:buChar char="•"/>
            </a:pPr>
            <a:r>
              <a:rPr lang="en-US" sz="850" dirty="0">
                <a:solidFill>
                  <a:srgbClr val="3A3630"/>
                </a:solidFill>
                <a:latin typeface="Source Sans 3" pitchFamily="34" charset="0"/>
                <a:ea typeface="Source Sans 3" pitchFamily="34" charset="-122"/>
                <a:cs typeface="Source Sans 3" pitchFamily="34" charset="-120"/>
              </a:rPr>
              <a:t>Status/validity</a:t>
            </a:r>
            <a:endParaRPr lang="en-US" sz="850" dirty="0"/>
          </a:p>
        </p:txBody>
      </p:sp>
      <p:sp>
        <p:nvSpPr>
          <p:cNvPr id="20" name="Text 15"/>
          <p:cNvSpPr/>
          <p:nvPr/>
        </p:nvSpPr>
        <p:spPr>
          <a:xfrm>
            <a:off x="698086" y="4047418"/>
            <a:ext cx="10795524" cy="263029"/>
          </a:xfrm>
          <a:prstGeom prst="rect">
            <a:avLst/>
          </a:prstGeom>
          <a:noFill/>
          <a:ln/>
        </p:spPr>
        <p:txBody>
          <a:bodyPr wrap="none" lIns="0" tIns="0" rIns="0" bIns="0" rtlCol="0" anchor="t"/>
          <a:lstStyle/>
          <a:p>
            <a:pPr marL="0" indent="0" algn="l">
              <a:lnSpc>
                <a:spcPct val="104000"/>
              </a:lnSpc>
              <a:buNone/>
            </a:pPr>
            <a:r>
              <a:rPr lang="en-US" sz="1650" dirty="0">
                <a:solidFill>
                  <a:srgbClr val="38512F"/>
                </a:solidFill>
                <a:latin typeface="Lora" pitchFamily="34" charset="0"/>
                <a:ea typeface="Lora" pitchFamily="34" charset="-122"/>
                <a:cs typeface="Lora" pitchFamily="34" charset="-120"/>
              </a:rPr>
              <a:t>Core Features</a:t>
            </a:r>
            <a:endParaRPr lang="en-US" sz="1650" dirty="0"/>
          </a:p>
        </p:txBody>
      </p:sp>
      <p:sp>
        <p:nvSpPr>
          <p:cNvPr id="21" name="Text 16"/>
          <p:cNvSpPr/>
          <p:nvPr/>
        </p:nvSpPr>
        <p:spPr>
          <a:xfrm>
            <a:off x="697986" y="4356112"/>
            <a:ext cx="10795524" cy="1692473"/>
          </a:xfrm>
          <a:prstGeom prst="rect">
            <a:avLst/>
          </a:prstGeom>
          <a:noFill/>
          <a:ln/>
        </p:spPr>
        <p:txBody>
          <a:bodyPr wrap="square" lIns="0" tIns="0" rIns="0" bIns="0" rtlCol="0" anchor="t">
            <a:normAutofit/>
          </a:bodyPr>
          <a:lstStyle/>
          <a:p>
            <a:pPr marL="172720" indent="-172720" algn="l">
              <a:lnSpc>
                <a:spcPct val="109000"/>
              </a:lnSpc>
              <a:buSzPct val="100000"/>
              <a:buFont typeface="+mj-lt"/>
              <a:buAutoNum type="arabicPeriod"/>
            </a:pPr>
            <a:r>
              <a:rPr lang="en-US" sz="850" dirty="0">
                <a:solidFill>
                  <a:srgbClr val="3A3630"/>
                </a:solidFill>
                <a:latin typeface="Source Sans 3" pitchFamily="34" charset="0"/>
                <a:ea typeface="Source Sans 3" pitchFamily="34" charset="-122"/>
                <a:cs typeface="Source Sans 3" pitchFamily="34" charset="-120"/>
              </a:rPr>
              <a:t>Natural Language Search</a:t>
            </a:r>
            <a:endParaRPr lang="en-US" sz="850" dirty="0"/>
          </a:p>
          <a:p>
            <a:pPr marL="172720" indent="-172720" algn="l">
              <a:lnSpc>
                <a:spcPct val="109000"/>
              </a:lnSpc>
              <a:buSzPct val="100000"/>
              <a:buFont typeface="+mj-lt"/>
              <a:buAutoNum type="arabicPeriod" startAt="2"/>
            </a:pPr>
            <a:r>
              <a:rPr lang="en-US" sz="850" dirty="0">
                <a:solidFill>
                  <a:srgbClr val="3A3630"/>
                </a:solidFill>
                <a:latin typeface="Source Sans 3" pitchFamily="34" charset="0"/>
                <a:ea typeface="Source Sans 3" pitchFamily="34" charset="-122"/>
                <a:cs typeface="Source Sans 3" pitchFamily="34" charset="-120"/>
              </a:rPr>
              <a:t>Semantic Search</a:t>
            </a:r>
            <a:endParaRPr lang="en-US" sz="850" dirty="0"/>
          </a:p>
          <a:p>
            <a:pPr marL="172720" indent="-172720" algn="l">
              <a:lnSpc>
                <a:spcPct val="109000"/>
              </a:lnSpc>
              <a:buSzPct val="100000"/>
              <a:buFont typeface="+mj-lt"/>
              <a:buAutoNum type="arabicPeriod" startAt="3"/>
            </a:pPr>
            <a:r>
              <a:rPr lang="en-US" sz="850" dirty="0">
                <a:solidFill>
                  <a:srgbClr val="3A3630"/>
                </a:solidFill>
                <a:latin typeface="Source Sans 3" pitchFamily="34" charset="0"/>
                <a:ea typeface="Source Sans 3" pitchFamily="34" charset="-122"/>
                <a:cs typeface="Source Sans 3" pitchFamily="34" charset="-120"/>
              </a:rPr>
              <a:t>RAG-based Question Answering</a:t>
            </a:r>
            <a:endParaRPr lang="en-US" sz="850" dirty="0"/>
          </a:p>
          <a:p>
            <a:pPr marL="172720" indent="-172720" algn="l">
              <a:lnSpc>
                <a:spcPct val="109000"/>
              </a:lnSpc>
              <a:buSzPct val="100000"/>
              <a:buFont typeface="+mj-lt"/>
              <a:buAutoNum type="arabicPeriod" startAt="4"/>
            </a:pPr>
            <a:r>
              <a:rPr lang="en-US" sz="850" dirty="0">
                <a:solidFill>
                  <a:srgbClr val="3A3630"/>
                </a:solidFill>
                <a:latin typeface="Source Sans 3" pitchFamily="34" charset="0"/>
                <a:ea typeface="Source Sans 3" pitchFamily="34" charset="-122"/>
                <a:cs typeface="Source Sans 3" pitchFamily="34" charset="-120"/>
              </a:rPr>
              <a:t>Centralized Department Resources</a:t>
            </a:r>
            <a:endParaRPr lang="en-US" sz="850" dirty="0"/>
          </a:p>
          <a:p>
            <a:pPr marL="172720" indent="-172720" algn="l">
              <a:lnSpc>
                <a:spcPct val="109000"/>
              </a:lnSpc>
              <a:buSzPct val="100000"/>
              <a:buFont typeface="+mj-lt"/>
              <a:buAutoNum type="arabicPeriod" startAt="5"/>
            </a:pPr>
            <a:r>
              <a:rPr lang="en-US" sz="850" dirty="0">
                <a:solidFill>
                  <a:srgbClr val="3A3630"/>
                </a:solidFill>
                <a:latin typeface="Source Sans 3" pitchFamily="34" charset="0"/>
                <a:ea typeface="Source Sans 3" pitchFamily="34" charset="-122"/>
                <a:cs typeface="Source Sans 3" pitchFamily="34" charset="-120"/>
              </a:rPr>
              <a:t>Source/Citation-backed Answers</a:t>
            </a:r>
            <a:endParaRPr lang="en-US" sz="850" dirty="0"/>
          </a:p>
          <a:p>
            <a:pPr marL="172720" indent="-172720" algn="l">
              <a:lnSpc>
                <a:spcPct val="109000"/>
              </a:lnSpc>
              <a:buSzPct val="100000"/>
              <a:buFont typeface="+mj-lt"/>
              <a:buAutoNum type="arabicPeriod" startAt="6"/>
            </a:pPr>
            <a:r>
              <a:rPr lang="en-US" sz="850" dirty="0">
                <a:solidFill>
                  <a:srgbClr val="3A3630"/>
                </a:solidFill>
                <a:latin typeface="Source Sans 3" pitchFamily="34" charset="0"/>
                <a:ea typeface="Source Sans 3" pitchFamily="34" charset="-122"/>
                <a:cs typeface="Source Sans 3" pitchFamily="34" charset="-120"/>
              </a:rPr>
              <a:t>Multiformat Resource Processing</a:t>
            </a:r>
            <a:endParaRPr lang="en-US" sz="850" dirty="0"/>
          </a:p>
          <a:p>
            <a:pPr marL="172720" indent="-172720" algn="l">
              <a:lnSpc>
                <a:spcPct val="109000"/>
              </a:lnSpc>
              <a:buSzPct val="100000"/>
              <a:buFont typeface="+mj-lt"/>
              <a:buAutoNum type="arabicPeriod" startAt="7"/>
            </a:pPr>
            <a:r>
              <a:rPr lang="en-US" sz="850" dirty="0">
                <a:solidFill>
                  <a:srgbClr val="3A3630"/>
                </a:solidFill>
                <a:latin typeface="Source Sans 3" pitchFamily="34" charset="0"/>
                <a:ea typeface="Source Sans 3" pitchFamily="34" charset="-122"/>
                <a:cs typeface="Source Sans 3" pitchFamily="34" charset="-120"/>
              </a:rPr>
              <a:t>Metadata-aware Retrieval</a:t>
            </a:r>
            <a:endParaRPr lang="en-US" sz="850" dirty="0"/>
          </a:p>
          <a:p>
            <a:pPr marL="172720" indent="-172720" algn="l">
              <a:lnSpc>
                <a:spcPct val="109000"/>
              </a:lnSpc>
              <a:buSzPct val="100000"/>
              <a:buFont typeface="+mj-lt"/>
              <a:buAutoNum type="arabicPeriod" startAt="8"/>
            </a:pPr>
            <a:r>
              <a:rPr lang="en-US" sz="850" dirty="0">
                <a:solidFill>
                  <a:srgbClr val="3A3630"/>
                </a:solidFill>
                <a:latin typeface="Source Sans 3" pitchFamily="34" charset="0"/>
                <a:ea typeface="Source Sans 3" pitchFamily="34" charset="-122"/>
                <a:cs typeface="Source Sans 3" pitchFamily="34" charset="-120"/>
              </a:rPr>
              <a:t>Version-aware Information</a:t>
            </a:r>
            <a:endParaRPr lang="en-US" sz="850" dirty="0"/>
          </a:p>
          <a:p>
            <a:pPr marL="172720" indent="-172720" algn="l">
              <a:lnSpc>
                <a:spcPct val="109000"/>
              </a:lnSpc>
              <a:buSzPct val="100000"/>
              <a:buFont typeface="+mj-lt"/>
              <a:buAutoNum type="arabicPeriod" startAt="9"/>
            </a:pPr>
            <a:r>
              <a:rPr lang="en-US" sz="850" dirty="0">
                <a:solidFill>
                  <a:srgbClr val="3A3630"/>
                </a:solidFill>
                <a:latin typeface="Source Sans 3" pitchFamily="34" charset="0"/>
                <a:ea typeface="Source Sans 3" pitchFamily="34" charset="-122"/>
                <a:cs typeface="Source Sans 3" pitchFamily="34" charset="-120"/>
              </a:rPr>
              <a:t>Related Resource Discovery</a:t>
            </a:r>
            <a:endParaRPr lang="en-US" sz="850" dirty="0"/>
          </a:p>
          <a:p>
            <a:pPr marL="172720" indent="-172720" algn="l">
              <a:lnSpc>
                <a:spcPct val="109000"/>
              </a:lnSpc>
              <a:buSzPct val="100000"/>
              <a:buFont typeface="+mj-lt"/>
              <a:buAutoNum type="arabicPeriod" startAt="10"/>
            </a:pPr>
            <a:r>
              <a:rPr lang="en-US" sz="850" dirty="0">
                <a:solidFill>
                  <a:srgbClr val="3A3630"/>
                </a:solidFill>
                <a:latin typeface="Source Sans 3" pitchFamily="34" charset="0"/>
                <a:ea typeface="Source Sans 3" pitchFamily="34" charset="-122"/>
                <a:cs typeface="Source Sans 3" pitchFamily="34" charset="-120"/>
              </a:rPr>
              <a:t>Department-specific Knowledge Access</a:t>
            </a:r>
            <a:endParaRPr lang="en-US" sz="850" dirty="0"/>
          </a:p>
        </p:txBody>
      </p:sp>
      <p:sp>
        <p:nvSpPr>
          <p:cNvPr id="22" name="Text 17"/>
          <p:cNvSpPr/>
          <p:nvPr/>
        </p:nvSpPr>
        <p:spPr>
          <a:xfrm>
            <a:off x="697986" y="5977481"/>
            <a:ext cx="10795524" cy="263029"/>
          </a:xfrm>
          <a:prstGeom prst="rect">
            <a:avLst/>
          </a:prstGeom>
          <a:noFill/>
          <a:ln/>
        </p:spPr>
        <p:txBody>
          <a:bodyPr wrap="none" lIns="0" tIns="0" rIns="0" bIns="0" rtlCol="0" anchor="t"/>
          <a:lstStyle/>
          <a:p>
            <a:pPr marL="0" indent="0" algn="l">
              <a:lnSpc>
                <a:spcPct val="104000"/>
              </a:lnSpc>
              <a:buNone/>
            </a:pPr>
            <a:r>
              <a:rPr lang="en-US" sz="1650" dirty="0">
                <a:solidFill>
                  <a:srgbClr val="38512F"/>
                </a:solidFill>
                <a:latin typeface="Lora" pitchFamily="34" charset="0"/>
                <a:ea typeface="Lora" pitchFamily="34" charset="-122"/>
                <a:cs typeface="Lora" pitchFamily="34" charset="-120"/>
              </a:rPr>
              <a:t>How is this more than a basic RAG chatbot?</a:t>
            </a:r>
            <a:endParaRPr lang="en-US" sz="1650" dirty="0"/>
          </a:p>
        </p:txBody>
      </p:sp>
      <p:sp>
        <p:nvSpPr>
          <p:cNvPr id="23" name="Text 18"/>
          <p:cNvSpPr/>
          <p:nvPr/>
        </p:nvSpPr>
        <p:spPr>
          <a:xfrm>
            <a:off x="586169" y="6380263"/>
            <a:ext cx="10795524" cy="293489"/>
          </a:xfrm>
          <a:prstGeom prst="rect">
            <a:avLst/>
          </a:prstGeom>
          <a:noFill/>
          <a:ln/>
        </p:spPr>
        <p:txBody>
          <a:bodyPr wrap="square" lIns="0" tIns="0" rIns="0" bIns="0" rtlCol="0" anchor="t">
            <a:normAutofit/>
          </a:bodyPr>
          <a:lstStyle/>
          <a:p>
            <a:pPr marL="0" indent="0" algn="l">
              <a:lnSpc>
                <a:spcPct val="109000"/>
              </a:lnSpc>
              <a:buNone/>
            </a:pPr>
            <a:r>
              <a:rPr lang="en-US" sz="850" dirty="0">
                <a:solidFill>
                  <a:srgbClr val="3A3630"/>
                </a:solidFill>
                <a:latin typeface="Source Sans 3" pitchFamily="34" charset="0"/>
                <a:ea typeface="Source Sans 3" pitchFamily="34" charset="-122"/>
                <a:cs typeface="Source Sans 3" pitchFamily="34" charset="-120"/>
              </a:rPr>
              <a:t>It is a </a:t>
            </a:r>
            <a:r>
              <a:rPr lang="en-US" sz="850" b="1" dirty="0">
                <a:solidFill>
                  <a:srgbClr val="3A3630"/>
                </a:solidFill>
                <a:latin typeface="Source Sans 3 Bold" pitchFamily="34" charset="0"/>
                <a:ea typeface="Source Sans 3 Bold" pitchFamily="34" charset="-122"/>
                <a:cs typeface="Source Sans 3 Bold" pitchFamily="34" charset="-120"/>
              </a:rPr>
              <a:t>domain-specific authorized departmental knowledge layer</a:t>
            </a:r>
            <a:r>
              <a:rPr lang="en-US" sz="850" dirty="0">
                <a:solidFill>
                  <a:srgbClr val="3A3630"/>
                </a:solidFill>
                <a:latin typeface="Source Sans 3" pitchFamily="34" charset="0"/>
                <a:ea typeface="Source Sans 3" pitchFamily="34" charset="-122"/>
                <a:cs typeface="Source Sans 3" pitchFamily="34" charset="-120"/>
              </a:rPr>
              <a:t>, not a generic chatbot. It uses </a:t>
            </a:r>
            <a:r>
              <a:rPr lang="en-US" sz="850" b="1" dirty="0">
                <a:solidFill>
                  <a:srgbClr val="3A3630"/>
                </a:solidFill>
                <a:latin typeface="Source Sans 3 Bold" pitchFamily="34" charset="0"/>
                <a:ea typeface="Source Sans 3 Bold" pitchFamily="34" charset="-122"/>
                <a:cs typeface="Source Sans 3 Bold" pitchFamily="34" charset="-120"/>
              </a:rPr>
              <a:t>structured resource ingestion</a:t>
            </a:r>
            <a:r>
              <a:rPr lang="en-US" sz="850" dirty="0">
                <a:solidFill>
                  <a:srgbClr val="3A3630"/>
                </a:solidFill>
                <a:latin typeface="Source Sans 3" pitchFamily="34" charset="0"/>
                <a:ea typeface="Source Sans 3" pitchFamily="34" charset="-122"/>
                <a:cs typeface="Source Sans 3" pitchFamily="34" charset="-120"/>
              </a:rPr>
              <a:t>, </a:t>
            </a:r>
            <a:r>
              <a:rPr lang="en-US" sz="850" b="1" dirty="0">
                <a:solidFill>
                  <a:srgbClr val="3A3630"/>
                </a:solidFill>
                <a:latin typeface="Source Sans 3 Bold" pitchFamily="34" charset="0"/>
                <a:ea typeface="Source Sans 3 Bold" pitchFamily="34" charset="-122"/>
                <a:cs typeface="Source Sans 3 Bold" pitchFamily="34" charset="-120"/>
              </a:rPr>
              <a:t>semantic retrieval across departmental resources</a:t>
            </a:r>
            <a:r>
              <a:rPr lang="en-US" sz="850" dirty="0">
                <a:solidFill>
                  <a:srgbClr val="3A3630"/>
                </a:solidFill>
                <a:latin typeface="Source Sans 3" pitchFamily="34" charset="0"/>
                <a:ea typeface="Source Sans 3" pitchFamily="34" charset="-122"/>
                <a:cs typeface="Source Sans 3" pitchFamily="34" charset="-120"/>
              </a:rPr>
              <a:t>, </a:t>
            </a:r>
            <a:r>
              <a:rPr lang="en-US" sz="850" b="1" dirty="0">
                <a:solidFill>
                  <a:srgbClr val="3A3630"/>
                </a:solidFill>
                <a:latin typeface="Source Sans 3 Bold" pitchFamily="34" charset="0"/>
                <a:ea typeface="Source Sans 3 Bold" pitchFamily="34" charset="-122"/>
                <a:cs typeface="Source Sans 3 Bold" pitchFamily="34" charset="-120"/>
              </a:rPr>
              <a:t>metadata-aware retrieval</a:t>
            </a:r>
            <a:r>
              <a:rPr lang="en-US" sz="850" dirty="0">
                <a:solidFill>
                  <a:srgbClr val="3A3630"/>
                </a:solidFill>
                <a:latin typeface="Source Sans 3" pitchFamily="34" charset="0"/>
                <a:ea typeface="Source Sans 3" pitchFamily="34" charset="-122"/>
                <a:cs typeface="Source Sans 3" pitchFamily="34" charset="-120"/>
              </a:rPr>
              <a:t>, and </a:t>
            </a:r>
            <a:r>
              <a:rPr lang="en-US" sz="850" b="1" dirty="0">
                <a:solidFill>
                  <a:srgbClr val="3A3630"/>
                </a:solidFill>
                <a:latin typeface="Source Sans 3 Bold" pitchFamily="34" charset="0"/>
                <a:ea typeface="Source Sans 3 Bold" pitchFamily="34" charset="-122"/>
                <a:cs typeface="Source Sans 3 Bold" pitchFamily="34" charset="-120"/>
              </a:rPr>
              <a:t>version/source awareness</a:t>
            </a:r>
            <a:r>
              <a:rPr lang="en-US" sz="850" dirty="0">
                <a:solidFill>
                  <a:srgbClr val="3A3630"/>
                </a:solidFill>
                <a:latin typeface="Source Sans 3" pitchFamily="34" charset="0"/>
                <a:ea typeface="Source Sans 3" pitchFamily="34" charset="-122"/>
                <a:cs typeface="Source Sans 3" pitchFamily="34" charset="-120"/>
              </a:rPr>
              <a:t> to return </a:t>
            </a:r>
            <a:r>
              <a:rPr lang="en-US" sz="850" b="1" dirty="0">
                <a:solidFill>
                  <a:srgbClr val="3A3630"/>
                </a:solidFill>
                <a:latin typeface="Source Sans 3 Bold" pitchFamily="34" charset="0"/>
                <a:ea typeface="Source Sans 3 Bold" pitchFamily="34" charset="-122"/>
                <a:cs typeface="Source Sans 3 Bold" pitchFamily="34" charset="-120"/>
              </a:rPr>
              <a:t>source-backed answers</a:t>
            </a:r>
            <a:r>
              <a:rPr lang="en-US" sz="850" dirty="0">
                <a:solidFill>
                  <a:srgbClr val="3A3630"/>
                </a:solidFill>
                <a:latin typeface="Source Sans 3" pitchFamily="34" charset="0"/>
                <a:ea typeface="Source Sans 3" pitchFamily="34" charset="-122"/>
                <a:cs typeface="Source Sans 3" pitchFamily="34" charset="-120"/>
              </a:rPr>
              <a:t>. It is also </a:t>
            </a:r>
            <a:r>
              <a:rPr lang="en-US" sz="850" b="1" dirty="0">
                <a:solidFill>
                  <a:srgbClr val="3A3630"/>
                </a:solidFill>
                <a:latin typeface="Source Sans 3 Bold" pitchFamily="34" charset="0"/>
                <a:ea typeface="Source Sans 3 Bold" pitchFamily="34" charset="-122"/>
                <a:cs typeface="Source Sans 3 Bold" pitchFamily="34" charset="-120"/>
              </a:rPr>
              <a:t>evaluated against a defined benchmark</a:t>
            </a:r>
            <a:r>
              <a:rPr lang="en-US" sz="850" dirty="0">
                <a:solidFill>
                  <a:srgbClr val="3A3630"/>
                </a:solidFill>
                <a:latin typeface="Source Sans 3" pitchFamily="34" charset="0"/>
                <a:ea typeface="Source Sans 3" pitchFamily="34" charset="-122"/>
                <a:cs typeface="Source Sans 3" pitchFamily="34" charset="-120"/>
              </a:rPr>
              <a:t> and designed to be a </a:t>
            </a:r>
            <a:r>
              <a:rPr lang="en-US" sz="850" b="1" dirty="0">
                <a:solidFill>
                  <a:srgbClr val="3A3630"/>
                </a:solidFill>
                <a:latin typeface="Source Sans 3 Bold" pitchFamily="34" charset="0"/>
                <a:ea typeface="Source Sans 3 Bold" pitchFamily="34" charset="-122"/>
                <a:cs typeface="Source Sans 3 Bold" pitchFamily="34" charset="-120"/>
              </a:rPr>
              <a:t>scalable departmental knowledge layer</a:t>
            </a:r>
            <a:r>
              <a:rPr lang="en-US" sz="850" dirty="0">
                <a:solidFill>
                  <a:srgbClr val="3A3630"/>
                </a:solidFill>
                <a:latin typeface="Source Sans 3" pitchFamily="34" charset="0"/>
                <a:ea typeface="Source Sans 3" pitchFamily="34" charset="-122"/>
                <a:cs typeface="Source Sans 3" pitchFamily="34" charset="-120"/>
              </a:rPr>
              <a:t> rather than a generic assistant.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086" y="521692"/>
            <a:ext cx="10795524" cy="360859"/>
          </a:xfrm>
          <a:prstGeom prst="rect">
            <a:avLst/>
          </a:prstGeom>
          <a:noFill/>
          <a:ln/>
        </p:spPr>
        <p:txBody>
          <a:bodyPr wrap="none" lIns="0" tIns="0" rIns="0" bIns="0" rtlCol="0" anchor="t"/>
          <a:lstStyle/>
          <a:p>
            <a:pPr marL="0" indent="0" algn="l">
              <a:lnSpc>
                <a:spcPct val="104000"/>
              </a:lnSpc>
              <a:buNone/>
            </a:pPr>
            <a:r>
              <a:rPr lang="en-US" sz="2250" dirty="0">
                <a:solidFill>
                  <a:srgbClr val="38512F"/>
                </a:solidFill>
                <a:latin typeface="Lora" pitchFamily="34" charset="0"/>
                <a:ea typeface="Lora" pitchFamily="34" charset="-122"/>
                <a:cs typeface="Lora" pitchFamily="34" charset="-120"/>
              </a:rPr>
              <a:t>Complete Student Journey</a:t>
            </a:r>
            <a:endParaRPr lang="en-US" sz="2250" dirty="0"/>
          </a:p>
        </p:txBody>
      </p:sp>
      <p:sp>
        <p:nvSpPr>
          <p:cNvPr id="3" name="Text 1"/>
          <p:cNvSpPr/>
          <p:nvPr/>
        </p:nvSpPr>
        <p:spPr>
          <a:xfrm>
            <a:off x="698086" y="1055092"/>
            <a:ext cx="11405108" cy="167184"/>
          </a:xfrm>
          <a:prstGeom prst="rect">
            <a:avLst/>
          </a:prstGeom>
          <a:noFill/>
          <a:ln/>
        </p:spPr>
        <p:txBody>
          <a:bodyPr wrap="none" lIns="0" tIns="0" rIns="0" bIns="0" rtlCol="0" anchor="t"/>
          <a:lstStyle/>
          <a:p>
            <a:pPr marL="0" indent="0" algn="l">
              <a:lnSpc>
                <a:spcPct val="114000"/>
              </a:lnSpc>
              <a:buNone/>
            </a:pPr>
            <a:r>
              <a:rPr lang="hi-IN" altLang="en-US" sz="950" dirty="0">
                <a:solidFill>
                  <a:srgbClr val="3A3630"/>
                </a:solidFill>
                <a:latin typeface="Source Sans 3" pitchFamily="34" charset="0"/>
                <a:ea typeface="Source Sans 3" pitchFamily="34" charset="-122"/>
                <a:cs typeface="Source Sans 3" pitchFamily="34" charset="-120"/>
              </a:rPr>
              <a:t>Example student query: “मैं Competitive Programming prepare कर रही हूँ. मुझे Recursion के beginner-friendly resources चाहिए और उसके बाद क्या पढ़ना चाहिए?”</a:t>
            </a:r>
            <a:endParaRPr lang="hi-IN"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333" y="2002431"/>
            <a:ext cx="5354603" cy="1025426"/>
          </a:xfrm>
          <a:prstGeom prst="rect">
            <a:avLst/>
          </a:prstGeom>
        </p:spPr>
      </p:pic>
      <p:sp>
        <p:nvSpPr>
          <p:cNvPr id="5" name="Text 2"/>
          <p:cNvSpPr/>
          <p:nvPr/>
        </p:nvSpPr>
        <p:spPr>
          <a:xfrm>
            <a:off x="3301719" y="1411287"/>
            <a:ext cx="147237" cy="184051"/>
          </a:xfrm>
          <a:prstGeom prst="rect">
            <a:avLst/>
          </a:prstGeom>
          <a:noFill/>
          <a:ln/>
        </p:spPr>
        <p:txBody>
          <a:bodyPr wrap="none" lIns="0" tIns="0" rIns="0" bIns="0" rtlCol="0" anchor="ctr"/>
          <a:lstStyle/>
          <a:p>
            <a:pPr marL="0" indent="0" algn="ctr">
              <a:lnSpc>
                <a:spcPct val="100000"/>
              </a:lnSpc>
              <a:buNone/>
            </a:pPr>
            <a:r>
              <a:rPr lang="en-US" sz="1150" dirty="0">
                <a:solidFill>
                  <a:srgbClr val="FFFFFF"/>
                </a:solidFill>
                <a:latin typeface="Lora" pitchFamily="34" charset="0"/>
                <a:ea typeface="Lora" pitchFamily="34" charset="-122"/>
                <a:cs typeface="Lora" pitchFamily="34" charset="-120"/>
              </a:rPr>
              <a:t>1</a:t>
            </a:r>
            <a:endParaRPr lang="en-US" sz="1150" dirty="0"/>
          </a:p>
        </p:txBody>
      </p:sp>
      <p:sp>
        <p:nvSpPr>
          <p:cNvPr id="6" name="Text 3"/>
          <p:cNvSpPr/>
          <p:nvPr/>
        </p:nvSpPr>
        <p:spPr>
          <a:xfrm>
            <a:off x="817984" y="2425257"/>
            <a:ext cx="5083941" cy="180380"/>
          </a:xfrm>
          <a:prstGeom prst="rect">
            <a:avLst/>
          </a:prstGeom>
          <a:noFill/>
          <a:ln/>
        </p:spPr>
        <p:txBody>
          <a:bodyPr wrap="none" lIns="0" tIns="0" rIns="0" bIns="0" rtlCol="0" anchor="t"/>
          <a:lstStyle/>
          <a:p>
            <a:pPr marL="0" indent="0" algn="l">
              <a:lnSpc>
                <a:spcPct val="104000"/>
              </a:lnSpc>
              <a:buNone/>
            </a:pPr>
            <a:r>
              <a:rPr lang="en-US" sz="1100" dirty="0">
                <a:solidFill>
                  <a:srgbClr val="3A3630"/>
                </a:solidFill>
                <a:latin typeface="Lora" pitchFamily="34" charset="0"/>
                <a:ea typeface="Lora" pitchFamily="34" charset="-122"/>
                <a:cs typeface="Lora" pitchFamily="34" charset="-120"/>
              </a:rPr>
              <a:t>1. Query submitted</a:t>
            </a:r>
            <a:endParaRPr lang="en-US" sz="1100" dirty="0"/>
          </a:p>
        </p:txBody>
      </p:sp>
      <p:sp>
        <p:nvSpPr>
          <p:cNvPr id="7" name="Text 4"/>
          <p:cNvSpPr/>
          <p:nvPr/>
        </p:nvSpPr>
        <p:spPr>
          <a:xfrm>
            <a:off x="860602" y="2761133"/>
            <a:ext cx="5083941" cy="167184"/>
          </a:xfrm>
          <a:prstGeom prst="rect">
            <a:avLst/>
          </a:prstGeom>
          <a:noFill/>
          <a:ln/>
        </p:spPr>
        <p:txBody>
          <a:bodyPr wrap="none" lIns="0" tIns="0" rIns="0" bIns="0" rtlCol="0" anchor="t"/>
          <a:lstStyle/>
          <a:p>
            <a:pPr marL="0" indent="0" algn="l">
              <a:lnSpc>
                <a:spcPct val="114000"/>
              </a:lnSpc>
              <a:buNone/>
            </a:pPr>
            <a:r>
              <a:rPr lang="en-US" sz="950" dirty="0">
                <a:solidFill>
                  <a:srgbClr val="3A3630"/>
                </a:solidFill>
                <a:latin typeface="Source Sans 3" pitchFamily="34" charset="0"/>
                <a:ea typeface="Source Sans 3" pitchFamily="34" charset="-122"/>
                <a:cs typeface="Source Sans 3" pitchFamily="34" charset="-120"/>
              </a:rPr>
              <a:t>Student asks for beginner-friendly recursion resources and the next topic to study.</a:t>
            </a:r>
            <a:endParaRPr lang="en-US" sz="9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8020" y="2021566"/>
            <a:ext cx="5354702" cy="1025426"/>
          </a:xfrm>
          <a:prstGeom prst="rect">
            <a:avLst/>
          </a:prstGeom>
        </p:spPr>
      </p:pic>
      <p:sp>
        <p:nvSpPr>
          <p:cNvPr id="9" name="Text 5"/>
          <p:cNvSpPr/>
          <p:nvPr/>
        </p:nvSpPr>
        <p:spPr>
          <a:xfrm>
            <a:off x="8742640" y="1411287"/>
            <a:ext cx="147237" cy="184051"/>
          </a:xfrm>
          <a:prstGeom prst="rect">
            <a:avLst/>
          </a:prstGeom>
          <a:noFill/>
          <a:ln/>
        </p:spPr>
        <p:txBody>
          <a:bodyPr wrap="none" lIns="0" tIns="0" rIns="0" bIns="0" rtlCol="0" anchor="ctr"/>
          <a:lstStyle/>
          <a:p>
            <a:pPr marL="0" indent="0" algn="ctr">
              <a:lnSpc>
                <a:spcPct val="100000"/>
              </a:lnSpc>
              <a:buNone/>
            </a:pPr>
            <a:r>
              <a:rPr lang="en-US" sz="1150" dirty="0">
                <a:solidFill>
                  <a:srgbClr val="FFFFFF"/>
                </a:solidFill>
                <a:latin typeface="Lora" pitchFamily="34" charset="0"/>
                <a:ea typeface="Lora" pitchFamily="34" charset="-122"/>
                <a:cs typeface="Lora" pitchFamily="34" charset="-120"/>
              </a:rPr>
              <a:t>2</a:t>
            </a:r>
            <a:endParaRPr lang="en-US" sz="1150" dirty="0"/>
          </a:p>
        </p:txBody>
      </p:sp>
      <p:sp>
        <p:nvSpPr>
          <p:cNvPr id="10" name="Text 6"/>
          <p:cNvSpPr/>
          <p:nvPr/>
        </p:nvSpPr>
        <p:spPr>
          <a:xfrm>
            <a:off x="6274238" y="2388508"/>
            <a:ext cx="5084040" cy="180380"/>
          </a:xfrm>
          <a:prstGeom prst="rect">
            <a:avLst/>
          </a:prstGeom>
          <a:noFill/>
          <a:ln/>
        </p:spPr>
        <p:txBody>
          <a:bodyPr wrap="none" lIns="0" tIns="0" rIns="0" bIns="0" rtlCol="0" anchor="t"/>
          <a:lstStyle/>
          <a:p>
            <a:pPr marL="0" indent="0" algn="l">
              <a:lnSpc>
                <a:spcPct val="104000"/>
              </a:lnSpc>
              <a:buNone/>
            </a:pPr>
            <a:r>
              <a:rPr lang="en-US" sz="1100" dirty="0">
                <a:solidFill>
                  <a:srgbClr val="3A3630"/>
                </a:solidFill>
                <a:latin typeface="Lora" pitchFamily="34" charset="0"/>
                <a:ea typeface="Lora" pitchFamily="34" charset="-122"/>
                <a:cs typeface="Lora" pitchFamily="34" charset="-120"/>
              </a:rPr>
              <a:t>2. Query understood</a:t>
            </a:r>
            <a:endParaRPr lang="en-US" sz="1100" dirty="0"/>
          </a:p>
        </p:txBody>
      </p:sp>
      <p:sp>
        <p:nvSpPr>
          <p:cNvPr id="11" name="Text 7"/>
          <p:cNvSpPr/>
          <p:nvPr/>
        </p:nvSpPr>
        <p:spPr>
          <a:xfrm>
            <a:off x="6323351" y="2639601"/>
            <a:ext cx="5084040" cy="167184"/>
          </a:xfrm>
          <a:prstGeom prst="rect">
            <a:avLst/>
          </a:prstGeom>
          <a:noFill/>
          <a:ln/>
        </p:spPr>
        <p:txBody>
          <a:bodyPr wrap="none" lIns="0" tIns="0" rIns="0" bIns="0" rtlCol="0" anchor="t"/>
          <a:lstStyle/>
          <a:p>
            <a:pPr marL="0" indent="0" algn="l">
              <a:lnSpc>
                <a:spcPct val="114000"/>
              </a:lnSpc>
              <a:buNone/>
            </a:pPr>
            <a:r>
              <a:rPr lang="en-US" sz="950" dirty="0">
                <a:solidFill>
                  <a:srgbClr val="3A3630"/>
                </a:solidFill>
                <a:latin typeface="Source Sans 3" pitchFamily="34" charset="0"/>
                <a:ea typeface="Source Sans 3" pitchFamily="34" charset="-122"/>
                <a:cs typeface="Source Sans 3" pitchFamily="34" charset="-120"/>
              </a:rPr>
              <a:t>The system identifies the topic as Recursion for Competitive Programming.</a:t>
            </a:r>
            <a:endParaRPr lang="en-US" sz="9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7626" y="3006089"/>
            <a:ext cx="5354603" cy="1025426"/>
          </a:xfrm>
          <a:prstGeom prst="rect">
            <a:avLst/>
          </a:prstGeom>
        </p:spPr>
      </p:pic>
      <p:sp>
        <p:nvSpPr>
          <p:cNvPr id="13" name="Text 8"/>
          <p:cNvSpPr/>
          <p:nvPr/>
        </p:nvSpPr>
        <p:spPr>
          <a:xfrm>
            <a:off x="3301719" y="2522934"/>
            <a:ext cx="147237" cy="184051"/>
          </a:xfrm>
          <a:prstGeom prst="rect">
            <a:avLst/>
          </a:prstGeom>
          <a:noFill/>
          <a:ln/>
        </p:spPr>
        <p:txBody>
          <a:bodyPr wrap="none" lIns="0" tIns="0" rIns="0" bIns="0" rtlCol="0" anchor="ctr"/>
          <a:lstStyle/>
          <a:p>
            <a:pPr marL="0" indent="0" algn="ctr">
              <a:lnSpc>
                <a:spcPct val="100000"/>
              </a:lnSpc>
              <a:buNone/>
            </a:pPr>
            <a:r>
              <a:rPr lang="en-US" sz="1150" dirty="0">
                <a:solidFill>
                  <a:srgbClr val="FFFFFF"/>
                </a:solidFill>
                <a:latin typeface="Lora" pitchFamily="34" charset="0"/>
                <a:ea typeface="Lora" pitchFamily="34" charset="-122"/>
                <a:cs typeface="Lora" pitchFamily="34" charset="-120"/>
              </a:rPr>
              <a:t>3</a:t>
            </a:r>
            <a:endParaRPr lang="en-US" sz="1150" dirty="0"/>
          </a:p>
        </p:txBody>
      </p:sp>
      <p:sp>
        <p:nvSpPr>
          <p:cNvPr id="14" name="Text 9"/>
          <p:cNvSpPr/>
          <p:nvPr/>
        </p:nvSpPr>
        <p:spPr>
          <a:xfrm>
            <a:off x="833417" y="3389807"/>
            <a:ext cx="5083941" cy="180380"/>
          </a:xfrm>
          <a:prstGeom prst="rect">
            <a:avLst/>
          </a:prstGeom>
          <a:noFill/>
          <a:ln/>
        </p:spPr>
        <p:txBody>
          <a:bodyPr wrap="none" lIns="0" tIns="0" rIns="0" bIns="0" rtlCol="0" anchor="t"/>
          <a:lstStyle/>
          <a:p>
            <a:pPr marL="0" indent="0" algn="l">
              <a:lnSpc>
                <a:spcPct val="104000"/>
              </a:lnSpc>
              <a:buNone/>
            </a:pPr>
            <a:r>
              <a:rPr lang="en-US" sz="1100" dirty="0">
                <a:solidFill>
                  <a:srgbClr val="3A3630"/>
                </a:solidFill>
                <a:latin typeface="Lora" pitchFamily="34" charset="0"/>
                <a:ea typeface="Lora" pitchFamily="34" charset="-122"/>
                <a:cs typeface="Lora" pitchFamily="34" charset="-120"/>
              </a:rPr>
              <a:t>3. Relevant resources retrieved</a:t>
            </a:r>
            <a:endParaRPr lang="en-US" sz="1100" dirty="0"/>
          </a:p>
        </p:txBody>
      </p:sp>
      <p:sp>
        <p:nvSpPr>
          <p:cNvPr id="15" name="Text 10"/>
          <p:cNvSpPr/>
          <p:nvPr/>
        </p:nvSpPr>
        <p:spPr>
          <a:xfrm>
            <a:off x="833417" y="3647704"/>
            <a:ext cx="5083941" cy="167184"/>
          </a:xfrm>
          <a:prstGeom prst="rect">
            <a:avLst/>
          </a:prstGeom>
          <a:noFill/>
          <a:ln/>
        </p:spPr>
        <p:txBody>
          <a:bodyPr wrap="none" lIns="0" tIns="0" rIns="0" bIns="0" rtlCol="0" anchor="t"/>
          <a:lstStyle/>
          <a:p>
            <a:pPr marL="0" indent="0" algn="l">
              <a:lnSpc>
                <a:spcPct val="114000"/>
              </a:lnSpc>
              <a:buNone/>
            </a:pPr>
            <a:r>
              <a:rPr lang="en-US" sz="950" dirty="0">
                <a:solidFill>
                  <a:srgbClr val="3A3630"/>
                </a:solidFill>
                <a:latin typeface="Source Sans 3" pitchFamily="34" charset="0"/>
                <a:ea typeface="Source Sans 3" pitchFamily="34" charset="-122"/>
                <a:cs typeface="Source Sans 3" pitchFamily="34" charset="-120"/>
              </a:rPr>
              <a:t>Sample/mock resources matched: DSA Notes, Training Material, Practice Problems.</a:t>
            </a:r>
            <a:endParaRPr lang="en-US" sz="95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8020" y="2983405"/>
            <a:ext cx="5354702" cy="1025426"/>
          </a:xfrm>
          <a:prstGeom prst="rect">
            <a:avLst/>
          </a:prstGeom>
        </p:spPr>
      </p:pic>
      <p:sp>
        <p:nvSpPr>
          <p:cNvPr id="17" name="Text 11"/>
          <p:cNvSpPr/>
          <p:nvPr/>
        </p:nvSpPr>
        <p:spPr>
          <a:xfrm>
            <a:off x="8742640" y="2522934"/>
            <a:ext cx="147237" cy="184051"/>
          </a:xfrm>
          <a:prstGeom prst="rect">
            <a:avLst/>
          </a:prstGeom>
          <a:noFill/>
          <a:ln/>
        </p:spPr>
        <p:txBody>
          <a:bodyPr wrap="none" lIns="0" tIns="0" rIns="0" bIns="0" rtlCol="0" anchor="ctr"/>
          <a:lstStyle/>
          <a:p>
            <a:pPr marL="0" indent="0" algn="ctr">
              <a:lnSpc>
                <a:spcPct val="100000"/>
              </a:lnSpc>
              <a:buNone/>
            </a:pPr>
            <a:r>
              <a:rPr lang="en-US" sz="1150" dirty="0">
                <a:solidFill>
                  <a:srgbClr val="FFFFFF"/>
                </a:solidFill>
                <a:latin typeface="Lora" pitchFamily="34" charset="0"/>
                <a:ea typeface="Lora" pitchFamily="34" charset="-122"/>
                <a:cs typeface="Lora" pitchFamily="34" charset="-120"/>
              </a:rPr>
              <a:t>4</a:t>
            </a:r>
            <a:endParaRPr lang="en-US" sz="1150" dirty="0"/>
          </a:p>
        </p:txBody>
      </p:sp>
      <p:sp>
        <p:nvSpPr>
          <p:cNvPr id="18" name="Text 12"/>
          <p:cNvSpPr/>
          <p:nvPr/>
        </p:nvSpPr>
        <p:spPr>
          <a:xfrm>
            <a:off x="6274238" y="3359518"/>
            <a:ext cx="5084040" cy="180380"/>
          </a:xfrm>
          <a:prstGeom prst="rect">
            <a:avLst/>
          </a:prstGeom>
          <a:noFill/>
          <a:ln/>
        </p:spPr>
        <p:txBody>
          <a:bodyPr wrap="none" lIns="0" tIns="0" rIns="0" bIns="0" rtlCol="0" anchor="t"/>
          <a:lstStyle/>
          <a:p>
            <a:pPr marL="0" indent="0" algn="l">
              <a:lnSpc>
                <a:spcPct val="104000"/>
              </a:lnSpc>
              <a:buNone/>
            </a:pPr>
            <a:r>
              <a:rPr lang="en-US" sz="1100" dirty="0">
                <a:solidFill>
                  <a:srgbClr val="3A3630"/>
                </a:solidFill>
                <a:latin typeface="Lora" pitchFamily="34" charset="0"/>
                <a:ea typeface="Lora" pitchFamily="34" charset="-122"/>
                <a:cs typeface="Lora" pitchFamily="34" charset="-120"/>
              </a:rPr>
              <a:t>4. Relevant chunks ranked</a:t>
            </a:r>
            <a:endParaRPr lang="en-US" sz="1100" dirty="0"/>
          </a:p>
        </p:txBody>
      </p:sp>
      <p:sp>
        <p:nvSpPr>
          <p:cNvPr id="19" name="Text 13"/>
          <p:cNvSpPr/>
          <p:nvPr/>
        </p:nvSpPr>
        <p:spPr>
          <a:xfrm>
            <a:off x="6274238" y="3611099"/>
            <a:ext cx="5084040" cy="167184"/>
          </a:xfrm>
          <a:prstGeom prst="rect">
            <a:avLst/>
          </a:prstGeom>
          <a:noFill/>
          <a:ln/>
        </p:spPr>
        <p:txBody>
          <a:bodyPr wrap="none" lIns="0" tIns="0" rIns="0" bIns="0" rtlCol="0" anchor="t"/>
          <a:lstStyle/>
          <a:p>
            <a:pPr marL="0" indent="0" algn="l">
              <a:lnSpc>
                <a:spcPct val="114000"/>
              </a:lnSpc>
              <a:buNone/>
            </a:pPr>
            <a:r>
              <a:rPr lang="en-US" sz="950" dirty="0">
                <a:solidFill>
                  <a:srgbClr val="3A3630"/>
                </a:solidFill>
                <a:latin typeface="Source Sans 3" pitchFamily="34" charset="0"/>
                <a:ea typeface="Source Sans 3" pitchFamily="34" charset="-122"/>
                <a:cs typeface="Source Sans 3" pitchFamily="34" charset="-120"/>
              </a:rPr>
              <a:t>Most beginner-friendly and directly relevant sections are ranked highest.</a:t>
            </a:r>
            <a:endParaRPr lang="en-US" sz="95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7680" y="3985070"/>
            <a:ext cx="5354603" cy="1192609"/>
          </a:xfrm>
          <a:prstGeom prst="rect">
            <a:avLst/>
          </a:prstGeom>
        </p:spPr>
      </p:pic>
      <p:sp>
        <p:nvSpPr>
          <p:cNvPr id="21" name="Text 14"/>
          <p:cNvSpPr/>
          <p:nvPr/>
        </p:nvSpPr>
        <p:spPr>
          <a:xfrm>
            <a:off x="3301719" y="3634581"/>
            <a:ext cx="147237" cy="184051"/>
          </a:xfrm>
          <a:prstGeom prst="rect">
            <a:avLst/>
          </a:prstGeom>
          <a:noFill/>
          <a:ln/>
        </p:spPr>
        <p:txBody>
          <a:bodyPr wrap="none" lIns="0" tIns="0" rIns="0" bIns="0" rtlCol="0" anchor="ctr"/>
          <a:lstStyle/>
          <a:p>
            <a:pPr marL="0" indent="0" algn="ctr">
              <a:lnSpc>
                <a:spcPct val="100000"/>
              </a:lnSpc>
              <a:buNone/>
            </a:pPr>
            <a:r>
              <a:rPr lang="en-US" sz="1150" dirty="0">
                <a:solidFill>
                  <a:srgbClr val="FFFFFF"/>
                </a:solidFill>
                <a:latin typeface="Lora" pitchFamily="34" charset="0"/>
                <a:ea typeface="Lora" pitchFamily="34" charset="-122"/>
                <a:cs typeface="Lora" pitchFamily="34" charset="-120"/>
              </a:rPr>
              <a:t>5</a:t>
            </a:r>
            <a:endParaRPr lang="en-US" sz="1150" dirty="0"/>
          </a:p>
        </p:txBody>
      </p:sp>
      <p:sp>
        <p:nvSpPr>
          <p:cNvPr id="22" name="Text 15"/>
          <p:cNvSpPr/>
          <p:nvPr/>
        </p:nvSpPr>
        <p:spPr>
          <a:xfrm>
            <a:off x="802956" y="4330619"/>
            <a:ext cx="5083941" cy="180380"/>
          </a:xfrm>
          <a:prstGeom prst="rect">
            <a:avLst/>
          </a:prstGeom>
          <a:noFill/>
          <a:ln/>
        </p:spPr>
        <p:txBody>
          <a:bodyPr wrap="none" lIns="0" tIns="0" rIns="0" bIns="0" rtlCol="0" anchor="t"/>
          <a:lstStyle/>
          <a:p>
            <a:pPr marL="0" indent="0" algn="l">
              <a:lnSpc>
                <a:spcPct val="104000"/>
              </a:lnSpc>
              <a:buNone/>
            </a:pPr>
            <a:r>
              <a:rPr lang="en-US" sz="1100" dirty="0">
                <a:solidFill>
                  <a:srgbClr val="3A3630"/>
                </a:solidFill>
                <a:latin typeface="Lora" pitchFamily="34" charset="0"/>
                <a:ea typeface="Lora" pitchFamily="34" charset="-122"/>
                <a:cs typeface="Lora" pitchFamily="34" charset="-120"/>
              </a:rPr>
              <a:t>5. RAG provides context to LLM</a:t>
            </a:r>
            <a:endParaRPr lang="en-US" sz="1100" dirty="0"/>
          </a:p>
        </p:txBody>
      </p:sp>
      <p:sp>
        <p:nvSpPr>
          <p:cNvPr id="23" name="Text 16"/>
          <p:cNvSpPr/>
          <p:nvPr/>
        </p:nvSpPr>
        <p:spPr>
          <a:xfrm>
            <a:off x="817984" y="4778722"/>
            <a:ext cx="5083941" cy="167184"/>
          </a:xfrm>
          <a:prstGeom prst="rect">
            <a:avLst/>
          </a:prstGeom>
          <a:noFill/>
          <a:ln/>
        </p:spPr>
        <p:txBody>
          <a:bodyPr wrap="none" lIns="0" tIns="0" rIns="0" bIns="0" rtlCol="0" anchor="t"/>
          <a:lstStyle/>
          <a:p>
            <a:pPr marL="0" indent="0" algn="l">
              <a:lnSpc>
                <a:spcPct val="114000"/>
              </a:lnSpc>
              <a:buNone/>
            </a:pPr>
            <a:r>
              <a:rPr lang="en-US" sz="950" dirty="0">
                <a:solidFill>
                  <a:srgbClr val="3A3630"/>
                </a:solidFill>
                <a:latin typeface="Source Sans 3" pitchFamily="34" charset="0"/>
                <a:ea typeface="Source Sans 3" pitchFamily="34" charset="-122"/>
                <a:cs typeface="Source Sans 3" pitchFamily="34" charset="-120"/>
              </a:rPr>
              <a:t>Retrieved chunks are passed to the model with supporting context.</a:t>
            </a:r>
            <a:endParaRPr lang="en-US" sz="950"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39313" y="3985069"/>
            <a:ext cx="5354702" cy="1192609"/>
          </a:xfrm>
          <a:prstGeom prst="rect">
            <a:avLst/>
          </a:prstGeom>
        </p:spPr>
      </p:pic>
      <p:sp>
        <p:nvSpPr>
          <p:cNvPr id="25" name="Text 17"/>
          <p:cNvSpPr/>
          <p:nvPr/>
        </p:nvSpPr>
        <p:spPr>
          <a:xfrm>
            <a:off x="8742640" y="3634581"/>
            <a:ext cx="147237" cy="184051"/>
          </a:xfrm>
          <a:prstGeom prst="rect">
            <a:avLst/>
          </a:prstGeom>
          <a:noFill/>
          <a:ln/>
        </p:spPr>
        <p:txBody>
          <a:bodyPr wrap="none" lIns="0" tIns="0" rIns="0" bIns="0" rtlCol="0" anchor="ctr"/>
          <a:lstStyle/>
          <a:p>
            <a:pPr marL="0" indent="0" algn="ctr">
              <a:lnSpc>
                <a:spcPct val="100000"/>
              </a:lnSpc>
              <a:buNone/>
            </a:pPr>
            <a:r>
              <a:rPr lang="en-US" sz="1150" dirty="0">
                <a:solidFill>
                  <a:srgbClr val="FFFFFF"/>
                </a:solidFill>
                <a:latin typeface="Lora" pitchFamily="34" charset="0"/>
                <a:ea typeface="Lora" pitchFamily="34" charset="-122"/>
                <a:cs typeface="Lora" pitchFamily="34" charset="-120"/>
              </a:rPr>
              <a:t>6</a:t>
            </a:r>
            <a:endParaRPr lang="en-US" sz="1150" dirty="0"/>
          </a:p>
        </p:txBody>
      </p:sp>
      <p:sp>
        <p:nvSpPr>
          <p:cNvPr id="26" name="Text 18"/>
          <p:cNvSpPr/>
          <p:nvPr/>
        </p:nvSpPr>
        <p:spPr>
          <a:xfrm>
            <a:off x="6274238" y="4331613"/>
            <a:ext cx="5084040" cy="180380"/>
          </a:xfrm>
          <a:prstGeom prst="rect">
            <a:avLst/>
          </a:prstGeom>
          <a:noFill/>
          <a:ln/>
        </p:spPr>
        <p:txBody>
          <a:bodyPr wrap="none" lIns="0" tIns="0" rIns="0" bIns="0" rtlCol="0" anchor="t"/>
          <a:lstStyle/>
          <a:p>
            <a:pPr marL="0" indent="0" algn="l">
              <a:lnSpc>
                <a:spcPct val="104000"/>
              </a:lnSpc>
              <a:buNone/>
            </a:pPr>
            <a:r>
              <a:rPr lang="en-US" sz="1100" dirty="0">
                <a:solidFill>
                  <a:srgbClr val="3A3630"/>
                </a:solidFill>
                <a:latin typeface="Lora" pitchFamily="34" charset="0"/>
                <a:ea typeface="Lora" pitchFamily="34" charset="-122"/>
                <a:cs typeface="Lora" pitchFamily="34" charset="-120"/>
              </a:rPr>
              <a:t>6. AI generates answer</a:t>
            </a:r>
            <a:endParaRPr lang="en-US" sz="1100" dirty="0"/>
          </a:p>
        </p:txBody>
      </p:sp>
      <p:sp>
        <p:nvSpPr>
          <p:cNvPr id="27" name="Text 19"/>
          <p:cNvSpPr/>
          <p:nvPr/>
        </p:nvSpPr>
        <p:spPr>
          <a:xfrm>
            <a:off x="6274238" y="4572938"/>
            <a:ext cx="5084040" cy="334367"/>
          </a:xfrm>
          <a:prstGeom prst="rect">
            <a:avLst/>
          </a:prstGeom>
          <a:noFill/>
          <a:ln/>
        </p:spPr>
        <p:txBody>
          <a:bodyPr wrap="square" lIns="0" tIns="0" rIns="0" bIns="0" rtlCol="0" anchor="t">
            <a:normAutofit/>
          </a:bodyPr>
          <a:lstStyle/>
          <a:p>
            <a:pPr marL="0" indent="0" algn="l">
              <a:lnSpc>
                <a:spcPct val="114000"/>
              </a:lnSpc>
              <a:buNone/>
            </a:pPr>
            <a:r>
              <a:rPr lang="en-US" sz="950" dirty="0">
                <a:solidFill>
                  <a:srgbClr val="3A3630"/>
                </a:solidFill>
                <a:latin typeface="Source Sans 3" pitchFamily="34" charset="0"/>
                <a:ea typeface="Source Sans 3" pitchFamily="34" charset="-122"/>
                <a:cs typeface="Source Sans 3" pitchFamily="34" charset="-120"/>
              </a:rPr>
              <a:t>Start with: </a:t>
            </a:r>
            <a:r>
              <a:rPr lang="en-US" sz="950" b="1" dirty="0">
                <a:solidFill>
                  <a:srgbClr val="3A3630"/>
                </a:solidFill>
                <a:latin typeface="Source Sans 3 Bold" pitchFamily="34" charset="0"/>
                <a:ea typeface="Source Sans 3 Bold" pitchFamily="34" charset="-122"/>
                <a:cs typeface="Source Sans 3 Bold" pitchFamily="34" charset="-120"/>
              </a:rPr>
              <a:t>Recursion Basics</a:t>
            </a:r>
            <a:r>
              <a:rPr lang="en-US" sz="950" dirty="0">
                <a:solidFill>
                  <a:srgbClr val="3A3630"/>
                </a:solidFill>
                <a:latin typeface="Source Sans 3" pitchFamily="34" charset="0"/>
                <a:ea typeface="Source Sans 3" pitchFamily="34" charset="-122"/>
                <a:cs typeface="Source Sans 3" pitchFamily="34" charset="-120"/>
              </a:rPr>
              <a:t>, </a:t>
            </a:r>
            <a:r>
              <a:rPr lang="en-US" sz="950" b="1" dirty="0">
                <a:solidFill>
                  <a:srgbClr val="3A3630"/>
                </a:solidFill>
                <a:latin typeface="Source Sans 3 Bold" pitchFamily="34" charset="0"/>
                <a:ea typeface="Source Sans 3 Bold" pitchFamily="34" charset="-122"/>
                <a:cs typeface="Source Sans 3 Bold" pitchFamily="34" charset="-120"/>
              </a:rPr>
              <a:t>Recursion Practice Problems</a:t>
            </a:r>
            <a:r>
              <a:rPr lang="en-US" sz="950" dirty="0">
                <a:solidFill>
                  <a:srgbClr val="3A3630"/>
                </a:solidFill>
                <a:latin typeface="Source Sans 3" pitchFamily="34" charset="0"/>
                <a:ea typeface="Source Sans 3" pitchFamily="34" charset="-122"/>
                <a:cs typeface="Source Sans 3" pitchFamily="34" charset="-120"/>
              </a:rPr>
              <a:t>, </a:t>
            </a:r>
            <a:r>
              <a:rPr lang="en-US" sz="950" b="1" dirty="0">
                <a:solidFill>
                  <a:srgbClr val="3A3630"/>
                </a:solidFill>
                <a:latin typeface="Source Sans 3 Bold" pitchFamily="34" charset="0"/>
                <a:ea typeface="Source Sans 3 Bold" pitchFamily="34" charset="-122"/>
                <a:cs typeface="Source Sans 3 Bold" pitchFamily="34" charset="-120"/>
              </a:rPr>
              <a:t>Relevant Training Material</a:t>
            </a:r>
            <a:r>
              <a:rPr lang="en-US" sz="950" dirty="0">
                <a:solidFill>
                  <a:srgbClr val="3A3630"/>
                </a:solidFill>
                <a:latin typeface="Source Sans 3" pitchFamily="34" charset="0"/>
                <a:ea typeface="Source Sans 3" pitchFamily="34" charset="-122"/>
                <a:cs typeface="Source Sans 3" pitchFamily="34" charset="-120"/>
              </a:rPr>
              <a:t>. Suggested next topic: </a:t>
            </a:r>
            <a:r>
              <a:rPr lang="en-US" sz="950" b="1" dirty="0">
                <a:solidFill>
                  <a:srgbClr val="3A3630"/>
                </a:solidFill>
                <a:latin typeface="Source Sans 3 Bold" pitchFamily="34" charset="0"/>
                <a:ea typeface="Source Sans 3 Bold" pitchFamily="34" charset="-122"/>
                <a:cs typeface="Source Sans 3 Bold" pitchFamily="34" charset="-120"/>
              </a:rPr>
              <a:t>Backtracking</a:t>
            </a:r>
            <a:r>
              <a:rPr lang="en-US" sz="950" dirty="0">
                <a:solidFill>
                  <a:srgbClr val="3A3630"/>
                </a:solidFill>
                <a:latin typeface="Source Sans 3" pitchFamily="34" charset="0"/>
                <a:ea typeface="Source Sans 3" pitchFamily="34" charset="-122"/>
                <a:cs typeface="Source Sans 3" pitchFamily="34" charset="-120"/>
              </a:rPr>
              <a:t>.</a:t>
            </a:r>
            <a:endParaRPr lang="en-US" sz="950" dirty="0"/>
          </a:p>
        </p:txBody>
      </p:sp>
      <p:pic>
        <p:nvPicPr>
          <p:cNvPr id="28"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8491" y="5148630"/>
            <a:ext cx="10795524" cy="1025426"/>
          </a:xfrm>
          <a:prstGeom prst="rect">
            <a:avLst/>
          </a:prstGeom>
        </p:spPr>
      </p:pic>
      <p:sp>
        <p:nvSpPr>
          <p:cNvPr id="29" name="Text 20"/>
          <p:cNvSpPr/>
          <p:nvPr/>
        </p:nvSpPr>
        <p:spPr>
          <a:xfrm>
            <a:off x="6022229" y="4913412"/>
            <a:ext cx="147237" cy="184051"/>
          </a:xfrm>
          <a:prstGeom prst="rect">
            <a:avLst/>
          </a:prstGeom>
          <a:noFill/>
          <a:ln/>
        </p:spPr>
        <p:txBody>
          <a:bodyPr wrap="none" lIns="0" tIns="0" rIns="0" bIns="0" rtlCol="0" anchor="ctr"/>
          <a:lstStyle/>
          <a:p>
            <a:pPr marL="0" indent="0" algn="ctr">
              <a:lnSpc>
                <a:spcPct val="100000"/>
              </a:lnSpc>
              <a:buNone/>
            </a:pPr>
            <a:r>
              <a:rPr lang="en-US" sz="1150" dirty="0">
                <a:solidFill>
                  <a:srgbClr val="FFFFFF"/>
                </a:solidFill>
                <a:latin typeface="Lora" pitchFamily="34" charset="0"/>
                <a:ea typeface="Lora" pitchFamily="34" charset="-122"/>
                <a:cs typeface="Lora" pitchFamily="34" charset="-120"/>
              </a:rPr>
              <a:t>7</a:t>
            </a:r>
            <a:endParaRPr lang="en-US" sz="1150" dirty="0"/>
          </a:p>
        </p:txBody>
      </p:sp>
      <p:sp>
        <p:nvSpPr>
          <p:cNvPr id="30" name="Text 21"/>
          <p:cNvSpPr/>
          <p:nvPr/>
        </p:nvSpPr>
        <p:spPr>
          <a:xfrm>
            <a:off x="833417" y="5459295"/>
            <a:ext cx="10524862" cy="180380"/>
          </a:xfrm>
          <a:prstGeom prst="rect">
            <a:avLst/>
          </a:prstGeom>
          <a:noFill/>
          <a:ln/>
        </p:spPr>
        <p:txBody>
          <a:bodyPr wrap="none" lIns="0" tIns="0" rIns="0" bIns="0" rtlCol="0" anchor="t"/>
          <a:lstStyle/>
          <a:p>
            <a:pPr marL="0" indent="0" algn="l">
              <a:lnSpc>
                <a:spcPct val="104000"/>
              </a:lnSpc>
              <a:buNone/>
            </a:pPr>
            <a:r>
              <a:rPr lang="en-US" sz="1100" dirty="0">
                <a:solidFill>
                  <a:srgbClr val="3A3630"/>
                </a:solidFill>
                <a:latin typeface="Lora" pitchFamily="34" charset="0"/>
                <a:ea typeface="Lora" pitchFamily="34" charset="-122"/>
                <a:cs typeface="Lora" pitchFamily="34" charset="-120"/>
              </a:rPr>
              <a:t>7. Sources are displayed</a:t>
            </a:r>
            <a:endParaRPr lang="en-US" sz="1100" dirty="0"/>
          </a:p>
        </p:txBody>
      </p:sp>
      <p:sp>
        <p:nvSpPr>
          <p:cNvPr id="31" name="Text 22"/>
          <p:cNvSpPr/>
          <p:nvPr/>
        </p:nvSpPr>
        <p:spPr>
          <a:xfrm>
            <a:off x="833417" y="5701008"/>
            <a:ext cx="10524862" cy="167184"/>
          </a:xfrm>
          <a:prstGeom prst="rect">
            <a:avLst/>
          </a:prstGeom>
          <a:noFill/>
          <a:ln/>
        </p:spPr>
        <p:txBody>
          <a:bodyPr wrap="none" lIns="0" tIns="0" rIns="0" bIns="0" rtlCol="0" anchor="t"/>
          <a:lstStyle/>
          <a:p>
            <a:pPr marL="0" indent="0" algn="l">
              <a:lnSpc>
                <a:spcPct val="114000"/>
              </a:lnSpc>
              <a:buNone/>
            </a:pPr>
            <a:r>
              <a:rPr lang="en-US" sz="950" dirty="0">
                <a:solidFill>
                  <a:srgbClr val="3A3630"/>
                </a:solidFill>
                <a:latin typeface="Source Sans 3" pitchFamily="34" charset="0"/>
                <a:ea typeface="Source Sans 3" pitchFamily="34" charset="-122"/>
                <a:cs typeface="Source Sans 3" pitchFamily="34" charset="-120"/>
              </a:rPr>
              <a:t>Sources: </a:t>
            </a:r>
            <a:r>
              <a:rPr lang="en-US" sz="950" b="1" dirty="0">
                <a:solidFill>
                  <a:srgbClr val="3A3630"/>
                </a:solidFill>
                <a:latin typeface="Source Sans 3 Bold" pitchFamily="34" charset="0"/>
                <a:ea typeface="Source Sans 3 Bold" pitchFamily="34" charset="-122"/>
                <a:cs typeface="Source Sans 3 Bold" pitchFamily="34" charset="-120"/>
              </a:rPr>
              <a:t>DSA Notes</a:t>
            </a:r>
            <a:r>
              <a:rPr lang="en-US" sz="950" dirty="0">
                <a:solidFill>
                  <a:srgbClr val="3A3630"/>
                </a:solidFill>
                <a:latin typeface="Source Sans 3" pitchFamily="34" charset="0"/>
                <a:ea typeface="Source Sans 3" pitchFamily="34" charset="-122"/>
                <a:cs typeface="Source Sans 3" pitchFamily="34" charset="-120"/>
              </a:rPr>
              <a:t> — relevant section; </a:t>
            </a:r>
            <a:r>
              <a:rPr lang="en-US" sz="950" b="1" dirty="0">
                <a:solidFill>
                  <a:srgbClr val="3A3630"/>
                </a:solidFill>
                <a:latin typeface="Source Sans 3 Bold" pitchFamily="34" charset="0"/>
                <a:ea typeface="Source Sans 3 Bold" pitchFamily="34" charset="-122"/>
                <a:cs typeface="Source Sans 3 Bold" pitchFamily="34" charset="-120"/>
              </a:rPr>
              <a:t>Training Resource</a:t>
            </a:r>
            <a:r>
              <a:rPr lang="en-US" sz="950" dirty="0">
                <a:solidFill>
                  <a:srgbClr val="3A3630"/>
                </a:solidFill>
                <a:latin typeface="Source Sans 3" pitchFamily="34" charset="0"/>
                <a:ea typeface="Source Sans 3" pitchFamily="34" charset="-122"/>
                <a:cs typeface="Source Sans 3" pitchFamily="34" charset="-120"/>
              </a:rPr>
              <a:t> — relevant section.</a:t>
            </a:r>
            <a:endParaRPr lang="en-US" sz="950" dirty="0"/>
          </a:p>
        </p:txBody>
      </p:sp>
      <p:sp>
        <p:nvSpPr>
          <p:cNvPr id="32" name="Shape 23"/>
          <p:cNvSpPr/>
          <p:nvPr/>
        </p:nvSpPr>
        <p:spPr>
          <a:xfrm>
            <a:off x="489135" y="6360749"/>
            <a:ext cx="10795524" cy="392311"/>
          </a:xfrm>
          <a:prstGeom prst="roundRect">
            <a:avLst>
              <a:gd name="adj" fmla="val 4692"/>
            </a:avLst>
          </a:prstGeom>
          <a:solidFill>
            <a:srgbClr val="E2ECDF"/>
          </a:solidFill>
          <a:ln/>
        </p:spPr>
      </p:sp>
      <p:pic>
        <p:nvPicPr>
          <p:cNvPr id="33" name="Image 7" descr="preencoded.png"/>
          <p:cNvPicPr>
            <a:picLocks noChangeAspect="1"/>
          </p:cNvPicPr>
          <p:nvPr/>
        </p:nvPicPr>
        <p:blipFill>
          <a:blip r:embed="rId6"/>
          <a:stretch>
            <a:fillRect/>
          </a:stretch>
        </p:blipFill>
        <p:spPr>
          <a:xfrm>
            <a:off x="783908" y="6557862"/>
            <a:ext cx="153388" cy="122634"/>
          </a:xfrm>
          <a:prstGeom prst="rect">
            <a:avLst/>
          </a:prstGeom>
        </p:spPr>
      </p:pic>
      <p:sp>
        <p:nvSpPr>
          <p:cNvPr id="34" name="Text 24"/>
          <p:cNvSpPr/>
          <p:nvPr/>
        </p:nvSpPr>
        <p:spPr>
          <a:xfrm>
            <a:off x="1096737" y="6523335"/>
            <a:ext cx="10883826" cy="167184"/>
          </a:xfrm>
          <a:prstGeom prst="rect">
            <a:avLst/>
          </a:prstGeom>
          <a:noFill/>
          <a:ln/>
        </p:spPr>
        <p:txBody>
          <a:bodyPr wrap="none" lIns="0" tIns="0" rIns="0" bIns="0" rtlCol="0" anchor="t"/>
          <a:lstStyle/>
          <a:p>
            <a:pPr marL="0" indent="0" algn="l">
              <a:lnSpc>
                <a:spcPct val="114000"/>
              </a:lnSpc>
              <a:buNone/>
            </a:pPr>
            <a:r>
              <a:rPr lang="en-US" sz="950" dirty="0">
                <a:solidFill>
                  <a:srgbClr val="000000"/>
                </a:solidFill>
                <a:latin typeface="Source Sans 3" pitchFamily="34" charset="0"/>
                <a:ea typeface="Source Sans 3" pitchFamily="34" charset="-122"/>
                <a:cs typeface="Source Sans 3" pitchFamily="34" charset="-120"/>
              </a:rPr>
              <a:t>Sample/mock data only. No actual college documents, faculty names, or real source text are included.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98086" y="479921"/>
            <a:ext cx="10795524" cy="256679"/>
          </a:xfrm>
          <a:prstGeom prst="rect">
            <a:avLst/>
          </a:prstGeom>
          <a:noFill/>
          <a:ln/>
        </p:spPr>
        <p:txBody>
          <a:bodyPr wrap="none" lIns="0" tIns="0" rIns="0" bIns="0" rtlCol="0" anchor="t"/>
          <a:lstStyle/>
          <a:p>
            <a:pPr marL="0" indent="0" algn="l">
              <a:lnSpc>
                <a:spcPct val="104000"/>
              </a:lnSpc>
              <a:buNone/>
            </a:pPr>
            <a:r>
              <a:rPr lang="en-US" sz="1600" dirty="0">
                <a:solidFill>
                  <a:srgbClr val="38512F"/>
                </a:solidFill>
                <a:latin typeface="Lora" pitchFamily="34" charset="0"/>
                <a:ea typeface="Lora" pitchFamily="34" charset="-122"/>
                <a:cs typeface="Lora" pitchFamily="34" charset="-120"/>
              </a:rPr>
              <a:t>MVP + System Architecture + Evaluation</a:t>
            </a:r>
            <a:endParaRPr lang="en-US" sz="1600" dirty="0"/>
          </a:p>
        </p:txBody>
      </p:sp>
      <p:sp>
        <p:nvSpPr>
          <p:cNvPr id="3" name="Text 1"/>
          <p:cNvSpPr/>
          <p:nvPr/>
        </p:nvSpPr>
        <p:spPr>
          <a:xfrm>
            <a:off x="698086" y="753963"/>
            <a:ext cx="10795524" cy="205383"/>
          </a:xfrm>
          <a:prstGeom prst="rect">
            <a:avLst/>
          </a:prstGeom>
          <a:noFill/>
          <a:ln/>
        </p:spPr>
        <p:txBody>
          <a:bodyPr wrap="none" lIns="0" tIns="0" rIns="0" bIns="0" rtlCol="0" anchor="t"/>
          <a:lstStyle/>
          <a:p>
            <a:pPr marL="0" indent="0" algn="l">
              <a:lnSpc>
                <a:spcPct val="104000"/>
              </a:lnSpc>
              <a:buNone/>
            </a:pPr>
            <a:r>
              <a:rPr lang="en-US" sz="1250" dirty="0">
                <a:solidFill>
                  <a:srgbClr val="38512F"/>
                </a:solidFill>
                <a:latin typeface="Lora" pitchFamily="34" charset="0"/>
                <a:ea typeface="Lora" pitchFamily="34" charset="-122"/>
                <a:cs typeface="Lora" pitchFamily="34" charset="-120"/>
              </a:rPr>
              <a:t>SECTION A - MVP SCOPE</a:t>
            </a:r>
            <a:endParaRPr lang="en-US" sz="1250" dirty="0"/>
          </a:p>
        </p:txBody>
      </p:sp>
      <p:sp>
        <p:nvSpPr>
          <p:cNvPr id="4" name="Text 2"/>
          <p:cNvSpPr/>
          <p:nvPr/>
        </p:nvSpPr>
        <p:spPr>
          <a:xfrm>
            <a:off x="698086" y="1024731"/>
            <a:ext cx="10795524" cy="412353"/>
          </a:xfrm>
          <a:prstGeom prst="rect">
            <a:avLst/>
          </a:prstGeom>
          <a:noFill/>
          <a:ln/>
        </p:spPr>
        <p:txBody>
          <a:bodyPr wrap="square" lIns="0" tIns="0" rIns="0" bIns="0" rtlCol="0" anchor="t"/>
          <a:lstStyle/>
          <a:p>
            <a:pPr marL="0" indent="0" algn="l">
              <a:lnSpc>
                <a:spcPct val="100000"/>
              </a:lnSpc>
              <a:spcAft>
                <a:spcPts val="350"/>
              </a:spcAft>
              <a:buNone/>
            </a:pPr>
            <a:r>
              <a:rPr lang="en-US" sz="650" b="1" dirty="0">
                <a:solidFill>
                  <a:srgbClr val="3A3630"/>
                </a:solidFill>
                <a:latin typeface="Source Sans 3 Bold" pitchFamily="34" charset="0"/>
                <a:ea typeface="Source Sans 3 Bold" pitchFamily="34" charset="-122"/>
                <a:cs typeface="Source Sans 3 Bold" pitchFamily="34" charset="-120"/>
              </a:rPr>
              <a:t>ONLY Technical Training Department.</a:t>
            </a:r>
            <a:endParaRPr lang="en-US" sz="650" dirty="0"/>
          </a:p>
          <a:p>
            <a:pPr marL="0" indent="0" algn="l">
              <a:lnSpc>
                <a:spcPct val="100000"/>
              </a:lnSpc>
              <a:spcAft>
                <a:spcPts val="350"/>
              </a:spcAft>
              <a:buNone/>
            </a:pPr>
            <a:r>
              <a:rPr lang="en-US" sz="650" b="1" dirty="0">
                <a:solidFill>
                  <a:srgbClr val="3A3630"/>
                </a:solidFill>
                <a:latin typeface="Source Sans 3 Bold" pitchFamily="34" charset="0"/>
                <a:ea typeface="Source Sans 3 Bold" pitchFamily="34" charset="-122"/>
                <a:cs typeface="Source Sans 3 Bold" pitchFamily="34" charset="-120"/>
              </a:rPr>
              <a:t>MVP includes:</a:t>
            </a:r>
            <a:r>
              <a:rPr lang="en-US" sz="650" dirty="0">
                <a:solidFill>
                  <a:srgbClr val="3A3630"/>
                </a:solidFill>
                <a:latin typeface="Source Sans 3" pitchFamily="34" charset="0"/>
                <a:ea typeface="Source Sans 3" pitchFamily="34" charset="-122"/>
                <a:cs typeface="Source Sans 3" pitchFamily="34" charset="-120"/>
              </a:rPr>
              <a:t> Authorized resource collection, PDF/document processing, image OCR when required, chunking, metadata, embeddings, vector database, semantic search, RAG-based Q&amp;A, source references, basic ranking/relevance filtering, initial benchmarking.</a:t>
            </a:r>
            <a:endParaRPr lang="en-US" sz="650" dirty="0"/>
          </a:p>
          <a:p>
            <a:pPr marL="0" indent="0" algn="l">
              <a:lnSpc>
                <a:spcPct val="100000"/>
              </a:lnSpc>
              <a:buNone/>
            </a:pPr>
            <a:r>
              <a:rPr lang="en-US" sz="650" b="1" dirty="0">
                <a:solidFill>
                  <a:srgbClr val="3A3630"/>
                </a:solidFill>
                <a:latin typeface="Source Sans 3 Bold" pitchFamily="34" charset="0"/>
                <a:ea typeface="Source Sans 3 Bold" pitchFamily="34" charset="-122"/>
                <a:cs typeface="Source Sans 3 Bold" pitchFamily="34" charset="-120"/>
              </a:rPr>
              <a:t>NOT in MVP:</a:t>
            </a:r>
            <a:r>
              <a:rPr lang="en-US" sz="650" dirty="0">
                <a:solidFill>
                  <a:srgbClr val="3A3630"/>
                </a:solidFill>
                <a:latin typeface="Source Sans 3" pitchFamily="34" charset="0"/>
                <a:ea typeface="Source Sans 3" pitchFamily="34" charset="-122"/>
                <a:cs typeface="Source Sans 3" pitchFamily="34" charset="-120"/>
              </a:rPr>
              <a:t> Whole-college deployment, IoT/hardware, complex knowledge graph, unnecessary advanced features.</a:t>
            </a:r>
            <a:endParaRPr lang="en-US" sz="650" dirty="0"/>
          </a:p>
        </p:txBody>
      </p:sp>
      <p:sp>
        <p:nvSpPr>
          <p:cNvPr id="5" name="Text 3"/>
          <p:cNvSpPr/>
          <p:nvPr/>
        </p:nvSpPr>
        <p:spPr>
          <a:xfrm>
            <a:off x="698086" y="1502470"/>
            <a:ext cx="10795524" cy="205383"/>
          </a:xfrm>
          <a:prstGeom prst="rect">
            <a:avLst/>
          </a:prstGeom>
          <a:noFill/>
          <a:ln/>
        </p:spPr>
        <p:txBody>
          <a:bodyPr wrap="none" lIns="0" tIns="0" rIns="0" bIns="0" rtlCol="0" anchor="t"/>
          <a:lstStyle/>
          <a:p>
            <a:pPr marL="0" indent="0" algn="l">
              <a:lnSpc>
                <a:spcPct val="104000"/>
              </a:lnSpc>
              <a:buNone/>
            </a:pPr>
            <a:r>
              <a:rPr lang="en-US" sz="1250" dirty="0">
                <a:solidFill>
                  <a:srgbClr val="38512F"/>
                </a:solidFill>
                <a:latin typeface="Lora" pitchFamily="34" charset="0"/>
                <a:ea typeface="Lora" pitchFamily="34" charset="-122"/>
                <a:cs typeface="Lora" pitchFamily="34" charset="-120"/>
              </a:rPr>
              <a:t>SECTION B - SYSTEM ARCHITECTURE</a:t>
            </a:r>
            <a:endParaRPr lang="en-US" sz="1250" dirty="0"/>
          </a:p>
        </p:txBody>
      </p:sp>
      <p:sp>
        <p:nvSpPr>
          <p:cNvPr id="6" name="Text 4"/>
          <p:cNvSpPr/>
          <p:nvPr/>
        </p:nvSpPr>
        <p:spPr>
          <a:xfrm>
            <a:off x="698086" y="1816795"/>
            <a:ext cx="5291303" cy="128290"/>
          </a:xfrm>
          <a:prstGeom prst="rect">
            <a:avLst/>
          </a:prstGeom>
          <a:noFill/>
          <a:ln/>
        </p:spPr>
        <p:txBody>
          <a:bodyPr wrap="none" lIns="0" tIns="0" rIns="0" bIns="0" rtlCol="0" anchor="t"/>
          <a:lstStyle/>
          <a:p>
            <a:pPr marL="0" indent="0" algn="l">
              <a:lnSpc>
                <a:spcPct val="104000"/>
              </a:lnSpc>
              <a:buNone/>
            </a:pPr>
            <a:r>
              <a:rPr lang="en-US" sz="800" dirty="0">
                <a:solidFill>
                  <a:srgbClr val="38512F"/>
                </a:solidFill>
                <a:latin typeface="Lora" pitchFamily="34" charset="0"/>
                <a:ea typeface="Lora" pitchFamily="34" charset="-122"/>
                <a:cs typeface="Lora" pitchFamily="34" charset="-120"/>
              </a:rPr>
              <a:t>Query to Answer</a:t>
            </a:r>
            <a:endParaRPr lang="en-US" sz="800" dirty="0"/>
          </a:p>
        </p:txBody>
      </p:sp>
      <p:pic>
        <p:nvPicPr>
          <p:cNvPr id="7" name="Image 0" descr="preencoded.png"/>
          <p:cNvPicPr>
            <a:picLocks noChangeAspect="1"/>
          </p:cNvPicPr>
          <p:nvPr/>
        </p:nvPicPr>
        <p:blipFill>
          <a:blip r:embed="rId3"/>
          <a:stretch>
            <a:fillRect/>
          </a:stretch>
        </p:blipFill>
        <p:spPr>
          <a:xfrm>
            <a:off x="698086" y="1937542"/>
            <a:ext cx="436353" cy="523577"/>
          </a:xfrm>
          <a:prstGeom prst="rect">
            <a:avLst/>
          </a:prstGeom>
        </p:spPr>
      </p:pic>
      <p:sp>
        <p:nvSpPr>
          <p:cNvPr id="8" name="Text 5"/>
          <p:cNvSpPr/>
          <p:nvPr/>
        </p:nvSpPr>
        <p:spPr>
          <a:xfrm>
            <a:off x="1177995" y="2081312"/>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STUDENT</a:t>
            </a:r>
            <a:endParaRPr lang="en-US" sz="800" dirty="0"/>
          </a:p>
        </p:txBody>
      </p:sp>
      <p:pic>
        <p:nvPicPr>
          <p:cNvPr id="9" name="Image 1" descr="preencoded.png"/>
          <p:cNvPicPr>
            <a:picLocks noChangeAspect="1"/>
          </p:cNvPicPr>
          <p:nvPr/>
        </p:nvPicPr>
        <p:blipFill>
          <a:blip r:embed="rId4"/>
          <a:stretch>
            <a:fillRect/>
          </a:stretch>
        </p:blipFill>
        <p:spPr>
          <a:xfrm>
            <a:off x="698086" y="2431729"/>
            <a:ext cx="436353" cy="523577"/>
          </a:xfrm>
          <a:prstGeom prst="rect">
            <a:avLst/>
          </a:prstGeom>
        </p:spPr>
      </p:pic>
      <p:sp>
        <p:nvSpPr>
          <p:cNvPr id="10" name="Text 6"/>
          <p:cNvSpPr/>
          <p:nvPr/>
        </p:nvSpPr>
        <p:spPr>
          <a:xfrm>
            <a:off x="1177995" y="2604889"/>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Frontend (React.js)</a:t>
            </a:r>
            <a:endParaRPr lang="en-US" sz="800" dirty="0"/>
          </a:p>
        </p:txBody>
      </p:sp>
      <p:pic>
        <p:nvPicPr>
          <p:cNvPr id="11" name="Image 2" descr="preencoded.png"/>
          <p:cNvPicPr>
            <a:picLocks noChangeAspect="1"/>
          </p:cNvPicPr>
          <p:nvPr/>
        </p:nvPicPr>
        <p:blipFill>
          <a:blip r:embed="rId5"/>
          <a:stretch>
            <a:fillRect/>
          </a:stretch>
        </p:blipFill>
        <p:spPr>
          <a:xfrm>
            <a:off x="698086" y="2926392"/>
            <a:ext cx="436353" cy="523577"/>
          </a:xfrm>
          <a:prstGeom prst="rect">
            <a:avLst/>
          </a:prstGeom>
        </p:spPr>
      </p:pic>
      <p:sp>
        <p:nvSpPr>
          <p:cNvPr id="12" name="Text 7"/>
          <p:cNvSpPr/>
          <p:nvPr/>
        </p:nvSpPr>
        <p:spPr>
          <a:xfrm>
            <a:off x="1177995" y="3128466"/>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Backend/API (Node.js + Express.js)</a:t>
            </a:r>
            <a:endParaRPr lang="en-US" sz="800" dirty="0"/>
          </a:p>
        </p:txBody>
      </p:sp>
      <p:pic>
        <p:nvPicPr>
          <p:cNvPr id="13" name="Image 3" descr="preencoded.png"/>
          <p:cNvPicPr>
            <a:picLocks noChangeAspect="1"/>
          </p:cNvPicPr>
          <p:nvPr/>
        </p:nvPicPr>
        <p:blipFill>
          <a:blip r:embed="rId6"/>
          <a:stretch>
            <a:fillRect/>
          </a:stretch>
        </p:blipFill>
        <p:spPr>
          <a:xfrm>
            <a:off x="715401" y="3432283"/>
            <a:ext cx="436353" cy="523577"/>
          </a:xfrm>
          <a:prstGeom prst="rect">
            <a:avLst/>
          </a:prstGeom>
        </p:spPr>
      </p:pic>
      <p:sp>
        <p:nvSpPr>
          <p:cNvPr id="14" name="Text 8"/>
          <p:cNvSpPr/>
          <p:nvPr/>
        </p:nvSpPr>
        <p:spPr>
          <a:xfrm>
            <a:off x="1177995" y="3652044"/>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AI/RAG Service (Python)</a:t>
            </a:r>
            <a:endParaRPr lang="en-US" sz="800" dirty="0"/>
          </a:p>
        </p:txBody>
      </p:sp>
      <p:pic>
        <p:nvPicPr>
          <p:cNvPr id="15" name="Image 4" descr="preencoded.png"/>
          <p:cNvPicPr>
            <a:picLocks noChangeAspect="1"/>
          </p:cNvPicPr>
          <p:nvPr/>
        </p:nvPicPr>
        <p:blipFill>
          <a:blip r:embed="rId7"/>
          <a:stretch>
            <a:fillRect/>
          </a:stretch>
        </p:blipFill>
        <p:spPr>
          <a:xfrm>
            <a:off x="706348" y="3955860"/>
            <a:ext cx="436353" cy="523577"/>
          </a:xfrm>
          <a:prstGeom prst="rect">
            <a:avLst/>
          </a:prstGeom>
        </p:spPr>
      </p:pic>
      <p:sp>
        <p:nvSpPr>
          <p:cNvPr id="16" name="Text 9"/>
          <p:cNvSpPr/>
          <p:nvPr/>
        </p:nvSpPr>
        <p:spPr>
          <a:xfrm>
            <a:off x="1177995" y="4175621"/>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Query Processing</a:t>
            </a:r>
            <a:endParaRPr lang="en-US" sz="800" dirty="0"/>
          </a:p>
        </p:txBody>
      </p:sp>
      <p:pic>
        <p:nvPicPr>
          <p:cNvPr id="17" name="Image 5" descr="preencoded.png"/>
          <p:cNvPicPr>
            <a:picLocks noChangeAspect="1"/>
          </p:cNvPicPr>
          <p:nvPr/>
        </p:nvPicPr>
        <p:blipFill>
          <a:blip r:embed="rId8"/>
          <a:stretch>
            <a:fillRect/>
          </a:stretch>
        </p:blipFill>
        <p:spPr>
          <a:xfrm>
            <a:off x="698086" y="4450563"/>
            <a:ext cx="436353" cy="523577"/>
          </a:xfrm>
          <a:prstGeom prst="rect">
            <a:avLst/>
          </a:prstGeom>
        </p:spPr>
      </p:pic>
      <p:sp>
        <p:nvSpPr>
          <p:cNvPr id="18" name="Text 10"/>
          <p:cNvSpPr/>
          <p:nvPr/>
        </p:nvSpPr>
        <p:spPr>
          <a:xfrm>
            <a:off x="1177995" y="4699198"/>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Embeddings</a:t>
            </a:r>
            <a:endParaRPr lang="en-US" sz="800" dirty="0"/>
          </a:p>
        </p:txBody>
      </p:sp>
      <p:pic>
        <p:nvPicPr>
          <p:cNvPr id="19" name="Image 6" descr="preencoded.png"/>
          <p:cNvPicPr>
            <a:picLocks noChangeAspect="1"/>
          </p:cNvPicPr>
          <p:nvPr/>
        </p:nvPicPr>
        <p:blipFill>
          <a:blip r:embed="rId9"/>
          <a:stretch>
            <a:fillRect/>
          </a:stretch>
        </p:blipFill>
        <p:spPr>
          <a:xfrm>
            <a:off x="698086" y="4935065"/>
            <a:ext cx="436353" cy="523577"/>
          </a:xfrm>
          <a:prstGeom prst="rect">
            <a:avLst/>
          </a:prstGeom>
        </p:spPr>
      </p:pic>
      <p:sp>
        <p:nvSpPr>
          <p:cNvPr id="20" name="Text 11"/>
          <p:cNvSpPr/>
          <p:nvPr/>
        </p:nvSpPr>
        <p:spPr>
          <a:xfrm>
            <a:off x="1177995" y="5222776"/>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Vector Search</a:t>
            </a:r>
            <a:endParaRPr lang="en-US" sz="800" dirty="0"/>
          </a:p>
        </p:txBody>
      </p:sp>
      <p:pic>
        <p:nvPicPr>
          <p:cNvPr id="21" name="Image 7" descr="preencoded.png"/>
          <p:cNvPicPr>
            <a:picLocks noChangeAspect="1"/>
          </p:cNvPicPr>
          <p:nvPr/>
        </p:nvPicPr>
        <p:blipFill>
          <a:blip r:embed="rId10"/>
          <a:stretch>
            <a:fillRect/>
          </a:stretch>
        </p:blipFill>
        <p:spPr>
          <a:xfrm>
            <a:off x="698085" y="5428314"/>
            <a:ext cx="436353" cy="523577"/>
          </a:xfrm>
          <a:prstGeom prst="rect">
            <a:avLst/>
          </a:prstGeom>
        </p:spPr>
      </p:pic>
      <p:sp>
        <p:nvSpPr>
          <p:cNvPr id="22" name="Text 12"/>
          <p:cNvSpPr/>
          <p:nvPr/>
        </p:nvSpPr>
        <p:spPr>
          <a:xfrm>
            <a:off x="1177995" y="5746353"/>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Retrieved Context</a:t>
            </a:r>
            <a:endParaRPr lang="en-US" sz="800" dirty="0"/>
          </a:p>
        </p:txBody>
      </p:sp>
      <p:pic>
        <p:nvPicPr>
          <p:cNvPr id="23" name="Image 8" descr="preencoded.png"/>
          <p:cNvPicPr>
            <a:picLocks noChangeAspect="1"/>
          </p:cNvPicPr>
          <p:nvPr/>
        </p:nvPicPr>
        <p:blipFill>
          <a:blip r:embed="rId11"/>
          <a:stretch>
            <a:fillRect/>
          </a:stretch>
        </p:blipFill>
        <p:spPr>
          <a:xfrm>
            <a:off x="687547" y="5894885"/>
            <a:ext cx="436353" cy="523577"/>
          </a:xfrm>
          <a:prstGeom prst="rect">
            <a:avLst/>
          </a:prstGeom>
        </p:spPr>
      </p:pic>
      <p:sp>
        <p:nvSpPr>
          <p:cNvPr id="24" name="Text 13"/>
          <p:cNvSpPr/>
          <p:nvPr/>
        </p:nvSpPr>
        <p:spPr>
          <a:xfrm>
            <a:off x="1177995" y="6269930"/>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RAG + LLM</a:t>
            </a:r>
            <a:endParaRPr lang="en-US" sz="800" dirty="0"/>
          </a:p>
        </p:txBody>
      </p:sp>
      <p:pic>
        <p:nvPicPr>
          <p:cNvPr id="25" name="Image 9" descr="preencoded.png"/>
          <p:cNvPicPr>
            <a:picLocks noChangeAspect="1"/>
          </p:cNvPicPr>
          <p:nvPr/>
        </p:nvPicPr>
        <p:blipFill>
          <a:blip r:embed="rId12"/>
          <a:stretch>
            <a:fillRect/>
          </a:stretch>
        </p:blipFill>
        <p:spPr>
          <a:xfrm>
            <a:off x="713539" y="6363912"/>
            <a:ext cx="436353" cy="523577"/>
          </a:xfrm>
          <a:prstGeom prst="rect">
            <a:avLst/>
          </a:prstGeom>
        </p:spPr>
      </p:pic>
      <p:sp>
        <p:nvSpPr>
          <p:cNvPr id="26" name="Text 14"/>
          <p:cNvSpPr/>
          <p:nvPr/>
        </p:nvSpPr>
        <p:spPr>
          <a:xfrm>
            <a:off x="1177995" y="6667799"/>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Answer + Sources</a:t>
            </a:r>
            <a:endParaRPr lang="en-US" sz="800" dirty="0"/>
          </a:p>
        </p:txBody>
      </p:sp>
      <p:sp>
        <p:nvSpPr>
          <p:cNvPr id="27" name="Text 15"/>
          <p:cNvSpPr/>
          <p:nvPr/>
        </p:nvSpPr>
        <p:spPr>
          <a:xfrm>
            <a:off x="6208656" y="1816795"/>
            <a:ext cx="5291303" cy="128290"/>
          </a:xfrm>
          <a:prstGeom prst="rect">
            <a:avLst/>
          </a:prstGeom>
          <a:noFill/>
          <a:ln/>
        </p:spPr>
        <p:txBody>
          <a:bodyPr wrap="none" lIns="0" tIns="0" rIns="0" bIns="0" rtlCol="0" anchor="t"/>
          <a:lstStyle/>
          <a:p>
            <a:pPr marL="0" indent="0" algn="l">
              <a:lnSpc>
                <a:spcPct val="104000"/>
              </a:lnSpc>
              <a:buNone/>
            </a:pPr>
            <a:r>
              <a:rPr lang="en-US" sz="800" dirty="0">
                <a:solidFill>
                  <a:srgbClr val="38512F"/>
                </a:solidFill>
                <a:latin typeface="Lora" pitchFamily="34" charset="0"/>
                <a:ea typeface="Lora" pitchFamily="34" charset="-122"/>
                <a:cs typeface="Lora" pitchFamily="34" charset="-120"/>
              </a:rPr>
              <a:t>Data Pipeline</a:t>
            </a:r>
            <a:endParaRPr lang="en-US" sz="800" dirty="0"/>
          </a:p>
        </p:txBody>
      </p:sp>
      <p:pic>
        <p:nvPicPr>
          <p:cNvPr id="28" name="Image 10" descr="preencoded.png"/>
          <p:cNvPicPr>
            <a:picLocks noChangeAspect="1"/>
          </p:cNvPicPr>
          <p:nvPr/>
        </p:nvPicPr>
        <p:blipFill>
          <a:blip r:embed="rId13"/>
          <a:stretch>
            <a:fillRect/>
          </a:stretch>
        </p:blipFill>
        <p:spPr>
          <a:xfrm>
            <a:off x="6208656" y="1994098"/>
            <a:ext cx="436353" cy="523577"/>
          </a:xfrm>
          <a:prstGeom prst="rect">
            <a:avLst/>
          </a:prstGeom>
        </p:spPr>
      </p:pic>
      <p:sp>
        <p:nvSpPr>
          <p:cNvPr id="29" name="Text 16"/>
          <p:cNvSpPr/>
          <p:nvPr/>
        </p:nvSpPr>
        <p:spPr>
          <a:xfrm>
            <a:off x="6688565" y="2081312"/>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Department Resources</a:t>
            </a:r>
            <a:endParaRPr lang="en-US" sz="800" dirty="0"/>
          </a:p>
        </p:txBody>
      </p:sp>
      <p:pic>
        <p:nvPicPr>
          <p:cNvPr id="30" name="Image 11" descr="preencoded.png"/>
          <p:cNvPicPr>
            <a:picLocks noChangeAspect="1"/>
          </p:cNvPicPr>
          <p:nvPr/>
        </p:nvPicPr>
        <p:blipFill>
          <a:blip r:embed="rId14"/>
          <a:stretch>
            <a:fillRect/>
          </a:stretch>
        </p:blipFill>
        <p:spPr>
          <a:xfrm>
            <a:off x="6208656" y="2517676"/>
            <a:ext cx="436353" cy="523577"/>
          </a:xfrm>
          <a:prstGeom prst="rect">
            <a:avLst/>
          </a:prstGeom>
        </p:spPr>
      </p:pic>
      <p:sp>
        <p:nvSpPr>
          <p:cNvPr id="31" name="Text 17"/>
          <p:cNvSpPr/>
          <p:nvPr/>
        </p:nvSpPr>
        <p:spPr>
          <a:xfrm>
            <a:off x="6688565" y="2604889"/>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Processing / OCR</a:t>
            </a:r>
            <a:endParaRPr lang="en-US" sz="800" dirty="0"/>
          </a:p>
        </p:txBody>
      </p:sp>
      <p:pic>
        <p:nvPicPr>
          <p:cNvPr id="32" name="Image 12" descr="preencoded.png"/>
          <p:cNvPicPr>
            <a:picLocks noChangeAspect="1"/>
          </p:cNvPicPr>
          <p:nvPr/>
        </p:nvPicPr>
        <p:blipFill>
          <a:blip r:embed="rId8"/>
          <a:stretch>
            <a:fillRect/>
          </a:stretch>
        </p:blipFill>
        <p:spPr>
          <a:xfrm>
            <a:off x="6208656" y="3041253"/>
            <a:ext cx="436353" cy="523577"/>
          </a:xfrm>
          <a:prstGeom prst="rect">
            <a:avLst/>
          </a:prstGeom>
        </p:spPr>
      </p:pic>
      <p:sp>
        <p:nvSpPr>
          <p:cNvPr id="33" name="Text 18"/>
          <p:cNvSpPr/>
          <p:nvPr/>
        </p:nvSpPr>
        <p:spPr>
          <a:xfrm>
            <a:off x="6688565" y="3128466"/>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Chunking + Metadata</a:t>
            </a:r>
            <a:endParaRPr lang="en-US" sz="800" dirty="0"/>
          </a:p>
        </p:txBody>
      </p:sp>
      <p:pic>
        <p:nvPicPr>
          <p:cNvPr id="34" name="Image 13" descr="preencoded.png"/>
          <p:cNvPicPr>
            <a:picLocks noChangeAspect="1"/>
          </p:cNvPicPr>
          <p:nvPr/>
        </p:nvPicPr>
        <p:blipFill>
          <a:blip r:embed="rId15"/>
          <a:stretch>
            <a:fillRect/>
          </a:stretch>
        </p:blipFill>
        <p:spPr>
          <a:xfrm>
            <a:off x="6208656" y="3564830"/>
            <a:ext cx="436353" cy="523577"/>
          </a:xfrm>
          <a:prstGeom prst="rect">
            <a:avLst/>
          </a:prstGeom>
        </p:spPr>
      </p:pic>
      <p:sp>
        <p:nvSpPr>
          <p:cNvPr id="35" name="Text 19"/>
          <p:cNvSpPr/>
          <p:nvPr/>
        </p:nvSpPr>
        <p:spPr>
          <a:xfrm>
            <a:off x="6688565" y="3652044"/>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Embeddings</a:t>
            </a:r>
            <a:endParaRPr lang="en-US" sz="800" dirty="0"/>
          </a:p>
        </p:txBody>
      </p:sp>
      <p:pic>
        <p:nvPicPr>
          <p:cNvPr id="36" name="Image 14" descr="preencoded.png"/>
          <p:cNvPicPr>
            <a:picLocks noChangeAspect="1"/>
          </p:cNvPicPr>
          <p:nvPr/>
        </p:nvPicPr>
        <p:blipFill>
          <a:blip r:embed="rId16"/>
          <a:stretch>
            <a:fillRect/>
          </a:stretch>
        </p:blipFill>
        <p:spPr>
          <a:xfrm>
            <a:off x="6208656" y="4088408"/>
            <a:ext cx="436353" cy="523577"/>
          </a:xfrm>
          <a:prstGeom prst="rect">
            <a:avLst/>
          </a:prstGeom>
        </p:spPr>
      </p:pic>
      <p:sp>
        <p:nvSpPr>
          <p:cNvPr id="37" name="Text 20"/>
          <p:cNvSpPr/>
          <p:nvPr/>
        </p:nvSpPr>
        <p:spPr>
          <a:xfrm>
            <a:off x="6688565" y="4175621"/>
            <a:ext cx="4811394" cy="128290"/>
          </a:xfrm>
          <a:prstGeom prst="rect">
            <a:avLst/>
          </a:prstGeom>
          <a:noFill/>
          <a:ln/>
        </p:spPr>
        <p:txBody>
          <a:bodyPr wrap="none" lIns="0" tIns="0" rIns="0" bIns="0" rtlCol="0" anchor="t"/>
          <a:lstStyle/>
          <a:p>
            <a:pPr marL="0" indent="0" algn="l">
              <a:lnSpc>
                <a:spcPct val="104000"/>
              </a:lnSpc>
              <a:buNone/>
            </a:pPr>
            <a:r>
              <a:rPr lang="en-US" sz="800" dirty="0">
                <a:solidFill>
                  <a:srgbClr val="3A3630"/>
                </a:solidFill>
                <a:latin typeface="Lora" pitchFamily="34" charset="0"/>
                <a:ea typeface="Lora" pitchFamily="34" charset="-122"/>
                <a:cs typeface="Lora" pitchFamily="34" charset="-120"/>
              </a:rPr>
              <a:t>Vector Database</a:t>
            </a:r>
            <a:endParaRPr lang="en-US" sz="800" dirty="0"/>
          </a:p>
        </p:txBody>
      </p:sp>
      <p:sp>
        <p:nvSpPr>
          <p:cNvPr id="38" name="Shape 21"/>
          <p:cNvSpPr/>
          <p:nvPr/>
        </p:nvSpPr>
        <p:spPr>
          <a:xfrm>
            <a:off x="698086" y="7349629"/>
            <a:ext cx="10795524" cy="12700"/>
          </a:xfrm>
          <a:prstGeom prst="roundRect">
            <a:avLst>
              <a:gd name="adj" fmla="val 49999"/>
            </a:avLst>
          </a:prstGeom>
          <a:solidFill>
            <a:srgbClr val="3A3630">
              <a:alpha val="50000"/>
            </a:srgbClr>
          </a:solidFill>
          <a:ln/>
        </p:spPr>
      </p:sp>
      <p:sp>
        <p:nvSpPr>
          <p:cNvPr id="39" name="Text 22"/>
          <p:cNvSpPr/>
          <p:nvPr/>
        </p:nvSpPr>
        <p:spPr>
          <a:xfrm>
            <a:off x="6095848" y="4609659"/>
            <a:ext cx="10795524" cy="205383"/>
          </a:xfrm>
          <a:prstGeom prst="rect">
            <a:avLst/>
          </a:prstGeom>
          <a:noFill/>
          <a:ln/>
        </p:spPr>
        <p:txBody>
          <a:bodyPr wrap="none" lIns="0" tIns="0" rIns="0" bIns="0" rtlCol="0" anchor="t"/>
          <a:lstStyle/>
          <a:p>
            <a:pPr marL="0" indent="0" algn="l">
              <a:lnSpc>
                <a:spcPct val="104000"/>
              </a:lnSpc>
              <a:buNone/>
            </a:pPr>
            <a:r>
              <a:rPr lang="en-US" sz="1250" dirty="0">
                <a:solidFill>
                  <a:srgbClr val="38512F"/>
                </a:solidFill>
                <a:latin typeface="Lora" pitchFamily="34" charset="0"/>
                <a:ea typeface="Lora" pitchFamily="34" charset="-122"/>
                <a:cs typeface="Lora" pitchFamily="34" charset="-120"/>
              </a:rPr>
              <a:t>SECTION C - BENCHMARKING</a:t>
            </a:r>
            <a:endParaRPr lang="en-US" sz="1250" dirty="0"/>
          </a:p>
        </p:txBody>
      </p:sp>
      <p:sp>
        <p:nvSpPr>
          <p:cNvPr id="40" name="Text 23"/>
          <p:cNvSpPr/>
          <p:nvPr/>
        </p:nvSpPr>
        <p:spPr>
          <a:xfrm>
            <a:off x="6095848" y="4996904"/>
            <a:ext cx="10795524" cy="412353"/>
          </a:xfrm>
          <a:prstGeom prst="rect">
            <a:avLst/>
          </a:prstGeom>
          <a:noFill/>
          <a:ln/>
        </p:spPr>
        <p:txBody>
          <a:bodyPr wrap="square" lIns="0" tIns="0" rIns="0" bIns="0" rtlCol="0" anchor="t"/>
          <a:lstStyle/>
          <a:p>
            <a:pPr marL="0" indent="0" algn="l">
              <a:lnSpc>
                <a:spcPct val="100000"/>
              </a:lnSpc>
              <a:spcAft>
                <a:spcPts val="350"/>
              </a:spcAft>
              <a:buNone/>
            </a:pPr>
            <a:r>
              <a:rPr lang="en-US" sz="1200" dirty="0">
                <a:solidFill>
                  <a:srgbClr val="3A3630"/>
                </a:solidFill>
                <a:latin typeface="Source Sans 3" pitchFamily="34" charset="0"/>
                <a:ea typeface="Source Sans 3" pitchFamily="34" charset="-122"/>
                <a:cs typeface="Source Sans 3" pitchFamily="34" charset="-120"/>
              </a:rPr>
              <a:t>Create a small benchmark dataset with representative departmental queries.</a:t>
            </a:r>
            <a:endParaRPr lang="en-US" sz="1200" dirty="0"/>
          </a:p>
          <a:p>
            <a:pPr marL="0" indent="0" algn="l">
              <a:lnSpc>
                <a:spcPct val="100000"/>
              </a:lnSpc>
              <a:spcAft>
                <a:spcPts val="350"/>
              </a:spcAft>
              <a:buNone/>
            </a:pPr>
            <a:r>
              <a:rPr lang="en-US" sz="1200" dirty="0">
                <a:solidFill>
                  <a:srgbClr val="3A3630"/>
                </a:solidFill>
                <a:latin typeface="Source Sans 3" pitchFamily="34" charset="0"/>
                <a:ea typeface="Source Sans 3" pitchFamily="34" charset="-122"/>
                <a:cs typeface="Source Sans 3" pitchFamily="34" charset="-120"/>
              </a:rPr>
              <a:t>Compare </a:t>
            </a:r>
            <a:r>
              <a:rPr lang="en-US" sz="1200" b="1" dirty="0">
                <a:solidFill>
                  <a:srgbClr val="3A3630"/>
                </a:solidFill>
                <a:latin typeface="Source Sans 3 Bold" pitchFamily="34" charset="0"/>
                <a:ea typeface="Source Sans 3 Bold" pitchFamily="34" charset="-122"/>
                <a:cs typeface="Source Sans 3 Bold" pitchFamily="34" charset="-120"/>
              </a:rPr>
              <a:t>BASELINE</a:t>
            </a:r>
            <a:r>
              <a:rPr lang="en-US" sz="1200" dirty="0">
                <a:solidFill>
                  <a:srgbClr val="3A3630"/>
                </a:solidFill>
                <a:latin typeface="Source Sans 3" pitchFamily="34" charset="0"/>
                <a:ea typeface="Source Sans 3" pitchFamily="34" charset="-122"/>
                <a:cs typeface="Source Sans 3" pitchFamily="34" charset="-120"/>
              </a:rPr>
              <a:t> (keyword search) vs </a:t>
            </a:r>
            <a:r>
              <a:rPr lang="en-US" sz="1200" b="1" dirty="0">
                <a:solidFill>
                  <a:srgbClr val="3A3630"/>
                </a:solidFill>
                <a:latin typeface="Source Sans 3 Bold" pitchFamily="34" charset="0"/>
                <a:ea typeface="Source Sans 3 Bold" pitchFamily="34" charset="-122"/>
                <a:cs typeface="Source Sans 3 Bold" pitchFamily="34" charset="-120"/>
              </a:rPr>
              <a:t>PROPOSED SYSTEM</a:t>
            </a:r>
            <a:r>
              <a:rPr lang="en-US" sz="1200" dirty="0">
                <a:solidFill>
                  <a:srgbClr val="3A3630"/>
                </a:solidFill>
                <a:latin typeface="Source Sans 3" pitchFamily="34" charset="0"/>
                <a:ea typeface="Source Sans 3" pitchFamily="34" charset="-122"/>
                <a:cs typeface="Source Sans 3" pitchFamily="34" charset="-120"/>
              </a:rPr>
              <a:t> (semantic search + RAG).</a:t>
            </a:r>
            <a:endParaRPr lang="en-US" sz="1200" dirty="0"/>
          </a:p>
          <a:p>
            <a:pPr marL="0" indent="0" algn="l">
              <a:lnSpc>
                <a:spcPct val="100000"/>
              </a:lnSpc>
              <a:buNone/>
            </a:pPr>
            <a:r>
              <a:rPr lang="en-US" sz="1200" b="1" dirty="0">
                <a:solidFill>
                  <a:srgbClr val="3A3630"/>
                </a:solidFill>
                <a:latin typeface="Source Sans 3 Bold" pitchFamily="34" charset="0"/>
                <a:ea typeface="Source Sans 3 Bold" pitchFamily="34" charset="-122"/>
                <a:cs typeface="Source Sans 3 Bold" pitchFamily="34" charset="-120"/>
              </a:rPr>
              <a:t>Evaluation criteria:</a:t>
            </a:r>
            <a:endParaRPr lang="en-US" sz="1200" dirty="0"/>
          </a:p>
        </p:txBody>
      </p:sp>
      <p:sp>
        <p:nvSpPr>
          <p:cNvPr id="41" name="Text 24"/>
          <p:cNvSpPr/>
          <p:nvPr/>
        </p:nvSpPr>
        <p:spPr>
          <a:xfrm>
            <a:off x="5989389" y="5666730"/>
            <a:ext cx="10795524" cy="584597"/>
          </a:xfrm>
          <a:prstGeom prst="rect">
            <a:avLst/>
          </a:prstGeom>
          <a:noFill/>
          <a:ln/>
        </p:spPr>
        <p:txBody>
          <a:bodyPr wrap="square" lIns="0" tIns="34909" rIns="0" bIns="0" rtlCol="0" anchor="t">
            <a:noAutofit/>
          </a:bodyPr>
          <a:lstStyle/>
          <a:p>
            <a:pPr marL="132080" indent="-132080" algn="l">
              <a:lnSpc>
                <a:spcPct val="100000"/>
              </a:lnSpc>
              <a:buSzPct val="100000"/>
              <a:buChar char="•"/>
            </a:pPr>
            <a:r>
              <a:rPr lang="en-US" sz="1200" dirty="0">
                <a:solidFill>
                  <a:srgbClr val="3A3630"/>
                </a:solidFill>
                <a:latin typeface="Source Sans 3" pitchFamily="34" charset="0"/>
                <a:ea typeface="Source Sans 3" pitchFamily="34" charset="-122"/>
                <a:cs typeface="Source Sans 3" pitchFamily="34" charset="-120"/>
              </a:rPr>
              <a:t>Retrieval relevance</a:t>
            </a:r>
            <a:endParaRPr lang="en-US" sz="1200" dirty="0"/>
          </a:p>
          <a:p>
            <a:pPr marL="132080" indent="-132080" algn="l">
              <a:lnSpc>
                <a:spcPct val="100000"/>
              </a:lnSpc>
              <a:buSzPct val="100000"/>
              <a:buChar char="•"/>
            </a:pPr>
            <a:r>
              <a:rPr lang="en-US" sz="1200" dirty="0">
                <a:solidFill>
                  <a:srgbClr val="3A3630"/>
                </a:solidFill>
                <a:latin typeface="Source Sans 3" pitchFamily="34" charset="0"/>
                <a:ea typeface="Source Sans 3" pitchFamily="34" charset="-122"/>
                <a:cs typeface="Source Sans 3" pitchFamily="34" charset="-120"/>
              </a:rPr>
              <a:t>Top-k retrieval performance</a:t>
            </a:r>
            <a:endParaRPr lang="en-US" sz="1200" dirty="0"/>
          </a:p>
          <a:p>
            <a:pPr marL="132080" indent="-132080" algn="l">
              <a:lnSpc>
                <a:spcPct val="100000"/>
              </a:lnSpc>
              <a:buSzPct val="100000"/>
              <a:buChar char="•"/>
            </a:pPr>
            <a:r>
              <a:rPr lang="en-US" sz="1200" dirty="0">
                <a:solidFill>
                  <a:srgbClr val="3A3630"/>
                </a:solidFill>
                <a:latin typeface="Source Sans 3" pitchFamily="34" charset="0"/>
                <a:ea typeface="Source Sans 3" pitchFamily="34" charset="-122"/>
                <a:cs typeface="Source Sans 3" pitchFamily="34" charset="-120"/>
              </a:rPr>
              <a:t>Source correctness</a:t>
            </a:r>
            <a:endParaRPr lang="en-US" sz="1200" dirty="0"/>
          </a:p>
          <a:p>
            <a:pPr marL="132080" indent="-132080" algn="l">
              <a:lnSpc>
                <a:spcPct val="100000"/>
              </a:lnSpc>
              <a:buSzPct val="100000"/>
              <a:buChar char="•"/>
            </a:pPr>
            <a:r>
              <a:rPr lang="en-US" sz="1200" dirty="0">
                <a:solidFill>
                  <a:srgbClr val="3A3630"/>
                </a:solidFill>
                <a:latin typeface="Source Sans 3" pitchFamily="34" charset="0"/>
                <a:ea typeface="Source Sans 3" pitchFamily="34" charset="-122"/>
                <a:cs typeface="Source Sans 3" pitchFamily="34" charset="-120"/>
              </a:rPr>
              <a:t>Answer relevance / groundedness</a:t>
            </a:r>
            <a:endParaRPr lang="en-US" sz="1200" dirty="0"/>
          </a:p>
          <a:p>
            <a:pPr marL="132080" indent="-132080" algn="l">
              <a:lnSpc>
                <a:spcPct val="100000"/>
              </a:lnSpc>
              <a:buSzPct val="100000"/>
              <a:buChar char="•"/>
            </a:pPr>
            <a:r>
              <a:rPr lang="en-US" sz="1200" dirty="0">
                <a:solidFill>
                  <a:srgbClr val="3A3630"/>
                </a:solidFill>
                <a:latin typeface="Source Sans 3" pitchFamily="34" charset="0"/>
                <a:ea typeface="Source Sans 3" pitchFamily="34" charset="-122"/>
                <a:cs typeface="Source Sans 3" pitchFamily="34" charset="-120"/>
              </a:rPr>
              <a:t>Response time</a:t>
            </a:r>
            <a:endParaRPr lang="en-US" sz="1200" dirty="0"/>
          </a:p>
        </p:txBody>
      </p:sp>
      <p:pic>
        <p:nvPicPr>
          <p:cNvPr id="43" name="Image 15" descr="preencoded.png"/>
          <p:cNvPicPr>
            <a:picLocks noChangeAspect="1"/>
          </p:cNvPicPr>
          <p:nvPr/>
        </p:nvPicPr>
        <p:blipFill>
          <a:blip r:embed="rId17"/>
          <a:stretch>
            <a:fillRect/>
          </a:stretch>
        </p:blipFill>
        <p:spPr>
          <a:xfrm>
            <a:off x="785297" y="8880475"/>
            <a:ext cx="109039" cy="87213"/>
          </a:xfrm>
          <a:prstGeom prst="rect">
            <a:avLst/>
          </a:prstGeom>
        </p:spPr>
      </p:pic>
      <p:sp>
        <p:nvSpPr>
          <p:cNvPr id="44" name="Text 26"/>
          <p:cNvSpPr/>
          <p:nvPr/>
        </p:nvSpPr>
        <p:spPr>
          <a:xfrm>
            <a:off x="5750477" y="6688732"/>
            <a:ext cx="11034436" cy="104775"/>
          </a:xfrm>
          <a:prstGeom prst="rect">
            <a:avLst/>
          </a:prstGeom>
          <a:noFill/>
          <a:ln/>
        </p:spPr>
        <p:txBody>
          <a:bodyPr wrap="none" lIns="0" tIns="0" rIns="0" bIns="0" rtlCol="0" anchor="t"/>
          <a:lstStyle/>
          <a:p>
            <a:pPr marL="0" indent="0" algn="l">
              <a:lnSpc>
                <a:spcPct val="100000"/>
              </a:lnSpc>
              <a:buNone/>
            </a:pPr>
            <a:r>
              <a:rPr lang="en-US" sz="1100" b="1" dirty="0">
                <a:solidFill>
                  <a:srgbClr val="000000"/>
                </a:solidFill>
                <a:latin typeface="Source Sans 3 Bold" pitchFamily="34" charset="0"/>
                <a:ea typeface="Source Sans 3 Bold" pitchFamily="34" charset="-122"/>
                <a:cs typeface="Source Sans 3 Bold" pitchFamily="34" charset="-120"/>
              </a:rPr>
              <a:t>Important Note:</a:t>
            </a:r>
            <a:r>
              <a:rPr lang="en-US" sz="1100" dirty="0">
                <a:solidFill>
                  <a:srgbClr val="000000"/>
                </a:solidFill>
                <a:latin typeface="Source Sans 3" pitchFamily="34" charset="0"/>
                <a:ea typeface="Source Sans 3" pitchFamily="34" charset="-122"/>
                <a:cs typeface="Source Sans 3" pitchFamily="34" charset="-120"/>
              </a:rPr>
              <a:t> Actual performance values will be measured after implementation and testing.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98086" y="558403"/>
            <a:ext cx="10795524" cy="304800"/>
          </a:xfrm>
          <a:prstGeom prst="rect">
            <a:avLst/>
          </a:prstGeom>
          <a:noFill/>
          <a:ln/>
        </p:spPr>
        <p:txBody>
          <a:bodyPr wrap="none" lIns="0" tIns="0" rIns="0" bIns="0" rtlCol="0" anchor="t"/>
          <a:lstStyle/>
          <a:p>
            <a:pPr marL="0" indent="0" algn="l">
              <a:lnSpc>
                <a:spcPct val="104000"/>
              </a:lnSpc>
              <a:buNone/>
            </a:pPr>
            <a:r>
              <a:rPr lang="en-US" sz="1900" dirty="0">
                <a:solidFill>
                  <a:srgbClr val="38512F"/>
                </a:solidFill>
                <a:latin typeface="Lora" pitchFamily="34" charset="0"/>
                <a:ea typeface="Lora" pitchFamily="34" charset="-122"/>
                <a:cs typeface="Lora" pitchFamily="34" charset="-120"/>
              </a:rPr>
              <a:t>Expected Impact + Future Scope + Conclusion</a:t>
            </a:r>
            <a:endParaRPr lang="en-US" sz="1900" dirty="0"/>
          </a:p>
        </p:txBody>
      </p:sp>
      <p:sp>
        <p:nvSpPr>
          <p:cNvPr id="3" name="Text 1"/>
          <p:cNvSpPr/>
          <p:nvPr/>
        </p:nvSpPr>
        <p:spPr>
          <a:xfrm>
            <a:off x="758859" y="1371697"/>
            <a:ext cx="5271360" cy="152400"/>
          </a:xfrm>
          <a:prstGeom prst="rect">
            <a:avLst/>
          </a:prstGeom>
          <a:noFill/>
          <a:ln/>
        </p:spPr>
        <p:txBody>
          <a:bodyPr wrap="none" lIns="0" tIns="0" rIns="0" bIns="0" rtlCol="0" anchor="t"/>
          <a:lstStyle/>
          <a:p>
            <a:pPr marL="0" indent="0" algn="l">
              <a:lnSpc>
                <a:spcPct val="104000"/>
              </a:lnSpc>
              <a:buNone/>
            </a:pPr>
            <a:r>
              <a:rPr lang="en-US" sz="950" dirty="0">
                <a:solidFill>
                  <a:srgbClr val="38512F"/>
                </a:solidFill>
                <a:latin typeface="Lora" pitchFamily="34" charset="0"/>
                <a:ea typeface="Lora" pitchFamily="34" charset="-122"/>
                <a:cs typeface="Lora" pitchFamily="34" charset="-120"/>
              </a:rPr>
              <a:t>Expected Impact</a:t>
            </a:r>
            <a:endParaRPr lang="en-US" sz="950" dirty="0"/>
          </a:p>
        </p:txBody>
      </p:sp>
      <p:sp>
        <p:nvSpPr>
          <p:cNvPr id="4" name="Text 2"/>
          <p:cNvSpPr/>
          <p:nvPr/>
        </p:nvSpPr>
        <p:spPr>
          <a:xfrm>
            <a:off x="736483" y="1548650"/>
            <a:ext cx="5271360" cy="152400"/>
          </a:xfrm>
          <a:prstGeom prst="rect">
            <a:avLst/>
          </a:prstGeom>
          <a:noFill/>
          <a:ln/>
        </p:spPr>
        <p:txBody>
          <a:bodyPr wrap="none" lIns="0" tIns="0" rIns="0" bIns="0" rtlCol="0" anchor="t"/>
          <a:lstStyle/>
          <a:p>
            <a:pPr marL="0" indent="0" algn="l">
              <a:lnSpc>
                <a:spcPct val="104000"/>
              </a:lnSpc>
              <a:buNone/>
            </a:pPr>
            <a:r>
              <a:rPr lang="en-US" sz="950" dirty="0">
                <a:solidFill>
                  <a:srgbClr val="38512F"/>
                </a:solidFill>
                <a:latin typeface="Lora" pitchFamily="34" charset="0"/>
                <a:ea typeface="Lora" pitchFamily="34" charset="-122"/>
                <a:cs typeface="Lora" pitchFamily="34" charset="-120"/>
              </a:rPr>
              <a:t>For Students</a:t>
            </a:r>
            <a:endParaRPr lang="en-US" sz="950" dirty="0"/>
          </a:p>
        </p:txBody>
      </p:sp>
      <p:sp>
        <p:nvSpPr>
          <p:cNvPr id="5" name="Shape 3"/>
          <p:cNvSpPr/>
          <p:nvPr/>
        </p:nvSpPr>
        <p:spPr>
          <a:xfrm>
            <a:off x="660352" y="1893337"/>
            <a:ext cx="233158" cy="233164"/>
          </a:xfrm>
          <a:prstGeom prst="roundRect">
            <a:avLst>
              <a:gd name="adj" fmla="val 6667"/>
            </a:avLst>
          </a:prstGeom>
          <a:solidFill>
            <a:srgbClr val="F3E7D4"/>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3563" y="1944194"/>
            <a:ext cx="146245" cy="146248"/>
          </a:xfrm>
          <a:prstGeom prst="rect">
            <a:avLst/>
          </a:prstGeom>
        </p:spPr>
      </p:pic>
      <p:sp>
        <p:nvSpPr>
          <p:cNvPr id="7" name="Text 4"/>
          <p:cNvSpPr/>
          <p:nvPr/>
        </p:nvSpPr>
        <p:spPr>
          <a:xfrm>
            <a:off x="971707" y="1908713"/>
            <a:ext cx="2302512" cy="152400"/>
          </a:xfrm>
          <a:prstGeom prst="rect">
            <a:avLst/>
          </a:prstGeom>
          <a:noFill/>
          <a:ln/>
        </p:spPr>
        <p:txBody>
          <a:bodyPr wrap="none" lIns="0" tIns="0" rIns="0" bIns="0" rtlCol="0" anchor="t"/>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Faster Information Discovery</a:t>
            </a:r>
            <a:endParaRPr lang="en-US" sz="950" dirty="0"/>
          </a:p>
        </p:txBody>
      </p:sp>
      <p:sp>
        <p:nvSpPr>
          <p:cNvPr id="8" name="Text 5"/>
          <p:cNvSpPr/>
          <p:nvPr/>
        </p:nvSpPr>
        <p:spPr>
          <a:xfrm>
            <a:off x="979060" y="2158914"/>
            <a:ext cx="2302512" cy="132159"/>
          </a:xfrm>
          <a:prstGeom prst="rect">
            <a:avLst/>
          </a:prstGeom>
          <a:noFill/>
          <a:ln/>
        </p:spPr>
        <p:txBody>
          <a:bodyPr wrap="none" lIns="0" tIns="0" rIns="0" bIns="0" rtlCol="0" anchor="t"/>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Find what you need quickly.</a:t>
            </a:r>
            <a:endParaRPr lang="en-US" sz="800" dirty="0"/>
          </a:p>
        </p:txBody>
      </p:sp>
      <p:sp>
        <p:nvSpPr>
          <p:cNvPr id="9" name="Shape 6"/>
          <p:cNvSpPr/>
          <p:nvPr/>
        </p:nvSpPr>
        <p:spPr>
          <a:xfrm>
            <a:off x="3372163" y="1965257"/>
            <a:ext cx="233158" cy="233164"/>
          </a:xfrm>
          <a:prstGeom prst="roundRect">
            <a:avLst>
              <a:gd name="adj" fmla="val 6667"/>
            </a:avLst>
          </a:prstGeom>
          <a:solidFill>
            <a:srgbClr val="F3E7D4"/>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5619" y="1990468"/>
            <a:ext cx="146245" cy="146248"/>
          </a:xfrm>
          <a:prstGeom prst="rect">
            <a:avLst/>
          </a:prstGeom>
        </p:spPr>
      </p:pic>
      <p:sp>
        <p:nvSpPr>
          <p:cNvPr id="11" name="Text 7"/>
          <p:cNvSpPr/>
          <p:nvPr/>
        </p:nvSpPr>
        <p:spPr>
          <a:xfrm>
            <a:off x="3653137" y="1965257"/>
            <a:ext cx="2302611" cy="152400"/>
          </a:xfrm>
          <a:prstGeom prst="rect">
            <a:avLst/>
          </a:prstGeom>
          <a:noFill/>
          <a:ln/>
        </p:spPr>
        <p:txBody>
          <a:bodyPr wrap="none" lIns="0" tIns="0" rIns="0" bIns="0" rtlCol="0" anchor="t"/>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Less Manual Searching</a:t>
            </a:r>
            <a:endParaRPr lang="en-US" sz="950" dirty="0"/>
          </a:p>
        </p:txBody>
      </p:sp>
      <p:sp>
        <p:nvSpPr>
          <p:cNvPr id="12" name="Text 8"/>
          <p:cNvSpPr/>
          <p:nvPr/>
        </p:nvSpPr>
        <p:spPr>
          <a:xfrm>
            <a:off x="3603931" y="2216376"/>
            <a:ext cx="2302611" cy="132159"/>
          </a:xfrm>
          <a:prstGeom prst="rect">
            <a:avLst/>
          </a:prstGeom>
          <a:noFill/>
          <a:ln/>
        </p:spPr>
        <p:txBody>
          <a:bodyPr wrap="none" lIns="0" tIns="0" rIns="0" bIns="0" rtlCol="0" anchor="t"/>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Reduce time spent scanning through files and pages.</a:t>
            </a:r>
            <a:endParaRPr lang="en-US" sz="800" dirty="0"/>
          </a:p>
        </p:txBody>
      </p:sp>
      <p:sp>
        <p:nvSpPr>
          <p:cNvPr id="13" name="Shape 9"/>
          <p:cNvSpPr/>
          <p:nvPr/>
        </p:nvSpPr>
        <p:spPr>
          <a:xfrm>
            <a:off x="744375" y="2386081"/>
            <a:ext cx="233158" cy="233164"/>
          </a:xfrm>
          <a:prstGeom prst="roundRect">
            <a:avLst>
              <a:gd name="adj" fmla="val 6667"/>
            </a:avLst>
          </a:prstGeom>
          <a:solidFill>
            <a:srgbClr val="F3E7D4"/>
          </a:solidFill>
          <a:ln/>
        </p:spPr>
        <p:txBody>
          <a:bodyPr/>
          <a:lstStyle/>
          <a:p>
            <a:endParaRPr lang="en-US"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9696" y="2458011"/>
            <a:ext cx="146245" cy="146248"/>
          </a:xfrm>
          <a:prstGeom prst="rect">
            <a:avLst/>
          </a:prstGeom>
        </p:spPr>
      </p:pic>
      <p:sp>
        <p:nvSpPr>
          <p:cNvPr id="15" name="Text 10"/>
          <p:cNvSpPr/>
          <p:nvPr/>
        </p:nvSpPr>
        <p:spPr>
          <a:xfrm>
            <a:off x="979060" y="2422895"/>
            <a:ext cx="2302512" cy="152400"/>
          </a:xfrm>
          <a:prstGeom prst="rect">
            <a:avLst/>
          </a:prstGeom>
          <a:noFill/>
          <a:ln/>
        </p:spPr>
        <p:txBody>
          <a:bodyPr wrap="none" lIns="0" tIns="0" rIns="0" bIns="0" rtlCol="0" anchor="t"/>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Natural-Language Access to Resources</a:t>
            </a:r>
            <a:endParaRPr lang="en-US" sz="950" dirty="0"/>
          </a:p>
        </p:txBody>
      </p:sp>
      <p:sp>
        <p:nvSpPr>
          <p:cNvPr id="16" name="Text 11"/>
          <p:cNvSpPr/>
          <p:nvPr/>
        </p:nvSpPr>
        <p:spPr>
          <a:xfrm>
            <a:off x="971707" y="2681383"/>
            <a:ext cx="2302512" cy="264319"/>
          </a:xfrm>
          <a:prstGeom prst="rect">
            <a:avLst/>
          </a:prstGeom>
          <a:noFill/>
          <a:ln/>
        </p:spPr>
        <p:txBody>
          <a:bodyPr wrap="square" lIns="0" tIns="0" rIns="0" bIns="0" rtlCol="0" anchor="t">
            <a:normAutofit/>
          </a:bodyPr>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Ask questions in plain language to find answers naturally.</a:t>
            </a:r>
            <a:endParaRPr lang="en-US" sz="800" dirty="0"/>
          </a:p>
        </p:txBody>
      </p:sp>
      <p:sp>
        <p:nvSpPr>
          <p:cNvPr id="17" name="Shape 12"/>
          <p:cNvSpPr/>
          <p:nvPr/>
        </p:nvSpPr>
        <p:spPr>
          <a:xfrm>
            <a:off x="3407813" y="2600001"/>
            <a:ext cx="233158" cy="233164"/>
          </a:xfrm>
          <a:prstGeom prst="roundRect">
            <a:avLst>
              <a:gd name="adj" fmla="val 6667"/>
            </a:avLst>
          </a:prstGeom>
          <a:solidFill>
            <a:srgbClr val="F3E7D4"/>
          </a:solidFill>
          <a:ln/>
        </p:spPr>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44472" y="2608259"/>
            <a:ext cx="146245" cy="146248"/>
          </a:xfrm>
          <a:prstGeom prst="rect">
            <a:avLst/>
          </a:prstGeom>
        </p:spPr>
      </p:pic>
      <p:sp>
        <p:nvSpPr>
          <p:cNvPr id="19" name="Text 13"/>
          <p:cNvSpPr/>
          <p:nvPr/>
        </p:nvSpPr>
        <p:spPr>
          <a:xfrm>
            <a:off x="3678485" y="2563640"/>
            <a:ext cx="2302611" cy="304800"/>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Easier Discovery of Relevant Learning Material</a:t>
            </a:r>
            <a:endParaRPr lang="en-US" sz="950" dirty="0"/>
          </a:p>
        </p:txBody>
      </p:sp>
      <p:sp>
        <p:nvSpPr>
          <p:cNvPr id="20" name="Text 14"/>
          <p:cNvSpPr/>
          <p:nvPr/>
        </p:nvSpPr>
        <p:spPr>
          <a:xfrm>
            <a:off x="3700326" y="2938276"/>
            <a:ext cx="2302611" cy="264319"/>
          </a:xfrm>
          <a:prstGeom prst="rect">
            <a:avLst/>
          </a:prstGeom>
          <a:noFill/>
          <a:ln/>
        </p:spPr>
        <p:txBody>
          <a:bodyPr wrap="square" lIns="0" tIns="0" rIns="0" bIns="0" rtlCol="0" anchor="t">
            <a:normAutofit/>
          </a:bodyPr>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Get relevant notes, PDFs, notices, and faculty info in one place.</a:t>
            </a:r>
            <a:endParaRPr lang="en-US" sz="800" dirty="0"/>
          </a:p>
        </p:txBody>
      </p:sp>
      <p:sp>
        <p:nvSpPr>
          <p:cNvPr id="21" name="Shape 15"/>
          <p:cNvSpPr/>
          <p:nvPr/>
        </p:nvSpPr>
        <p:spPr>
          <a:xfrm>
            <a:off x="715403" y="3111989"/>
            <a:ext cx="233158" cy="233164"/>
          </a:xfrm>
          <a:prstGeom prst="roundRect">
            <a:avLst>
              <a:gd name="adj" fmla="val 6667"/>
            </a:avLst>
          </a:prstGeom>
          <a:solidFill>
            <a:srgbClr val="F3E7D4"/>
          </a:solidFill>
          <a:ln/>
        </p:spPr>
      </p:sp>
      <p:pic>
        <p:nvPicPr>
          <p:cNvPr id="22"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3768" y="3155447"/>
            <a:ext cx="146245" cy="146248"/>
          </a:xfrm>
          <a:prstGeom prst="rect">
            <a:avLst/>
          </a:prstGeom>
        </p:spPr>
      </p:pic>
      <p:sp>
        <p:nvSpPr>
          <p:cNvPr id="23" name="Text 16"/>
          <p:cNvSpPr/>
          <p:nvPr/>
        </p:nvSpPr>
        <p:spPr>
          <a:xfrm>
            <a:off x="979060" y="3108822"/>
            <a:ext cx="4976688" cy="152400"/>
          </a:xfrm>
          <a:prstGeom prst="rect">
            <a:avLst/>
          </a:prstGeom>
          <a:noFill/>
          <a:ln/>
        </p:spPr>
        <p:txBody>
          <a:bodyPr wrap="none" lIns="0" tIns="0" rIns="0" bIns="0" rtlCol="0" anchor="t"/>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Answers Supported by Source References</a:t>
            </a:r>
            <a:endParaRPr lang="en-US" sz="950" dirty="0"/>
          </a:p>
        </p:txBody>
      </p:sp>
      <p:sp>
        <p:nvSpPr>
          <p:cNvPr id="24" name="Text 17"/>
          <p:cNvSpPr/>
          <p:nvPr/>
        </p:nvSpPr>
        <p:spPr>
          <a:xfrm>
            <a:off x="992758" y="3369048"/>
            <a:ext cx="4976688" cy="132159"/>
          </a:xfrm>
          <a:prstGeom prst="rect">
            <a:avLst/>
          </a:prstGeom>
          <a:noFill/>
          <a:ln/>
        </p:spPr>
        <p:txBody>
          <a:bodyPr wrap="none" lIns="0" tIns="0" rIns="0" bIns="0" rtlCol="0" anchor="t"/>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Responses include references to the retrieved department resources.</a:t>
            </a:r>
            <a:endParaRPr lang="en-US" sz="800" dirty="0"/>
          </a:p>
        </p:txBody>
      </p:sp>
      <p:sp>
        <p:nvSpPr>
          <p:cNvPr id="25" name="Text 18"/>
          <p:cNvSpPr/>
          <p:nvPr/>
        </p:nvSpPr>
        <p:spPr>
          <a:xfrm>
            <a:off x="709736" y="3589772"/>
            <a:ext cx="5271360" cy="152400"/>
          </a:xfrm>
          <a:prstGeom prst="rect">
            <a:avLst/>
          </a:prstGeom>
          <a:noFill/>
          <a:ln/>
        </p:spPr>
        <p:txBody>
          <a:bodyPr wrap="none" lIns="0" tIns="0" rIns="0" bIns="0" rtlCol="0" anchor="t"/>
          <a:lstStyle/>
          <a:p>
            <a:pPr marL="0" indent="0" algn="l">
              <a:lnSpc>
                <a:spcPct val="104000"/>
              </a:lnSpc>
              <a:buNone/>
            </a:pPr>
            <a:r>
              <a:rPr lang="en-US" sz="950" dirty="0">
                <a:solidFill>
                  <a:srgbClr val="38512F"/>
                </a:solidFill>
                <a:latin typeface="Lora" pitchFamily="34" charset="0"/>
                <a:ea typeface="Lora" pitchFamily="34" charset="-122"/>
                <a:cs typeface="Lora" pitchFamily="34" charset="-120"/>
              </a:rPr>
              <a:t>For the Department</a:t>
            </a:r>
            <a:endParaRPr lang="en-US" sz="950" dirty="0"/>
          </a:p>
        </p:txBody>
      </p:sp>
      <p:sp>
        <p:nvSpPr>
          <p:cNvPr id="26" name="Shape 19"/>
          <p:cNvSpPr/>
          <p:nvPr/>
        </p:nvSpPr>
        <p:spPr>
          <a:xfrm>
            <a:off x="631871" y="3885346"/>
            <a:ext cx="233158" cy="233164"/>
          </a:xfrm>
          <a:prstGeom prst="roundRect">
            <a:avLst>
              <a:gd name="adj" fmla="val 6667"/>
            </a:avLst>
          </a:prstGeom>
          <a:solidFill>
            <a:srgbClr val="F3E7D4"/>
          </a:solidFill>
          <a:ln/>
        </p:spPr>
      </p:sp>
      <p:pic>
        <p:nvPicPr>
          <p:cNvPr id="27"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737" y="3918030"/>
            <a:ext cx="146245" cy="146248"/>
          </a:xfrm>
          <a:prstGeom prst="rect">
            <a:avLst/>
          </a:prstGeom>
        </p:spPr>
      </p:pic>
      <p:sp>
        <p:nvSpPr>
          <p:cNvPr id="28" name="Text 20"/>
          <p:cNvSpPr/>
          <p:nvPr/>
        </p:nvSpPr>
        <p:spPr>
          <a:xfrm>
            <a:off x="881541" y="3911878"/>
            <a:ext cx="2302512" cy="304800"/>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Better Organization of Authorized Resources</a:t>
            </a:r>
            <a:endParaRPr lang="en-US" sz="950" dirty="0"/>
          </a:p>
        </p:txBody>
      </p:sp>
      <p:sp>
        <p:nvSpPr>
          <p:cNvPr id="29" name="Text 21"/>
          <p:cNvSpPr/>
          <p:nvPr/>
        </p:nvSpPr>
        <p:spPr>
          <a:xfrm>
            <a:off x="859808" y="4297513"/>
            <a:ext cx="2302512" cy="132159"/>
          </a:xfrm>
          <a:prstGeom prst="rect">
            <a:avLst/>
          </a:prstGeom>
          <a:noFill/>
          <a:ln/>
        </p:spPr>
        <p:txBody>
          <a:bodyPr wrap="none" lIns="0" tIns="0" rIns="0" bIns="0" rtlCol="0" anchor="t"/>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Keep materials structured and easy to manage.</a:t>
            </a:r>
            <a:endParaRPr lang="en-US" sz="800" dirty="0"/>
          </a:p>
        </p:txBody>
      </p:sp>
      <p:sp>
        <p:nvSpPr>
          <p:cNvPr id="30" name="Shape 22"/>
          <p:cNvSpPr/>
          <p:nvPr/>
        </p:nvSpPr>
        <p:spPr>
          <a:xfrm>
            <a:off x="3426771" y="3885346"/>
            <a:ext cx="233158" cy="233164"/>
          </a:xfrm>
          <a:prstGeom prst="roundRect">
            <a:avLst>
              <a:gd name="adj" fmla="val 6667"/>
            </a:avLst>
          </a:prstGeom>
          <a:solidFill>
            <a:srgbClr val="F3E7D4"/>
          </a:solidFill>
          <a:ln/>
        </p:spPr>
      </p:sp>
      <p:pic>
        <p:nvPicPr>
          <p:cNvPr id="31"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37424" y="3947866"/>
            <a:ext cx="146245" cy="146248"/>
          </a:xfrm>
          <a:prstGeom prst="rect">
            <a:avLst/>
          </a:prstGeom>
        </p:spPr>
      </p:pic>
      <p:sp>
        <p:nvSpPr>
          <p:cNvPr id="32" name="Text 23"/>
          <p:cNvSpPr/>
          <p:nvPr/>
        </p:nvSpPr>
        <p:spPr>
          <a:xfrm>
            <a:off x="3700327" y="3958888"/>
            <a:ext cx="2302611" cy="152400"/>
          </a:xfrm>
          <a:prstGeom prst="rect">
            <a:avLst/>
          </a:prstGeom>
          <a:noFill/>
          <a:ln/>
        </p:spPr>
        <p:txBody>
          <a:bodyPr wrap="none" lIns="0" tIns="0" rIns="0" bIns="0" rtlCol="0" anchor="t"/>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Easier Information Discovery</a:t>
            </a:r>
            <a:endParaRPr lang="en-US" sz="950" dirty="0"/>
          </a:p>
        </p:txBody>
      </p:sp>
      <p:sp>
        <p:nvSpPr>
          <p:cNvPr id="33" name="Text 24"/>
          <p:cNvSpPr/>
          <p:nvPr/>
        </p:nvSpPr>
        <p:spPr>
          <a:xfrm>
            <a:off x="3700328" y="4209550"/>
            <a:ext cx="2302611" cy="264319"/>
          </a:xfrm>
          <a:prstGeom prst="rect">
            <a:avLst/>
          </a:prstGeom>
          <a:noFill/>
          <a:ln/>
        </p:spPr>
        <p:txBody>
          <a:bodyPr wrap="square" lIns="0" tIns="0" rIns="0" bIns="0" rtlCol="0" anchor="t">
            <a:normAutofit/>
          </a:bodyPr>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Help students and staff find department materials more efficiently.</a:t>
            </a:r>
            <a:endParaRPr lang="en-US" sz="800" dirty="0"/>
          </a:p>
        </p:txBody>
      </p:sp>
      <p:sp>
        <p:nvSpPr>
          <p:cNvPr id="34" name="Shape 25"/>
          <p:cNvSpPr/>
          <p:nvPr/>
        </p:nvSpPr>
        <p:spPr>
          <a:xfrm>
            <a:off x="593157" y="4626240"/>
            <a:ext cx="233158" cy="233164"/>
          </a:xfrm>
          <a:prstGeom prst="roundRect">
            <a:avLst>
              <a:gd name="adj" fmla="val 6667"/>
            </a:avLst>
          </a:prstGeom>
          <a:solidFill>
            <a:srgbClr val="F3E7D4"/>
          </a:solidFill>
          <a:ln/>
        </p:spPr>
      </p:sp>
      <p:pic>
        <p:nvPicPr>
          <p:cNvPr id="35"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8419" y="4679921"/>
            <a:ext cx="146245" cy="146248"/>
          </a:xfrm>
          <a:prstGeom prst="rect">
            <a:avLst/>
          </a:prstGeom>
        </p:spPr>
      </p:pic>
      <p:sp>
        <p:nvSpPr>
          <p:cNvPr id="36" name="Text 26"/>
          <p:cNvSpPr/>
          <p:nvPr/>
        </p:nvSpPr>
        <p:spPr>
          <a:xfrm>
            <a:off x="859808" y="4617679"/>
            <a:ext cx="2302512" cy="304800"/>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Reduced Repetitive Information Requests</a:t>
            </a:r>
            <a:endParaRPr lang="en-US" sz="950" dirty="0"/>
          </a:p>
        </p:txBody>
      </p:sp>
      <p:sp>
        <p:nvSpPr>
          <p:cNvPr id="37" name="Text 27"/>
          <p:cNvSpPr/>
          <p:nvPr/>
        </p:nvSpPr>
        <p:spPr>
          <a:xfrm>
            <a:off x="859808" y="5073874"/>
            <a:ext cx="2302512" cy="132159"/>
          </a:xfrm>
          <a:prstGeom prst="rect">
            <a:avLst/>
          </a:prstGeom>
          <a:noFill/>
          <a:ln/>
        </p:spPr>
        <p:txBody>
          <a:bodyPr wrap="none" lIns="0" tIns="0" rIns="0" bIns="0" rtlCol="0" anchor="t"/>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Common questions can be answered automatically.</a:t>
            </a:r>
            <a:endParaRPr lang="en-US" sz="800" dirty="0"/>
          </a:p>
        </p:txBody>
      </p:sp>
      <p:sp>
        <p:nvSpPr>
          <p:cNvPr id="38" name="Shape 28"/>
          <p:cNvSpPr/>
          <p:nvPr/>
        </p:nvSpPr>
        <p:spPr>
          <a:xfrm>
            <a:off x="3467170" y="4617679"/>
            <a:ext cx="233158" cy="233164"/>
          </a:xfrm>
          <a:prstGeom prst="roundRect">
            <a:avLst>
              <a:gd name="adj" fmla="val 6667"/>
            </a:avLst>
          </a:prstGeom>
          <a:solidFill>
            <a:srgbClr val="F3E7D4"/>
          </a:solidFill>
          <a:ln/>
        </p:spPr>
        <p:txBody>
          <a:bodyPr/>
          <a:lstStyle/>
          <a:p>
            <a:endParaRPr lang="en-US" dirty="0"/>
          </a:p>
        </p:txBody>
      </p:sp>
      <p:pic>
        <p:nvPicPr>
          <p:cNvPr id="39"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520590" y="4651970"/>
            <a:ext cx="146245" cy="146248"/>
          </a:xfrm>
          <a:prstGeom prst="rect">
            <a:avLst/>
          </a:prstGeom>
        </p:spPr>
      </p:pic>
      <p:sp>
        <p:nvSpPr>
          <p:cNvPr id="40" name="Text 29"/>
          <p:cNvSpPr/>
          <p:nvPr/>
        </p:nvSpPr>
        <p:spPr>
          <a:xfrm>
            <a:off x="3769481" y="4578299"/>
            <a:ext cx="2302611" cy="304800"/>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3A3630"/>
                </a:solidFill>
                <a:latin typeface="Lora" pitchFamily="34" charset="0"/>
                <a:ea typeface="Lora" pitchFamily="34" charset="-122"/>
                <a:cs typeface="Lora" pitchFamily="34" charset="-120"/>
              </a:rPr>
              <a:t>Foundation for Scalable Digital Knowledge Access</a:t>
            </a:r>
            <a:endParaRPr lang="en-US" sz="950" dirty="0"/>
          </a:p>
        </p:txBody>
      </p:sp>
      <p:sp>
        <p:nvSpPr>
          <p:cNvPr id="41" name="Text 30"/>
          <p:cNvSpPr/>
          <p:nvPr/>
        </p:nvSpPr>
        <p:spPr>
          <a:xfrm>
            <a:off x="3769482" y="5068601"/>
            <a:ext cx="2302611" cy="132159"/>
          </a:xfrm>
          <a:prstGeom prst="rect">
            <a:avLst/>
          </a:prstGeom>
          <a:noFill/>
          <a:ln/>
        </p:spPr>
        <p:txBody>
          <a:bodyPr wrap="none" lIns="0" tIns="0" rIns="0" bIns="0" rtlCol="0" anchor="t"/>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Built to support broader use over time.</a:t>
            </a:r>
            <a:endParaRPr lang="en-US" sz="800" dirty="0"/>
          </a:p>
        </p:txBody>
      </p:sp>
      <p:sp>
        <p:nvSpPr>
          <p:cNvPr id="42" name="Shape 31"/>
          <p:cNvSpPr/>
          <p:nvPr/>
        </p:nvSpPr>
        <p:spPr>
          <a:xfrm>
            <a:off x="6236253" y="1885703"/>
            <a:ext cx="5420582" cy="3686870"/>
          </a:xfrm>
          <a:prstGeom prst="roundRect">
            <a:avLst>
              <a:gd name="adj" fmla="val 422"/>
            </a:avLst>
          </a:prstGeom>
          <a:solidFill>
            <a:srgbClr val="6496FF"/>
          </a:solidFill>
          <a:ln/>
        </p:spPr>
      </p:sp>
      <p:sp>
        <p:nvSpPr>
          <p:cNvPr id="43" name="Text 32"/>
          <p:cNvSpPr/>
          <p:nvPr/>
        </p:nvSpPr>
        <p:spPr>
          <a:xfrm>
            <a:off x="6301551" y="1435281"/>
            <a:ext cx="5213418" cy="152400"/>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Lora" pitchFamily="34" charset="0"/>
                <a:ea typeface="Lora" pitchFamily="34" charset="-122"/>
                <a:cs typeface="Lora" pitchFamily="34" charset="-120"/>
              </a:rPr>
              <a:t>Future Scope</a:t>
            </a:r>
            <a:endParaRPr lang="en-US" sz="950" dirty="0"/>
          </a:p>
        </p:txBody>
      </p:sp>
      <p:pic>
        <p:nvPicPr>
          <p:cNvPr id="44" name="Image 9"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78594" y="2301974"/>
            <a:ext cx="2575952" cy="578644"/>
          </a:xfrm>
          <a:prstGeom prst="rect">
            <a:avLst/>
          </a:prstGeom>
        </p:spPr>
      </p:pic>
      <p:sp>
        <p:nvSpPr>
          <p:cNvPr id="45" name="Text 33"/>
          <p:cNvSpPr/>
          <p:nvPr/>
        </p:nvSpPr>
        <p:spPr>
          <a:xfrm>
            <a:off x="6419931" y="2417094"/>
            <a:ext cx="2292590" cy="152400"/>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Lora" pitchFamily="34" charset="0"/>
                <a:ea typeface="Lora" pitchFamily="34" charset="-122"/>
                <a:cs typeface="Lora" pitchFamily="34" charset="-120"/>
              </a:rPr>
              <a:t>Phase 1: Technical Training Department</a:t>
            </a:r>
            <a:endParaRPr lang="en-US" sz="950" dirty="0"/>
          </a:p>
        </p:txBody>
      </p:sp>
      <p:sp>
        <p:nvSpPr>
          <p:cNvPr id="46" name="Text 34"/>
          <p:cNvSpPr/>
          <p:nvPr/>
        </p:nvSpPr>
        <p:spPr>
          <a:xfrm>
            <a:off x="6379620" y="2642642"/>
            <a:ext cx="2292590" cy="132159"/>
          </a:xfrm>
          <a:prstGeom prst="rect">
            <a:avLst/>
          </a:prstGeom>
          <a:noFill/>
          <a:ln/>
        </p:spPr>
        <p:txBody>
          <a:bodyPr wrap="none" lIns="0" tIns="0" rIns="0" bIns="0" rtlCol="0" anchor="t"/>
          <a:lstStyle/>
          <a:p>
            <a:pPr marL="0" indent="0" algn="l">
              <a:lnSpc>
                <a:spcPct val="106000"/>
              </a:lnSpc>
              <a:buNone/>
            </a:pPr>
            <a:r>
              <a:rPr lang="en-US" sz="800" dirty="0">
                <a:solidFill>
                  <a:srgbClr val="000000"/>
                </a:solidFill>
                <a:latin typeface="Source Sans 3" pitchFamily="34" charset="0"/>
                <a:ea typeface="Source Sans 3" pitchFamily="34" charset="-122"/>
                <a:cs typeface="Source Sans 3" pitchFamily="34" charset="-120"/>
              </a:rPr>
              <a:t>Launch the system for the department first.</a:t>
            </a:r>
            <a:endParaRPr lang="en-US" sz="800" dirty="0"/>
          </a:p>
        </p:txBody>
      </p:sp>
      <p:pic>
        <p:nvPicPr>
          <p:cNvPr id="47" name="Image 10"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939017" y="2283173"/>
            <a:ext cx="2575952" cy="578644"/>
          </a:xfrm>
          <a:prstGeom prst="rect">
            <a:avLst/>
          </a:prstGeom>
        </p:spPr>
      </p:pic>
      <p:sp>
        <p:nvSpPr>
          <p:cNvPr id="48" name="Text 35"/>
          <p:cNvSpPr/>
          <p:nvPr/>
        </p:nvSpPr>
        <p:spPr>
          <a:xfrm>
            <a:off x="9036717" y="2411240"/>
            <a:ext cx="2292590" cy="152400"/>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Lora" pitchFamily="34" charset="0"/>
                <a:ea typeface="Lora" pitchFamily="34" charset="-122"/>
                <a:cs typeface="Lora" pitchFamily="34" charset="-120"/>
              </a:rPr>
              <a:t>Phase 2: Add Other Departments</a:t>
            </a:r>
            <a:endParaRPr lang="en-US" sz="950" dirty="0"/>
          </a:p>
        </p:txBody>
      </p:sp>
      <p:sp>
        <p:nvSpPr>
          <p:cNvPr id="49" name="Text 36"/>
          <p:cNvSpPr/>
          <p:nvPr/>
        </p:nvSpPr>
        <p:spPr>
          <a:xfrm>
            <a:off x="9036717" y="2642644"/>
            <a:ext cx="2292590" cy="132159"/>
          </a:xfrm>
          <a:prstGeom prst="rect">
            <a:avLst/>
          </a:prstGeom>
          <a:noFill/>
          <a:ln/>
        </p:spPr>
        <p:txBody>
          <a:bodyPr wrap="none" lIns="0" tIns="0" rIns="0" bIns="0" rtlCol="0" anchor="t"/>
          <a:lstStyle/>
          <a:p>
            <a:pPr marL="0" indent="0" algn="l">
              <a:lnSpc>
                <a:spcPct val="106000"/>
              </a:lnSpc>
              <a:buNone/>
            </a:pPr>
            <a:r>
              <a:rPr lang="en-US" sz="800" dirty="0">
                <a:solidFill>
                  <a:srgbClr val="000000"/>
                </a:solidFill>
                <a:latin typeface="Source Sans 3" pitchFamily="34" charset="0"/>
                <a:ea typeface="Source Sans 3" pitchFamily="34" charset="-122"/>
                <a:cs typeface="Source Sans 3" pitchFamily="34" charset="-120"/>
              </a:rPr>
              <a:t>Reuse the same architecture to expand coverage.</a:t>
            </a:r>
            <a:endParaRPr lang="en-US" sz="800" dirty="0"/>
          </a:p>
        </p:txBody>
      </p:sp>
      <p:pic>
        <p:nvPicPr>
          <p:cNvPr id="50" name="Image 11"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295896" y="3044681"/>
            <a:ext cx="2575952" cy="1182886"/>
          </a:xfrm>
          <a:prstGeom prst="rect">
            <a:avLst/>
          </a:prstGeom>
        </p:spPr>
      </p:pic>
      <p:sp>
        <p:nvSpPr>
          <p:cNvPr id="51" name="Text 37"/>
          <p:cNvSpPr/>
          <p:nvPr/>
        </p:nvSpPr>
        <p:spPr>
          <a:xfrm>
            <a:off x="6379620" y="3423701"/>
            <a:ext cx="2292590" cy="304800"/>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000000"/>
                </a:solidFill>
                <a:latin typeface="Lora" pitchFamily="34" charset="0"/>
                <a:ea typeface="Lora" pitchFamily="34" charset="-122"/>
                <a:cs typeface="Lora" pitchFamily="34" charset="-120"/>
              </a:rPr>
              <a:t>Phase 3: Campus-Wide Knowledge Layer</a:t>
            </a:r>
            <a:endParaRPr lang="en-US" sz="950" dirty="0"/>
          </a:p>
        </p:txBody>
      </p:sp>
      <p:sp>
        <p:nvSpPr>
          <p:cNvPr id="52" name="Text 38"/>
          <p:cNvSpPr/>
          <p:nvPr/>
        </p:nvSpPr>
        <p:spPr>
          <a:xfrm>
            <a:off x="6379620" y="3759398"/>
            <a:ext cx="2292590" cy="264319"/>
          </a:xfrm>
          <a:prstGeom prst="rect">
            <a:avLst/>
          </a:prstGeom>
          <a:noFill/>
          <a:ln/>
        </p:spPr>
        <p:txBody>
          <a:bodyPr wrap="square" lIns="0" tIns="0" rIns="0" bIns="0" rtlCol="0" anchor="t">
            <a:normAutofit/>
          </a:bodyPr>
          <a:lstStyle/>
          <a:p>
            <a:pPr marL="0" indent="0" algn="l">
              <a:lnSpc>
                <a:spcPct val="106000"/>
              </a:lnSpc>
              <a:buNone/>
            </a:pPr>
            <a:r>
              <a:rPr lang="en-US" sz="800" dirty="0">
                <a:solidFill>
                  <a:srgbClr val="000000"/>
                </a:solidFill>
                <a:latin typeface="Source Sans 3" pitchFamily="34" charset="0"/>
                <a:ea typeface="Source Sans 3" pitchFamily="34" charset="-122"/>
                <a:cs typeface="Source Sans 3" pitchFamily="34" charset="-120"/>
              </a:rPr>
              <a:t>Scale the platform to support broader institutional access.</a:t>
            </a:r>
            <a:endParaRPr lang="en-US" sz="800" dirty="0"/>
          </a:p>
        </p:txBody>
      </p:sp>
      <p:pic>
        <p:nvPicPr>
          <p:cNvPr id="53" name="Image 12"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39017" y="3025179"/>
            <a:ext cx="2575952" cy="1182886"/>
          </a:xfrm>
          <a:prstGeom prst="rect">
            <a:avLst/>
          </a:prstGeom>
        </p:spPr>
      </p:pic>
      <p:sp>
        <p:nvSpPr>
          <p:cNvPr id="54" name="Text 39"/>
          <p:cNvSpPr/>
          <p:nvPr/>
        </p:nvSpPr>
        <p:spPr>
          <a:xfrm>
            <a:off x="9036717" y="3133303"/>
            <a:ext cx="2292590" cy="304800"/>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000000"/>
                </a:solidFill>
                <a:latin typeface="Lora" pitchFamily="34" charset="0"/>
                <a:ea typeface="Lora" pitchFamily="34" charset="-122"/>
                <a:cs typeface="Lora" pitchFamily="34" charset="-120"/>
              </a:rPr>
              <a:t>Optional Future Enhancement: Knowledge Graph</a:t>
            </a:r>
            <a:endParaRPr lang="en-US" sz="950" dirty="0"/>
          </a:p>
        </p:txBody>
      </p:sp>
      <p:sp>
        <p:nvSpPr>
          <p:cNvPr id="55" name="Text 40"/>
          <p:cNvSpPr/>
          <p:nvPr/>
        </p:nvSpPr>
        <p:spPr>
          <a:xfrm>
            <a:off x="9123261" y="3545521"/>
            <a:ext cx="2292590" cy="584002"/>
          </a:xfrm>
          <a:prstGeom prst="rect">
            <a:avLst/>
          </a:prstGeom>
          <a:noFill/>
          <a:ln/>
        </p:spPr>
        <p:txBody>
          <a:bodyPr wrap="square" lIns="0" tIns="0" rIns="0" bIns="0" rtlCol="0" anchor="t">
            <a:normAutofit/>
          </a:bodyPr>
          <a:lstStyle/>
          <a:p>
            <a:pPr marL="0" indent="0" algn="l">
              <a:lnSpc>
                <a:spcPct val="106000"/>
              </a:lnSpc>
              <a:spcAft>
                <a:spcPts val="400"/>
              </a:spcAft>
              <a:buNone/>
            </a:pPr>
            <a:r>
              <a:rPr lang="en-US" sz="800" dirty="0">
                <a:solidFill>
                  <a:srgbClr val="000000"/>
                </a:solidFill>
                <a:latin typeface="Source Sans 3" pitchFamily="34" charset="0"/>
                <a:ea typeface="Source Sans 3" pitchFamily="34" charset="-122"/>
                <a:cs typeface="Source Sans 3" pitchFamily="34" charset="-120"/>
              </a:rPr>
              <a:t>Explicit relationship modelling between topics, resources, faculty, courses and training programs.</a:t>
            </a:r>
            <a:endParaRPr lang="en-US" sz="800" dirty="0"/>
          </a:p>
          <a:p>
            <a:pPr marL="0" indent="0" algn="l">
              <a:lnSpc>
                <a:spcPct val="106000"/>
              </a:lnSpc>
              <a:buNone/>
            </a:pPr>
            <a:r>
              <a:rPr lang="en-US" sz="800" b="1" dirty="0">
                <a:solidFill>
                  <a:srgbClr val="000000"/>
                </a:solidFill>
                <a:latin typeface="Source Sans 3 Bold" pitchFamily="34" charset="0"/>
                <a:ea typeface="Source Sans 3 Bold" pitchFamily="34" charset="-122"/>
                <a:cs typeface="Source Sans 3 Bold" pitchFamily="34" charset="-120"/>
              </a:rPr>
              <a:t>FUTURE SCOPE ONLY</a:t>
            </a:r>
            <a:r>
              <a:rPr lang="en-US" sz="800" dirty="0">
                <a:solidFill>
                  <a:srgbClr val="000000"/>
                </a:solidFill>
                <a:latin typeface="Source Sans 3" pitchFamily="34" charset="0"/>
                <a:ea typeface="Source Sans 3" pitchFamily="34" charset="-122"/>
                <a:cs typeface="Source Sans 3" pitchFamily="34" charset="-120"/>
              </a:rPr>
              <a:t> — not part of the MVP architecture.</a:t>
            </a:r>
            <a:endParaRPr lang="en-US" sz="800" dirty="0"/>
          </a:p>
        </p:txBody>
      </p:sp>
      <p:sp>
        <p:nvSpPr>
          <p:cNvPr id="56" name="Text 41"/>
          <p:cNvSpPr/>
          <p:nvPr/>
        </p:nvSpPr>
        <p:spPr>
          <a:xfrm>
            <a:off x="859808" y="5294488"/>
            <a:ext cx="10795524" cy="243780"/>
          </a:xfrm>
          <a:prstGeom prst="rect">
            <a:avLst/>
          </a:prstGeom>
          <a:noFill/>
          <a:ln/>
        </p:spPr>
        <p:txBody>
          <a:bodyPr wrap="none" lIns="0" tIns="0" rIns="0" bIns="0" rtlCol="0" anchor="t"/>
          <a:lstStyle/>
          <a:p>
            <a:pPr marL="0" indent="0" algn="l">
              <a:lnSpc>
                <a:spcPct val="104000"/>
              </a:lnSpc>
              <a:buNone/>
            </a:pPr>
            <a:r>
              <a:rPr lang="en-US" sz="1500" dirty="0">
                <a:solidFill>
                  <a:srgbClr val="38512F"/>
                </a:solidFill>
                <a:latin typeface="Lora" pitchFamily="34" charset="0"/>
                <a:ea typeface="Lora" pitchFamily="34" charset="-122"/>
                <a:cs typeface="Lora" pitchFamily="34" charset="-120"/>
              </a:rPr>
              <a:t>Conclusion</a:t>
            </a:r>
            <a:endParaRPr lang="en-US" sz="1500" dirty="0"/>
          </a:p>
        </p:txBody>
      </p:sp>
      <p:sp>
        <p:nvSpPr>
          <p:cNvPr id="57" name="Text 42"/>
          <p:cNvSpPr/>
          <p:nvPr/>
        </p:nvSpPr>
        <p:spPr>
          <a:xfrm>
            <a:off x="889778" y="5718870"/>
            <a:ext cx="11249736" cy="132159"/>
          </a:xfrm>
          <a:prstGeom prst="rect">
            <a:avLst/>
          </a:prstGeom>
          <a:noFill/>
          <a:ln/>
        </p:spPr>
        <p:txBody>
          <a:bodyPr wrap="none" lIns="0" tIns="0" rIns="0" bIns="0" rtlCol="0" anchor="t"/>
          <a:lstStyle/>
          <a:p>
            <a:pPr marL="0" indent="0" algn="l">
              <a:lnSpc>
                <a:spcPct val="106000"/>
              </a:lnSpc>
              <a:buNone/>
            </a:pPr>
            <a:r>
              <a:rPr lang="en-US" sz="800" dirty="0">
                <a:solidFill>
                  <a:srgbClr val="3A3630"/>
                </a:solidFill>
                <a:latin typeface="Source Sans 3" pitchFamily="34" charset="0"/>
                <a:ea typeface="Source Sans 3" pitchFamily="34" charset="-122"/>
                <a:cs typeface="Source Sans 3" pitchFamily="34" charset="-120"/>
              </a:rPr>
              <a:t>"Instead of students searching across scattered departmental resources, the system provides one intelligent interface to retrieve, understand and discover authorized information."</a:t>
            </a:r>
            <a:endParaRPr lang="en-US" sz="800" dirty="0"/>
          </a:p>
        </p:txBody>
      </p:sp>
      <p:sp>
        <p:nvSpPr>
          <p:cNvPr id="59" name="Shape 44"/>
          <p:cNvSpPr/>
          <p:nvPr/>
        </p:nvSpPr>
        <p:spPr>
          <a:xfrm>
            <a:off x="698086" y="5914282"/>
            <a:ext cx="10795524" cy="12700"/>
          </a:xfrm>
          <a:prstGeom prst="roundRect">
            <a:avLst>
              <a:gd name="adj" fmla="val 49999"/>
            </a:avLst>
          </a:prstGeom>
          <a:solidFill>
            <a:srgbClr val="3A3630">
              <a:alpha val="50000"/>
            </a:srgbClr>
          </a:solidFill>
          <a:ln/>
        </p:spPr>
      </p:sp>
      <p:sp>
        <p:nvSpPr>
          <p:cNvPr id="60" name="Text 45"/>
          <p:cNvSpPr/>
          <p:nvPr/>
        </p:nvSpPr>
        <p:spPr>
          <a:xfrm>
            <a:off x="675464" y="6043663"/>
            <a:ext cx="10795524" cy="243780"/>
          </a:xfrm>
          <a:prstGeom prst="rect">
            <a:avLst/>
          </a:prstGeom>
          <a:noFill/>
          <a:ln/>
        </p:spPr>
        <p:txBody>
          <a:bodyPr wrap="none" lIns="0" tIns="0" rIns="0" bIns="0" rtlCol="0" anchor="t"/>
          <a:lstStyle/>
          <a:p>
            <a:pPr marL="0" indent="0" algn="ctr">
              <a:lnSpc>
                <a:spcPct val="104000"/>
              </a:lnSpc>
              <a:buNone/>
            </a:pPr>
            <a:r>
              <a:rPr lang="en-US" sz="1500" dirty="0">
                <a:solidFill>
                  <a:srgbClr val="38512F"/>
                </a:solidFill>
                <a:latin typeface="Lora" pitchFamily="34" charset="0"/>
                <a:ea typeface="Lora" pitchFamily="34" charset="-122"/>
                <a:cs typeface="Lora" pitchFamily="34" charset="-120"/>
              </a:rPr>
              <a:t>Thank You</a:t>
            </a:r>
            <a:endParaRPr lang="en-US" sz="1500" dirty="0"/>
          </a:p>
        </p:txBody>
      </p:sp>
      <p:sp>
        <p:nvSpPr>
          <p:cNvPr id="61" name="Text 46"/>
          <p:cNvSpPr/>
          <p:nvPr/>
        </p:nvSpPr>
        <p:spPr>
          <a:xfrm>
            <a:off x="675464" y="6324798"/>
            <a:ext cx="10795524" cy="396478"/>
          </a:xfrm>
          <a:prstGeom prst="rect">
            <a:avLst/>
          </a:prstGeom>
          <a:noFill/>
          <a:ln/>
        </p:spPr>
        <p:txBody>
          <a:bodyPr wrap="square" lIns="0" tIns="0" rIns="0" bIns="0" rtlCol="0" anchor="t">
            <a:normAutofit/>
          </a:bodyPr>
          <a:lstStyle/>
          <a:p>
            <a:pPr marL="0" indent="0" algn="ctr">
              <a:lnSpc>
                <a:spcPct val="106000"/>
              </a:lnSpc>
              <a:buNone/>
            </a:pPr>
            <a:r>
              <a:rPr lang="en-US" sz="800" dirty="0">
                <a:solidFill>
                  <a:srgbClr val="3A3630"/>
                </a:solidFill>
                <a:latin typeface="Source Sans 3" pitchFamily="34" charset="0"/>
                <a:ea typeface="Source Sans 3" pitchFamily="34" charset="-122"/>
                <a:cs typeface="Source Sans 3" pitchFamily="34" charset="-120"/>
              </a:rPr>
              <a:t>T7</a:t>
            </a:r>
            <a:endParaRPr lang="en-US" sz="800" dirty="0"/>
          </a:p>
          <a:p>
            <a:pPr marL="0" indent="0" algn="ctr">
              <a:lnSpc>
                <a:spcPct val="106000"/>
              </a:lnSpc>
              <a:buNone/>
            </a:pPr>
            <a:r>
              <a:rPr lang="en-US" sz="800" dirty="0">
                <a:solidFill>
                  <a:srgbClr val="3A3630"/>
                </a:solidFill>
                <a:latin typeface="Source Sans 3" pitchFamily="34" charset="0"/>
                <a:ea typeface="Source Sans 3" pitchFamily="34" charset="-122"/>
                <a:cs typeface="Source Sans 3" pitchFamily="34" charset="-120"/>
              </a:rPr>
              <a:t>Anupam Rambhashah</a:t>
            </a:r>
            <a:endParaRPr lang="en-US" sz="800" dirty="0"/>
          </a:p>
          <a:p>
            <a:pPr marL="0" indent="0" algn="ctr">
              <a:lnSpc>
                <a:spcPct val="106000"/>
              </a:lnSpc>
              <a:buNone/>
            </a:pPr>
            <a:r>
              <a:rPr lang="en-US" sz="800" dirty="0">
                <a:solidFill>
                  <a:srgbClr val="3A3630"/>
                </a:solidFill>
                <a:latin typeface="Source Sans 3" pitchFamily="34" charset="0"/>
                <a:ea typeface="Source Sans 3" pitchFamily="34" charset="-122"/>
                <a:cs typeface="Source Sans 3" pitchFamily="34" charset="-120"/>
              </a:rPr>
              <a:t>Muskan Kumari</a:t>
            </a:r>
            <a:endParaRPr lang="en-US" sz="800" dirty="0"/>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54</TotalTime>
  <Words>2308</Words>
  <Application>Microsoft Office PowerPoint</Application>
  <PresentationFormat>Widescreen</PresentationFormat>
  <Paragraphs>332</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Goudy Old Style</vt:lpstr>
      <vt:lpstr>Lora</vt:lpstr>
      <vt:lpstr>Source Sans 3</vt:lpstr>
      <vt:lpstr>Felix Titling</vt:lpstr>
      <vt:lpstr>Source Sans 3 Bold</vt:lpstr>
      <vt:lpstr>Arial</vt:lpstr>
      <vt:lpstr>Archway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lastModifiedBy>anupam rambhashah</cp:lastModifiedBy>
  <cp:revision>4</cp:revision>
  <dcterms:created xsi:type="dcterms:W3CDTF">2026-08-29T17:43:21Z</dcterms:created>
  <dcterms:modified xsi:type="dcterms:W3CDTF">2026-08-29T18:41:49Z</dcterms:modified>
</cp:coreProperties>
</file>